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y="7315200" cx="9601200"/>
  <p:notesSz cx="6858000" cy="9144000"/>
  <p:embeddedFontLst>
    <p:embeddedFont>
      <p:font typeface="Arial Black"/>
      <p:regular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04">
          <p15:clr>
            <a:srgbClr val="000000"/>
          </p15:clr>
        </p15:guide>
        <p15:guide id="2" pos="3024">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04" orient="horz"/>
        <p:guide pos="302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30" Type="http://schemas.openxmlformats.org/officeDocument/2006/relationships/slide" Target="slides/slide25.xml"/><Relationship Id="rId74" Type="http://schemas.openxmlformats.org/officeDocument/2006/relationships/font" Target="fonts/ArialBlack-regular.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 name="Google Shape;4;n"/>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23" name="Google Shape;23;p1: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5" name="Google Shape;35;p2: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42" name="Google Shape;42;p3: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4: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49" name="Google Shape;49;p4: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6" name="Google Shape;56;p5: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6: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62" name="Google Shape;62;p6: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7: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69" name="Google Shape;69;p7: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8: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77" name="Google Shape;77;p8: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9: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83" name="Google Shape;83;p9: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0: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90" name="Google Shape;90;p10: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1: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00" name="Google Shape;100;p11: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2: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11" name="Google Shape;111;p12: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3: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20" name="Google Shape;120;p13: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4: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34" name="Google Shape;134;p14: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5: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15: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SzPts val="1800"/>
              <a:buNone/>
            </a:pPr>
            <a:r>
              <a:rPr lang="en-US"/>
              <a:t>Fix cost slide in.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6: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47" name="Google Shape;147;p16: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7: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54" name="Google Shape;154;p17: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8: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63" name="Google Shape;163;p18: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9: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72" name="Google Shape;172;p19: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0: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99" name="Google Shape;199;p20: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1: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207" name="Google Shape;207;p21: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2: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213" name="Google Shape;213;p22: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3: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254" name="Google Shape;254;p23: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260" name="Google Shape;260;p24: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5: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05" name="Google Shape;305;p25: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6: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11" name="Google Shape;311;p26: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7: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17" name="Google Shape;317;p27: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8: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37" name="Google Shape;337;p28: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9: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43" name="Google Shape;343;p29: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0: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49" name="Google Shape;349;p30: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1: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72" name="Google Shape;372;p31: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2: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79" name="Google Shape;379;p32: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3: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85" name="Google Shape;385;p33: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4: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91" name="Google Shape;391;p34: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5: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397" name="Google Shape;397;p35: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6: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407" name="Google Shape;407;p36: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7: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423" name="Google Shape;423;p37: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8: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438" name="Google Shape;438;p38: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9: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447" name="Google Shape;447;p39: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0: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453" name="Google Shape;453;p40: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1: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499" name="Google Shape;499;p41: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2: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09" name="Google Shape;509;p42: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3: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19" name="Google Shape;519;p43: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44: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28" name="Google Shape;528;p44: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5: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34" name="Google Shape;534;p45: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6: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40" name="Google Shape;540;p46: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47: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47" name="Google Shape;547;p47: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48: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56" name="Google Shape;556;p48: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9: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67" name="Google Shape;567;p49: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50: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76" name="Google Shape;576;p50: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51: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82" name="Google Shape;582;p51: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52: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89" name="Google Shape;589;p52: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53: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596" name="Google Shape;596;p53: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54: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604" name="Google Shape;604;p54: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5: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0" name="Google Shape;610;p55: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SzPts val="1800"/>
              <a:buNone/>
            </a:pPr>
            <a:r>
              <a:rPr lang="en-US"/>
              <a:t>DO YOU Have Text Art for Illustration 10-23</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56: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691" name="Google Shape;691;p56: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57: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731" name="Google Shape;731;p57: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58: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737" name="Google Shape;737;p58: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59: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743" name="Google Shape;743;p59: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60: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752" name="Google Shape;752;p60: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61: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766" name="Google Shape;766;p61: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62: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772" name="Google Shape;772;p62: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63: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780" name="Google Shape;780;p63: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64: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788" name="Google Shape;788;p64: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65: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803" name="Google Shape;803;p65: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66: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812" name="Google Shape;812;p66: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67: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821" name="Google Shape;821;p67: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68:notes"/>
          <p:cNvSpPr txBox="1"/>
          <p:nvPr>
            <p:ph idx="1" type="body"/>
          </p:nvPr>
        </p:nvSpPr>
        <p:spPr>
          <a:xfrm>
            <a:off x="914400" y="4343400"/>
            <a:ext cx="5029200" cy="4114800"/>
          </a:xfrm>
          <a:prstGeom prst="rect">
            <a:avLst/>
          </a:prstGeom>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830" name="Google Shape;830;p68:notes"/>
          <p:cNvSpPr/>
          <p:nvPr>
            <p:ph idx="2" type="sldImg"/>
          </p:nvPr>
        </p:nvSpPr>
        <p:spPr>
          <a:xfrm>
            <a:off x="1030287" y="573087"/>
            <a:ext cx="4797425" cy="3654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1" name="Shape 11"/>
        <p:cNvGrpSpPr/>
        <p:nvPr/>
      </p:nvGrpSpPr>
      <p:grpSpPr>
        <a:xfrm>
          <a:off x="0" y="0"/>
          <a:ext cx="0" cy="0"/>
          <a:chOff x="0" y="0"/>
          <a:chExt cx="0" cy="0"/>
        </a:xfrm>
      </p:grpSpPr>
      <p:sp>
        <p:nvSpPr>
          <p:cNvPr id="12" name="Google Shape;12;p2"/>
          <p:cNvSpPr txBox="1"/>
          <p:nvPr>
            <p:ph type="title"/>
          </p:nvPr>
        </p:nvSpPr>
        <p:spPr>
          <a:xfrm>
            <a:off x="479425" y="293687"/>
            <a:ext cx="8642350" cy="1219200"/>
          </a:xfrm>
          <a:prstGeom prst="rect">
            <a:avLst/>
          </a:prstGeom>
          <a:noFill/>
          <a:ln>
            <a:noFill/>
          </a:ln>
        </p:spPr>
        <p:txBody>
          <a:bodyPr anchorCtr="0" anchor="ctr" bIns="48325" lIns="96650" spcFirstLastPara="1" rIns="96650" wrap="square" tIns="483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 name="Google Shape;13;p2"/>
          <p:cNvSpPr txBox="1"/>
          <p:nvPr>
            <p:ph idx="1" type="body"/>
          </p:nvPr>
        </p:nvSpPr>
        <p:spPr>
          <a:xfrm>
            <a:off x="479425" y="1706562"/>
            <a:ext cx="8642350" cy="4827587"/>
          </a:xfrm>
          <a:prstGeom prst="rect">
            <a:avLst/>
          </a:prstGeom>
          <a:noFill/>
          <a:ln>
            <a:noFill/>
          </a:ln>
        </p:spPr>
        <p:txBody>
          <a:bodyPr anchorCtr="0" anchor="t" bIns="48325" lIns="96650" spcFirstLastPara="1" rIns="96650" wrap="square" tIns="48325">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 name="Google Shape;14;p2"/>
          <p:cNvSpPr txBox="1"/>
          <p:nvPr>
            <p:ph idx="10" type="dt"/>
          </p:nvPr>
        </p:nvSpPr>
        <p:spPr>
          <a:xfrm>
            <a:off x="479425" y="6661150"/>
            <a:ext cx="2241550" cy="508000"/>
          </a:xfrm>
          <a:prstGeom prst="rect">
            <a:avLst/>
          </a:prstGeom>
          <a:noFill/>
          <a:ln>
            <a:noFill/>
          </a:ln>
        </p:spPr>
        <p:txBody>
          <a:bodyPr anchorCtr="0" anchor="t" bIns="48325" lIns="96650" spcFirstLastPara="1" rIns="96650" wrap="square" tIns="483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279775" y="6661150"/>
            <a:ext cx="3041650" cy="508000"/>
          </a:xfrm>
          <a:prstGeom prst="rect">
            <a:avLst/>
          </a:prstGeom>
          <a:noFill/>
          <a:ln>
            <a:noFill/>
          </a:ln>
        </p:spPr>
        <p:txBody>
          <a:bodyPr anchorCtr="0" anchor="t" bIns="48325" lIns="96650" spcFirstLastPara="1" rIns="96650" wrap="square" tIns="483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880225" y="6661150"/>
            <a:ext cx="2241550" cy="508000"/>
          </a:xfrm>
          <a:prstGeom prst="rect">
            <a:avLst/>
          </a:prstGeom>
          <a:noFill/>
          <a:ln>
            <a:noFill/>
          </a:ln>
        </p:spPr>
        <p:txBody>
          <a:bodyPr anchorCtr="0" anchor="t" bIns="48325" lIns="96650" spcFirstLastPara="1" rIns="96650" wrap="square" tIns="48325">
            <a:noAutofit/>
          </a:bodyPr>
          <a:lstStyle>
            <a:lvl1pPr indent="0" lvl="0" marL="0" algn="r">
              <a:lnSpc>
                <a:spcPct val="100000"/>
              </a:lnSpc>
              <a:spcBef>
                <a:spcPts val="0"/>
              </a:spcBef>
              <a:spcAft>
                <a:spcPts val="0"/>
              </a:spcAft>
              <a:buNone/>
              <a:defRPr sz="1500">
                <a:latin typeface="Arial"/>
                <a:ea typeface="Arial"/>
                <a:cs typeface="Arial"/>
                <a:sym typeface="Arial"/>
              </a:defRPr>
            </a:lvl1pPr>
            <a:lvl2pPr indent="0" lvl="1" marL="0" algn="r">
              <a:lnSpc>
                <a:spcPct val="100000"/>
              </a:lnSpc>
              <a:spcBef>
                <a:spcPts val="0"/>
              </a:spcBef>
              <a:spcAft>
                <a:spcPts val="0"/>
              </a:spcAft>
              <a:buNone/>
              <a:defRPr sz="1500">
                <a:latin typeface="Arial"/>
                <a:ea typeface="Arial"/>
                <a:cs typeface="Arial"/>
                <a:sym typeface="Arial"/>
              </a:defRPr>
            </a:lvl2pPr>
            <a:lvl3pPr indent="0" lvl="2" marL="0" algn="r">
              <a:lnSpc>
                <a:spcPct val="100000"/>
              </a:lnSpc>
              <a:spcBef>
                <a:spcPts val="0"/>
              </a:spcBef>
              <a:spcAft>
                <a:spcPts val="0"/>
              </a:spcAft>
              <a:buNone/>
              <a:defRPr sz="1500">
                <a:latin typeface="Arial"/>
                <a:ea typeface="Arial"/>
                <a:cs typeface="Arial"/>
                <a:sym typeface="Arial"/>
              </a:defRPr>
            </a:lvl3pPr>
            <a:lvl4pPr indent="0" lvl="3" marL="0" algn="r">
              <a:lnSpc>
                <a:spcPct val="100000"/>
              </a:lnSpc>
              <a:spcBef>
                <a:spcPts val="0"/>
              </a:spcBef>
              <a:spcAft>
                <a:spcPts val="0"/>
              </a:spcAft>
              <a:buNone/>
              <a:defRPr sz="1500">
                <a:latin typeface="Arial"/>
                <a:ea typeface="Arial"/>
                <a:cs typeface="Arial"/>
                <a:sym typeface="Arial"/>
              </a:defRPr>
            </a:lvl4pPr>
            <a:lvl5pPr indent="0" lvl="4" marL="0" algn="r">
              <a:lnSpc>
                <a:spcPct val="100000"/>
              </a:lnSpc>
              <a:spcBef>
                <a:spcPts val="0"/>
              </a:spcBef>
              <a:spcAft>
                <a:spcPts val="0"/>
              </a:spcAft>
              <a:buNone/>
              <a:defRPr sz="1500">
                <a:latin typeface="Arial"/>
                <a:ea typeface="Arial"/>
                <a:cs typeface="Arial"/>
                <a:sym typeface="Arial"/>
              </a:defRPr>
            </a:lvl5pPr>
            <a:lvl6pPr indent="0" lvl="5" marL="0" algn="r">
              <a:lnSpc>
                <a:spcPct val="100000"/>
              </a:lnSpc>
              <a:spcBef>
                <a:spcPts val="0"/>
              </a:spcBef>
              <a:spcAft>
                <a:spcPts val="0"/>
              </a:spcAft>
              <a:buNone/>
              <a:defRPr sz="1500">
                <a:latin typeface="Arial"/>
                <a:ea typeface="Arial"/>
                <a:cs typeface="Arial"/>
                <a:sym typeface="Arial"/>
              </a:defRPr>
            </a:lvl6pPr>
            <a:lvl7pPr indent="0" lvl="6" marL="0" algn="r">
              <a:lnSpc>
                <a:spcPct val="100000"/>
              </a:lnSpc>
              <a:spcBef>
                <a:spcPts val="0"/>
              </a:spcBef>
              <a:spcAft>
                <a:spcPts val="0"/>
              </a:spcAft>
              <a:buNone/>
              <a:defRPr sz="1500">
                <a:latin typeface="Arial"/>
                <a:ea typeface="Arial"/>
                <a:cs typeface="Arial"/>
                <a:sym typeface="Arial"/>
              </a:defRPr>
            </a:lvl7pPr>
            <a:lvl8pPr indent="0" lvl="7" marL="0" algn="r">
              <a:lnSpc>
                <a:spcPct val="100000"/>
              </a:lnSpc>
              <a:spcBef>
                <a:spcPts val="0"/>
              </a:spcBef>
              <a:spcAft>
                <a:spcPts val="0"/>
              </a:spcAft>
              <a:buNone/>
              <a:defRPr sz="1500">
                <a:latin typeface="Arial"/>
                <a:ea typeface="Arial"/>
                <a:cs typeface="Arial"/>
                <a:sym typeface="Arial"/>
              </a:defRPr>
            </a:lvl8pPr>
            <a:lvl9pPr indent="0" lvl="8" marL="0" algn="r">
              <a:lnSpc>
                <a:spcPct val="100000"/>
              </a:lnSpc>
              <a:spcBef>
                <a:spcPts val="0"/>
              </a:spcBef>
              <a:spcAft>
                <a:spcPts val="0"/>
              </a:spcAft>
              <a:buNone/>
              <a:defRPr sz="15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479425" y="6661150"/>
            <a:ext cx="2241550" cy="508000"/>
          </a:xfrm>
          <a:prstGeom prst="rect">
            <a:avLst/>
          </a:prstGeom>
          <a:noFill/>
          <a:ln>
            <a:noFill/>
          </a:ln>
        </p:spPr>
        <p:txBody>
          <a:bodyPr anchorCtr="0" anchor="t" bIns="48325" lIns="96650" spcFirstLastPara="1" rIns="96650" wrap="square" tIns="483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279775" y="6661150"/>
            <a:ext cx="3041650" cy="508000"/>
          </a:xfrm>
          <a:prstGeom prst="rect">
            <a:avLst/>
          </a:prstGeom>
          <a:noFill/>
          <a:ln>
            <a:noFill/>
          </a:ln>
        </p:spPr>
        <p:txBody>
          <a:bodyPr anchorCtr="0" anchor="t" bIns="48325" lIns="96650" spcFirstLastPara="1" rIns="96650" wrap="square" tIns="483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880225" y="6661150"/>
            <a:ext cx="2241550" cy="508000"/>
          </a:xfrm>
          <a:prstGeom prst="rect">
            <a:avLst/>
          </a:prstGeom>
          <a:noFill/>
          <a:ln>
            <a:noFill/>
          </a:ln>
        </p:spPr>
        <p:txBody>
          <a:bodyPr anchorCtr="0" anchor="t" bIns="48325" lIns="96650" spcFirstLastPara="1" rIns="96650" wrap="square" tIns="48325">
            <a:noAutofit/>
          </a:bodyPr>
          <a:lstStyle>
            <a:lvl1pPr indent="0" lvl="0" marL="0" algn="r">
              <a:lnSpc>
                <a:spcPct val="100000"/>
              </a:lnSpc>
              <a:spcBef>
                <a:spcPts val="0"/>
              </a:spcBef>
              <a:spcAft>
                <a:spcPts val="0"/>
              </a:spcAft>
              <a:buNone/>
              <a:defRPr sz="1500">
                <a:latin typeface="Arial"/>
                <a:ea typeface="Arial"/>
                <a:cs typeface="Arial"/>
                <a:sym typeface="Arial"/>
              </a:defRPr>
            </a:lvl1pPr>
            <a:lvl2pPr indent="0" lvl="1" marL="0" algn="r">
              <a:lnSpc>
                <a:spcPct val="100000"/>
              </a:lnSpc>
              <a:spcBef>
                <a:spcPts val="0"/>
              </a:spcBef>
              <a:spcAft>
                <a:spcPts val="0"/>
              </a:spcAft>
              <a:buNone/>
              <a:defRPr sz="1500">
                <a:latin typeface="Arial"/>
                <a:ea typeface="Arial"/>
                <a:cs typeface="Arial"/>
                <a:sym typeface="Arial"/>
              </a:defRPr>
            </a:lvl2pPr>
            <a:lvl3pPr indent="0" lvl="2" marL="0" algn="r">
              <a:lnSpc>
                <a:spcPct val="100000"/>
              </a:lnSpc>
              <a:spcBef>
                <a:spcPts val="0"/>
              </a:spcBef>
              <a:spcAft>
                <a:spcPts val="0"/>
              </a:spcAft>
              <a:buNone/>
              <a:defRPr sz="1500">
                <a:latin typeface="Arial"/>
                <a:ea typeface="Arial"/>
                <a:cs typeface="Arial"/>
                <a:sym typeface="Arial"/>
              </a:defRPr>
            </a:lvl3pPr>
            <a:lvl4pPr indent="0" lvl="3" marL="0" algn="r">
              <a:lnSpc>
                <a:spcPct val="100000"/>
              </a:lnSpc>
              <a:spcBef>
                <a:spcPts val="0"/>
              </a:spcBef>
              <a:spcAft>
                <a:spcPts val="0"/>
              </a:spcAft>
              <a:buNone/>
              <a:defRPr sz="1500">
                <a:latin typeface="Arial"/>
                <a:ea typeface="Arial"/>
                <a:cs typeface="Arial"/>
                <a:sym typeface="Arial"/>
              </a:defRPr>
            </a:lvl4pPr>
            <a:lvl5pPr indent="0" lvl="4" marL="0" algn="r">
              <a:lnSpc>
                <a:spcPct val="100000"/>
              </a:lnSpc>
              <a:spcBef>
                <a:spcPts val="0"/>
              </a:spcBef>
              <a:spcAft>
                <a:spcPts val="0"/>
              </a:spcAft>
              <a:buNone/>
              <a:defRPr sz="1500">
                <a:latin typeface="Arial"/>
                <a:ea typeface="Arial"/>
                <a:cs typeface="Arial"/>
                <a:sym typeface="Arial"/>
              </a:defRPr>
            </a:lvl5pPr>
            <a:lvl6pPr indent="0" lvl="5" marL="0" algn="r">
              <a:lnSpc>
                <a:spcPct val="100000"/>
              </a:lnSpc>
              <a:spcBef>
                <a:spcPts val="0"/>
              </a:spcBef>
              <a:spcAft>
                <a:spcPts val="0"/>
              </a:spcAft>
              <a:buNone/>
              <a:defRPr sz="1500">
                <a:latin typeface="Arial"/>
                <a:ea typeface="Arial"/>
                <a:cs typeface="Arial"/>
                <a:sym typeface="Arial"/>
              </a:defRPr>
            </a:lvl6pPr>
            <a:lvl7pPr indent="0" lvl="6" marL="0" algn="r">
              <a:lnSpc>
                <a:spcPct val="100000"/>
              </a:lnSpc>
              <a:spcBef>
                <a:spcPts val="0"/>
              </a:spcBef>
              <a:spcAft>
                <a:spcPts val="0"/>
              </a:spcAft>
              <a:buNone/>
              <a:defRPr sz="1500">
                <a:latin typeface="Arial"/>
                <a:ea typeface="Arial"/>
                <a:cs typeface="Arial"/>
                <a:sym typeface="Arial"/>
              </a:defRPr>
            </a:lvl7pPr>
            <a:lvl8pPr indent="0" lvl="7" marL="0" algn="r">
              <a:lnSpc>
                <a:spcPct val="100000"/>
              </a:lnSpc>
              <a:spcBef>
                <a:spcPts val="0"/>
              </a:spcBef>
              <a:spcAft>
                <a:spcPts val="0"/>
              </a:spcAft>
              <a:buNone/>
              <a:defRPr sz="1500">
                <a:latin typeface="Arial"/>
                <a:ea typeface="Arial"/>
                <a:cs typeface="Arial"/>
                <a:sym typeface="Arial"/>
              </a:defRPr>
            </a:lvl8pPr>
            <a:lvl9pPr indent="0" lvl="8" marL="0" algn="r">
              <a:lnSpc>
                <a:spcPct val="100000"/>
              </a:lnSpc>
              <a:spcBef>
                <a:spcPts val="0"/>
              </a:spcBef>
              <a:spcAft>
                <a:spcPts val="0"/>
              </a:spcAft>
              <a:buNone/>
              <a:defRPr sz="15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9425" y="293687"/>
            <a:ext cx="8642350" cy="1219200"/>
          </a:xfrm>
          <a:prstGeom prst="rect">
            <a:avLst/>
          </a:prstGeom>
          <a:noFill/>
          <a:ln>
            <a:noFill/>
          </a:ln>
        </p:spPr>
        <p:txBody>
          <a:bodyPr anchorCtr="0" anchor="ctr" bIns="48325" lIns="96650" spcFirstLastPara="1" rIns="96650" wrap="square" tIns="48325">
            <a:noAutofit/>
          </a:bodyPr>
          <a:lstStyle>
            <a:lvl1pPr lvl="0" marR="0" rtl="0" algn="ctr">
              <a:lnSpc>
                <a:spcPct val="100000"/>
              </a:lnSpc>
              <a:spcBef>
                <a:spcPts val="0"/>
              </a:spcBef>
              <a:spcAft>
                <a:spcPts val="0"/>
              </a:spcAft>
              <a:buSzPts val="1400"/>
              <a:buNone/>
              <a:defRPr b="0" i="0" sz="4000" u="none" cap="none" strike="noStrike">
                <a:solidFill>
                  <a:srgbClr val="000099"/>
                </a:solidFill>
                <a:latin typeface="Arial Black"/>
                <a:ea typeface="Arial Black"/>
                <a:cs typeface="Arial Black"/>
                <a:sym typeface="Arial Black"/>
              </a:defRPr>
            </a:lvl1pPr>
            <a:lvl2pPr lvl="1" marR="0" rtl="0" algn="ctr">
              <a:lnSpc>
                <a:spcPct val="100000"/>
              </a:lnSpc>
              <a:spcBef>
                <a:spcPts val="0"/>
              </a:spcBef>
              <a:spcAft>
                <a:spcPts val="0"/>
              </a:spcAft>
              <a:buSzPts val="1400"/>
              <a:buNone/>
              <a:defRPr b="0" i="0" sz="4000" u="none" cap="none" strike="noStrike">
                <a:solidFill>
                  <a:srgbClr val="000099"/>
                </a:solidFill>
                <a:latin typeface="Arial Black"/>
                <a:ea typeface="Arial Black"/>
                <a:cs typeface="Arial Black"/>
                <a:sym typeface="Arial Black"/>
              </a:defRPr>
            </a:lvl2pPr>
            <a:lvl3pPr lvl="2" marR="0" rtl="0" algn="ctr">
              <a:lnSpc>
                <a:spcPct val="100000"/>
              </a:lnSpc>
              <a:spcBef>
                <a:spcPts val="0"/>
              </a:spcBef>
              <a:spcAft>
                <a:spcPts val="0"/>
              </a:spcAft>
              <a:buSzPts val="1400"/>
              <a:buNone/>
              <a:defRPr b="0" i="0" sz="4000" u="none" cap="none" strike="noStrike">
                <a:solidFill>
                  <a:srgbClr val="000099"/>
                </a:solidFill>
                <a:latin typeface="Arial Black"/>
                <a:ea typeface="Arial Black"/>
                <a:cs typeface="Arial Black"/>
                <a:sym typeface="Arial Black"/>
              </a:defRPr>
            </a:lvl3pPr>
            <a:lvl4pPr lvl="3" marR="0" rtl="0" algn="ctr">
              <a:lnSpc>
                <a:spcPct val="100000"/>
              </a:lnSpc>
              <a:spcBef>
                <a:spcPts val="0"/>
              </a:spcBef>
              <a:spcAft>
                <a:spcPts val="0"/>
              </a:spcAft>
              <a:buSzPts val="1400"/>
              <a:buNone/>
              <a:defRPr b="0" i="0" sz="4000" u="none" cap="none" strike="noStrike">
                <a:solidFill>
                  <a:srgbClr val="000099"/>
                </a:solidFill>
                <a:latin typeface="Arial Black"/>
                <a:ea typeface="Arial Black"/>
                <a:cs typeface="Arial Black"/>
                <a:sym typeface="Arial Black"/>
              </a:defRPr>
            </a:lvl4pPr>
            <a:lvl5pPr lvl="4" marR="0" rtl="0" algn="ctr">
              <a:lnSpc>
                <a:spcPct val="100000"/>
              </a:lnSpc>
              <a:spcBef>
                <a:spcPts val="0"/>
              </a:spcBef>
              <a:spcAft>
                <a:spcPts val="0"/>
              </a:spcAft>
              <a:buSzPts val="1400"/>
              <a:buNone/>
              <a:defRPr b="0" i="0" sz="4000" u="none" cap="none" strike="noStrike">
                <a:solidFill>
                  <a:srgbClr val="000099"/>
                </a:solidFill>
                <a:latin typeface="Arial Black"/>
                <a:ea typeface="Arial Black"/>
                <a:cs typeface="Arial Black"/>
                <a:sym typeface="Arial Black"/>
              </a:defRPr>
            </a:lvl5pPr>
            <a:lvl6pPr lvl="5" marR="0" rtl="0" algn="ctr">
              <a:lnSpc>
                <a:spcPct val="100000"/>
              </a:lnSpc>
              <a:spcBef>
                <a:spcPts val="0"/>
              </a:spcBef>
              <a:spcAft>
                <a:spcPts val="0"/>
              </a:spcAft>
              <a:buSzPts val="1400"/>
              <a:buNone/>
              <a:defRPr b="0" i="0" sz="4000" u="none" cap="none" strike="noStrike">
                <a:solidFill>
                  <a:srgbClr val="000099"/>
                </a:solidFill>
                <a:latin typeface="Arial Black"/>
                <a:ea typeface="Arial Black"/>
                <a:cs typeface="Arial Black"/>
                <a:sym typeface="Arial Black"/>
              </a:defRPr>
            </a:lvl6pPr>
            <a:lvl7pPr lvl="6" marR="0" rtl="0" algn="ctr">
              <a:lnSpc>
                <a:spcPct val="100000"/>
              </a:lnSpc>
              <a:spcBef>
                <a:spcPts val="0"/>
              </a:spcBef>
              <a:spcAft>
                <a:spcPts val="0"/>
              </a:spcAft>
              <a:buSzPts val="1400"/>
              <a:buNone/>
              <a:defRPr b="0" i="0" sz="4000" u="none" cap="none" strike="noStrike">
                <a:solidFill>
                  <a:srgbClr val="000099"/>
                </a:solidFill>
                <a:latin typeface="Arial Black"/>
                <a:ea typeface="Arial Black"/>
                <a:cs typeface="Arial Black"/>
                <a:sym typeface="Arial Black"/>
              </a:defRPr>
            </a:lvl7pPr>
            <a:lvl8pPr lvl="7" marR="0" rtl="0" algn="ctr">
              <a:lnSpc>
                <a:spcPct val="100000"/>
              </a:lnSpc>
              <a:spcBef>
                <a:spcPts val="0"/>
              </a:spcBef>
              <a:spcAft>
                <a:spcPts val="0"/>
              </a:spcAft>
              <a:buSzPts val="1400"/>
              <a:buNone/>
              <a:defRPr b="0" i="0" sz="4000" u="none" cap="none" strike="noStrike">
                <a:solidFill>
                  <a:srgbClr val="000099"/>
                </a:solidFill>
                <a:latin typeface="Arial Black"/>
                <a:ea typeface="Arial Black"/>
                <a:cs typeface="Arial Black"/>
                <a:sym typeface="Arial Black"/>
              </a:defRPr>
            </a:lvl8pPr>
            <a:lvl9pPr lvl="8" marR="0" rtl="0" algn="ctr">
              <a:lnSpc>
                <a:spcPct val="100000"/>
              </a:lnSpc>
              <a:spcBef>
                <a:spcPts val="0"/>
              </a:spcBef>
              <a:spcAft>
                <a:spcPts val="0"/>
              </a:spcAft>
              <a:buSzPts val="1400"/>
              <a:buNone/>
              <a:defRPr b="0" i="0" sz="4000" u="none" cap="none" strike="noStrike">
                <a:solidFill>
                  <a:srgbClr val="000099"/>
                </a:solidFill>
                <a:latin typeface="Arial Black"/>
                <a:ea typeface="Arial Black"/>
                <a:cs typeface="Arial Black"/>
                <a:sym typeface="Arial Black"/>
              </a:defRPr>
            </a:lvl9pPr>
          </a:lstStyle>
          <a:p/>
        </p:txBody>
      </p:sp>
      <p:sp>
        <p:nvSpPr>
          <p:cNvPr id="7" name="Google Shape;7;p1"/>
          <p:cNvSpPr txBox="1"/>
          <p:nvPr>
            <p:ph idx="1" type="body"/>
          </p:nvPr>
        </p:nvSpPr>
        <p:spPr>
          <a:xfrm>
            <a:off x="479425" y="1706562"/>
            <a:ext cx="8642350" cy="4827587"/>
          </a:xfrm>
          <a:prstGeom prst="rect">
            <a:avLst/>
          </a:prstGeom>
          <a:noFill/>
          <a:ln>
            <a:noFill/>
          </a:ln>
        </p:spPr>
        <p:txBody>
          <a:bodyPr anchorCtr="0" anchor="t" bIns="48325" lIns="96650" spcFirstLastPara="1" rIns="96650" wrap="square" tIns="48325">
            <a:noAutofit/>
          </a:bodyPr>
          <a:lstStyle>
            <a:lvl1pPr indent="-444500" lvl="0" marL="457200" marR="0" rtl="0" algn="l">
              <a:lnSpc>
                <a:spcPct val="100000"/>
              </a:lnSpc>
              <a:spcBef>
                <a:spcPts val="680"/>
              </a:spcBef>
              <a:spcAft>
                <a:spcPts val="0"/>
              </a:spcAft>
              <a:buClr>
                <a:schemeClr val="dk1"/>
              </a:buClr>
              <a:buSzPts val="3400"/>
              <a:buFont typeface="Arial"/>
              <a:buChar char="•"/>
              <a:defRPr b="0" i="0" sz="3400" u="none" cap="none" strike="noStrike">
                <a:solidFill>
                  <a:schemeClr val="dk1"/>
                </a:solidFill>
                <a:latin typeface="Arial"/>
                <a:ea typeface="Arial"/>
                <a:cs typeface="Arial"/>
                <a:sym typeface="Arial"/>
              </a:defRPr>
            </a:lvl1pPr>
            <a:lvl2pPr indent="-419100" lvl="1" marL="914400" marR="0" rtl="0" algn="l">
              <a:lnSpc>
                <a:spcPct val="100000"/>
              </a:lnSpc>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2pPr>
            <a:lvl3pPr indent="-387350" lvl="2" marL="1371600" marR="0" rtl="0" algn="l">
              <a:lnSpc>
                <a:spcPct val="100000"/>
              </a:lnSpc>
              <a:spcBef>
                <a:spcPts val="500"/>
              </a:spcBef>
              <a:spcAft>
                <a:spcPts val="0"/>
              </a:spcAft>
              <a:buClr>
                <a:schemeClr val="dk1"/>
              </a:buClr>
              <a:buSzPts val="2500"/>
              <a:buFont typeface="Arial"/>
              <a:buChar char="•"/>
              <a:defRPr b="0" i="0" sz="2500" u="none" cap="none" strike="noStrike">
                <a:solidFill>
                  <a:schemeClr val="dk1"/>
                </a:solidFill>
                <a:latin typeface="Arial"/>
                <a:ea typeface="Arial"/>
                <a:cs typeface="Arial"/>
                <a:sym typeface="Arial"/>
              </a:defRPr>
            </a:lvl3pPr>
            <a:lvl4pPr indent="-361950" lvl="3" marL="18288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00000"/>
              </a:lnSpc>
              <a:spcBef>
                <a:spcPts val="42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479425" y="6661150"/>
            <a:ext cx="2241550" cy="508000"/>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SzPts val="1400"/>
              <a:buNone/>
              <a:defRPr b="0" i="0" sz="15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 name="Google Shape;9;p1"/>
          <p:cNvSpPr txBox="1"/>
          <p:nvPr>
            <p:ph idx="11" type="ftr"/>
          </p:nvPr>
        </p:nvSpPr>
        <p:spPr>
          <a:xfrm>
            <a:off x="3279775" y="6661150"/>
            <a:ext cx="3041650" cy="508000"/>
          </a:xfrm>
          <a:prstGeom prst="rect">
            <a:avLst/>
          </a:prstGeom>
          <a:noFill/>
          <a:ln>
            <a:noFill/>
          </a:ln>
        </p:spPr>
        <p:txBody>
          <a:bodyPr anchorCtr="0" anchor="t" bIns="48325" lIns="96650" spcFirstLastPara="1" rIns="96650" wrap="square" tIns="48325">
            <a:noAutofit/>
          </a:bodyPr>
          <a:lstStyle>
            <a:lvl1pPr lvl="0" marR="0" rtl="0" algn="ctr">
              <a:lnSpc>
                <a:spcPct val="100000"/>
              </a:lnSpc>
              <a:spcBef>
                <a:spcPts val="0"/>
              </a:spcBef>
              <a:spcAft>
                <a:spcPts val="0"/>
              </a:spcAft>
              <a:buSzPts val="1400"/>
              <a:buNone/>
              <a:defRPr b="0" i="0" sz="15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 name="Google Shape;10;p1"/>
          <p:cNvSpPr txBox="1"/>
          <p:nvPr>
            <p:ph idx="12" type="sldNum"/>
          </p:nvPr>
        </p:nvSpPr>
        <p:spPr>
          <a:xfrm>
            <a:off x="6880225" y="6661150"/>
            <a:ext cx="2241550" cy="508000"/>
          </a:xfrm>
          <a:prstGeom prst="rect">
            <a:avLst/>
          </a:prstGeom>
          <a:noFill/>
          <a:ln>
            <a:noFill/>
          </a:ln>
        </p:spPr>
        <p:txBody>
          <a:bodyPr anchorCtr="0" anchor="t" bIns="48325" lIns="96650" spcFirstLastPara="1" rIns="96650" wrap="square" tIns="48325">
            <a:noAutofit/>
          </a:bodyPr>
          <a:lstStyle>
            <a:lvl1pPr indent="0" lvl="0" marL="0" marR="0" rtl="0" algn="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1.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4.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9.png"/><Relationship Id="rId4" Type="http://schemas.openxmlformats.org/officeDocument/2006/relationships/image" Target="../media/image39.png"/><Relationship Id="rId5"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4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8.png"/><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5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53.png"/><Relationship Id="rId4" Type="http://schemas.openxmlformats.org/officeDocument/2006/relationships/image" Target="../media/image4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4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49.png"/><Relationship Id="rId4" Type="http://schemas.openxmlformats.org/officeDocument/2006/relationships/image" Target="../media/image4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 name="Shape 24"/>
        <p:cNvGrpSpPr/>
        <p:nvPr/>
      </p:nvGrpSpPr>
      <p:grpSpPr>
        <a:xfrm>
          <a:off x="0" y="0"/>
          <a:ext cx="0" cy="0"/>
          <a:chOff x="0" y="0"/>
          <a:chExt cx="0" cy="0"/>
        </a:xfrm>
      </p:grpSpPr>
      <p:sp>
        <p:nvSpPr>
          <p:cNvPr id="25" name="Google Shape;25;p4"/>
          <p:cNvSpPr/>
          <p:nvPr/>
        </p:nvSpPr>
        <p:spPr>
          <a:xfrm>
            <a:off x="0" y="0"/>
            <a:ext cx="338137" cy="7315200"/>
          </a:xfrm>
          <a:prstGeom prst="rect">
            <a:avLst/>
          </a:prstGeom>
          <a:solidFill>
            <a:srgbClr val="333399"/>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6" name="Google Shape;26;p4"/>
          <p:cNvGrpSpPr/>
          <p:nvPr/>
        </p:nvGrpSpPr>
        <p:grpSpPr>
          <a:xfrm>
            <a:off x="1066800" y="114300"/>
            <a:ext cx="7848600" cy="7086600"/>
            <a:chOff x="672" y="72"/>
            <a:chExt cx="4944" cy="4464"/>
          </a:xfrm>
        </p:grpSpPr>
        <p:sp>
          <p:nvSpPr>
            <p:cNvPr id="27" name="Google Shape;27;p4"/>
            <p:cNvSpPr txBox="1"/>
            <p:nvPr/>
          </p:nvSpPr>
          <p:spPr>
            <a:xfrm>
              <a:off x="1450" y="4342"/>
              <a:ext cx="3387" cy="194"/>
            </a:xfrm>
            <a:prstGeom prst="rect">
              <a:avLst/>
            </a:prstGeom>
            <a:noFill/>
            <a:ln>
              <a:noFill/>
            </a:ln>
          </p:spPr>
          <p:txBody>
            <a:bodyPr anchorCtr="0" anchor="t" bIns="47600" lIns="96800" spcFirstLastPara="1" rIns="96800" wrap="square" tIns="47600">
              <a:spAutoFit/>
            </a:bodyPr>
            <a:lstStyle/>
            <a:p>
              <a:pPr indent="0" lvl="0" marL="0" marR="0" rtl="0" algn="ctr">
                <a:lnSpc>
                  <a:spcPct val="100000"/>
                </a:lnSpc>
                <a:spcBef>
                  <a:spcPts val="0"/>
                </a:spcBef>
                <a:spcAft>
                  <a:spcPts val="0"/>
                </a:spcAft>
                <a:buClr>
                  <a:srgbClr val="000099"/>
                </a:buClr>
                <a:buSzPts val="1400"/>
                <a:buFont typeface="Times New Roman"/>
                <a:buNone/>
              </a:pPr>
              <a:r>
                <a:rPr b="1" i="1" lang="en-US" sz="1400" u="none">
                  <a:solidFill>
                    <a:srgbClr val="000099"/>
                  </a:solidFill>
                  <a:latin typeface="Times New Roman"/>
                  <a:ea typeface="Times New Roman"/>
                  <a:cs typeface="Times New Roman"/>
                  <a:sym typeface="Times New Roman"/>
                </a:rPr>
                <a:t>John Wiley &amp; Sons, Inc. © 2005</a:t>
              </a:r>
              <a:endParaRPr/>
            </a:p>
          </p:txBody>
        </p:sp>
        <p:sp>
          <p:nvSpPr>
            <p:cNvPr id="28" name="Google Shape;28;p4"/>
            <p:cNvSpPr txBox="1"/>
            <p:nvPr/>
          </p:nvSpPr>
          <p:spPr>
            <a:xfrm>
              <a:off x="2160" y="1224"/>
              <a:ext cx="196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 name="Google Shape;29;p4"/>
            <p:cNvSpPr txBox="1"/>
            <p:nvPr/>
          </p:nvSpPr>
          <p:spPr>
            <a:xfrm>
              <a:off x="2040" y="1128"/>
              <a:ext cx="2208" cy="3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C0128"/>
                </a:buClr>
                <a:buSzPts val="3200"/>
                <a:buFont typeface="Arial Black"/>
                <a:buNone/>
              </a:pPr>
              <a:r>
                <a:rPr b="1" i="0" lang="en-US" sz="3200" u="none">
                  <a:solidFill>
                    <a:srgbClr val="FC0128"/>
                  </a:solidFill>
                  <a:latin typeface="Arial Black"/>
                  <a:ea typeface="Arial Black"/>
                  <a:cs typeface="Arial Black"/>
                  <a:sym typeface="Arial Black"/>
                </a:rPr>
                <a:t>Chapter 10</a:t>
              </a:r>
              <a:endParaRPr/>
            </a:p>
          </p:txBody>
        </p:sp>
        <p:sp>
          <p:nvSpPr>
            <p:cNvPr id="30" name="Google Shape;30;p4"/>
            <p:cNvSpPr txBox="1"/>
            <p:nvPr/>
          </p:nvSpPr>
          <p:spPr>
            <a:xfrm>
              <a:off x="768" y="1642"/>
              <a:ext cx="4800" cy="1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4400"/>
                <a:buFont typeface="Arial Black"/>
                <a:buNone/>
              </a:pPr>
              <a:r>
                <a:rPr b="1" i="0" lang="en-US" sz="4400" u="none">
                  <a:solidFill>
                    <a:srgbClr val="000099"/>
                  </a:solidFill>
                  <a:latin typeface="Arial Black"/>
                  <a:ea typeface="Arial Black"/>
                  <a:cs typeface="Arial Black"/>
                  <a:sym typeface="Arial Black"/>
                </a:rPr>
                <a:t>Plant Assets, Natural Resources, and Intangible Assets</a:t>
              </a:r>
              <a:endParaRPr/>
            </a:p>
          </p:txBody>
        </p:sp>
        <p:sp>
          <p:nvSpPr>
            <p:cNvPr id="31" name="Google Shape;31;p4"/>
            <p:cNvSpPr txBox="1"/>
            <p:nvPr/>
          </p:nvSpPr>
          <p:spPr>
            <a:xfrm>
              <a:off x="1152" y="3240"/>
              <a:ext cx="3984" cy="122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Prepared by Naomi Karolinski</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Monroe Community College</a:t>
              </a:r>
              <a:endParaRPr/>
            </a:p>
            <a:p>
              <a:pPr indent="0" lvl="0" marL="0" marR="0" rtl="0" algn="ctr">
                <a:lnSpc>
                  <a:spcPct val="100000"/>
                </a:lnSpc>
                <a:spcBef>
                  <a:spcPts val="0"/>
                </a:spcBef>
                <a:spcAft>
                  <a:spcPts val="0"/>
                </a:spcAft>
                <a:buClr>
                  <a:schemeClr val="dk1"/>
                </a:buClr>
                <a:buSzPts val="200"/>
                <a:buFont typeface="Times New Roman"/>
                <a:buNone/>
              </a:pPr>
              <a:r>
                <a:t/>
              </a:r>
              <a:endParaRPr b="0" i="0" sz="200" u="non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 and</a:t>
              </a:r>
              <a:endParaRPr/>
            </a:p>
            <a:p>
              <a:pPr indent="0" lvl="0" marL="0" marR="0" rtl="0" algn="ctr">
                <a:lnSpc>
                  <a:spcPct val="100000"/>
                </a:lnSpc>
                <a:spcBef>
                  <a:spcPts val="0"/>
                </a:spcBef>
                <a:spcAft>
                  <a:spcPts val="0"/>
                </a:spcAft>
                <a:buClr>
                  <a:schemeClr val="dk1"/>
                </a:buClr>
                <a:buSzPts val="200"/>
                <a:buFont typeface="Times New Roman"/>
                <a:buNone/>
              </a:pPr>
              <a:r>
                <a:t/>
              </a:r>
              <a:endParaRPr b="0" i="0" sz="200" u="non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Marianne Bradford</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Bryant College</a:t>
              </a:r>
              <a:endParaRPr/>
            </a:p>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sp>
          <p:nvSpPr>
            <p:cNvPr id="32" name="Google Shape;32;p4"/>
            <p:cNvSpPr txBox="1"/>
            <p:nvPr/>
          </p:nvSpPr>
          <p:spPr>
            <a:xfrm>
              <a:off x="672" y="72"/>
              <a:ext cx="4944" cy="5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Accounting Principles, 7</a:t>
              </a:r>
              <a:r>
                <a:rPr b="0" baseline="30000" i="0" lang="en-US" sz="2400" u="none">
                  <a:solidFill>
                    <a:schemeClr val="dk1"/>
                  </a:solidFill>
                  <a:latin typeface="Arial"/>
                  <a:ea typeface="Arial"/>
                  <a:cs typeface="Arial"/>
                  <a:sym typeface="Arial"/>
                </a:rPr>
                <a:t>th</a:t>
              </a:r>
              <a:r>
                <a:rPr b="0" i="0" lang="en-US" sz="2400" u="none">
                  <a:solidFill>
                    <a:schemeClr val="dk1"/>
                  </a:solidFill>
                  <a:latin typeface="Arial"/>
                  <a:ea typeface="Arial"/>
                  <a:cs typeface="Arial"/>
                  <a:sym typeface="Arial"/>
                </a:rPr>
                <a:t> Edition</a:t>
              </a:r>
              <a:endParaRPr/>
            </a:p>
            <a:p>
              <a:pPr indent="0" lvl="0" marL="0" marR="0" rtl="0" algn="ctr">
                <a:lnSpc>
                  <a:spcPct val="100000"/>
                </a:lnSpc>
                <a:spcBef>
                  <a:spcPts val="90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Weygandt • Kieso • Kimmel</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 name="Shape 36"/>
        <p:cNvGrpSpPr/>
        <p:nvPr/>
      </p:nvGrpSpPr>
      <p:grpSpPr>
        <a:xfrm>
          <a:off x="0" y="0"/>
          <a:ext cx="0" cy="0"/>
          <a:chOff x="0" y="0"/>
          <a:chExt cx="0" cy="0"/>
        </a:xfrm>
      </p:grpSpPr>
      <p:sp>
        <p:nvSpPr>
          <p:cNvPr id="37" name="Google Shape;37;p5"/>
          <p:cNvSpPr txBox="1"/>
          <p:nvPr/>
        </p:nvSpPr>
        <p:spPr>
          <a:xfrm>
            <a:off x="228600" y="0"/>
            <a:ext cx="9144000" cy="1673225"/>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400"/>
              <a:buFont typeface="Arial Black"/>
              <a:buNone/>
            </a:pPr>
            <a:r>
              <a:rPr b="1" i="0" lang="en-US" sz="4400" u="none">
                <a:solidFill>
                  <a:srgbClr val="000099"/>
                </a:solidFill>
                <a:latin typeface="Arial Black"/>
                <a:ea typeface="Arial Black"/>
                <a:cs typeface="Arial Black"/>
                <a:sym typeface="Arial Black"/>
              </a:rPr>
              <a:t>CHAPTER </a:t>
            </a:r>
            <a:r>
              <a:rPr b="1" i="0" lang="en-US" sz="4400" u="none">
                <a:solidFill>
                  <a:srgbClr val="FC0128"/>
                </a:solidFill>
                <a:latin typeface="Arial Black"/>
                <a:ea typeface="Arial Black"/>
                <a:cs typeface="Arial Black"/>
                <a:sym typeface="Arial Black"/>
              </a:rPr>
              <a:t>10</a:t>
            </a:r>
            <a:r>
              <a:rPr b="1" i="0" lang="en-US" sz="4400" u="none">
                <a:solidFill>
                  <a:srgbClr val="000099"/>
                </a:solidFill>
                <a:latin typeface="Arial Black"/>
                <a:ea typeface="Arial Black"/>
                <a:cs typeface="Arial Black"/>
                <a:sym typeface="Arial Black"/>
              </a:rPr>
              <a:t>                     </a:t>
            </a:r>
            <a:r>
              <a:rPr b="1" i="0" lang="en-US" sz="3000" u="none">
                <a:solidFill>
                  <a:srgbClr val="000099"/>
                </a:solidFill>
                <a:latin typeface="Arial Black"/>
                <a:ea typeface="Arial Black"/>
                <a:cs typeface="Arial Black"/>
                <a:sym typeface="Arial Black"/>
              </a:rPr>
              <a:t>PLANT ASSETS, NATURAL RESOURCES, AND INTANGIBLE ASSETS</a:t>
            </a:r>
            <a:endParaRPr/>
          </a:p>
        </p:txBody>
      </p:sp>
      <p:sp>
        <p:nvSpPr>
          <p:cNvPr id="38" name="Google Shape;38;p5"/>
          <p:cNvSpPr txBox="1"/>
          <p:nvPr/>
        </p:nvSpPr>
        <p:spPr>
          <a:xfrm>
            <a:off x="685800" y="1676400"/>
            <a:ext cx="8447087" cy="547687"/>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3000"/>
              <a:buFont typeface="Times New Roman"/>
              <a:buNone/>
            </a:pPr>
            <a:r>
              <a:rPr b="1" i="0" lang="en-US" sz="3000" u="none">
                <a:solidFill>
                  <a:schemeClr val="dk1"/>
                </a:solidFill>
                <a:latin typeface="Times New Roman"/>
                <a:ea typeface="Times New Roman"/>
                <a:cs typeface="Times New Roman"/>
                <a:sym typeface="Times New Roman"/>
              </a:rPr>
              <a:t>After studying this chapter, you should be able to:</a:t>
            </a:r>
            <a:endParaRPr/>
          </a:p>
        </p:txBody>
      </p:sp>
      <p:sp>
        <p:nvSpPr>
          <p:cNvPr id="39" name="Google Shape;39;p5"/>
          <p:cNvSpPr txBox="1"/>
          <p:nvPr>
            <p:ph idx="1" type="body"/>
          </p:nvPr>
        </p:nvSpPr>
        <p:spPr>
          <a:xfrm>
            <a:off x="704850" y="2270125"/>
            <a:ext cx="8172450" cy="4987925"/>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3000"/>
              <a:buFont typeface="Arial"/>
              <a:buNone/>
            </a:pPr>
            <a:r>
              <a:rPr b="1" i="0" lang="en-US" sz="3000" u="none" cap="none" strike="noStrike">
                <a:solidFill>
                  <a:srgbClr val="BC3700"/>
                </a:solidFill>
                <a:latin typeface="Arial"/>
                <a:ea typeface="Arial"/>
                <a:cs typeface="Arial"/>
                <a:sym typeface="Arial"/>
              </a:rPr>
              <a:t>1</a:t>
            </a:r>
            <a:r>
              <a:rPr b="1" i="0" lang="en-US" sz="3000" u="none" cap="none" strike="noStrike">
                <a:solidFill>
                  <a:schemeClr val="dk1"/>
                </a:solidFill>
                <a:latin typeface="Times New Roman"/>
                <a:ea typeface="Times New Roman"/>
                <a:cs typeface="Times New Roman"/>
                <a:sym typeface="Times New Roman"/>
              </a:rPr>
              <a:t> Describe how the cost principle applies to plant assets.</a:t>
            </a:r>
            <a:endParaRPr/>
          </a:p>
          <a:p>
            <a:pPr indent="-361950" lvl="0" marL="361950" marR="0" rtl="0" algn="l">
              <a:lnSpc>
                <a:spcPct val="100000"/>
              </a:lnSpc>
              <a:spcBef>
                <a:spcPts val="600"/>
              </a:spcBef>
              <a:spcAft>
                <a:spcPts val="0"/>
              </a:spcAft>
              <a:buClr>
                <a:srgbClr val="BC3700"/>
              </a:buClr>
              <a:buSzPts val="3000"/>
              <a:buFont typeface="Arial"/>
              <a:buNone/>
            </a:pPr>
            <a:r>
              <a:rPr b="1" i="0" lang="en-US" sz="3000" u="none" cap="none" strike="noStrike">
                <a:solidFill>
                  <a:srgbClr val="BC3700"/>
                </a:solidFill>
                <a:latin typeface="Arial"/>
                <a:ea typeface="Arial"/>
                <a:cs typeface="Arial"/>
                <a:sym typeface="Arial"/>
              </a:rPr>
              <a:t>2</a:t>
            </a:r>
            <a:r>
              <a:rPr b="1" i="0" lang="en-US" sz="3000" u="none" cap="none" strike="noStrike">
                <a:solidFill>
                  <a:schemeClr val="dk1"/>
                </a:solidFill>
                <a:latin typeface="Arial"/>
                <a:ea typeface="Arial"/>
                <a:cs typeface="Arial"/>
                <a:sym typeface="Arial"/>
              </a:rPr>
              <a:t> </a:t>
            </a:r>
            <a:r>
              <a:rPr b="1" i="0" lang="en-US" sz="3000" u="none" cap="none" strike="noStrike">
                <a:solidFill>
                  <a:schemeClr val="dk1"/>
                </a:solidFill>
                <a:latin typeface="Times New Roman"/>
                <a:ea typeface="Times New Roman"/>
                <a:cs typeface="Times New Roman"/>
                <a:sym typeface="Times New Roman"/>
              </a:rPr>
              <a:t>Explain</a:t>
            </a:r>
            <a:r>
              <a:rPr b="1" i="0" lang="en-US" sz="3000" u="none" cap="none" strike="noStrike">
                <a:solidFill>
                  <a:schemeClr val="dk1"/>
                </a:solidFill>
                <a:latin typeface="Arial"/>
                <a:ea typeface="Arial"/>
                <a:cs typeface="Arial"/>
                <a:sym typeface="Arial"/>
              </a:rPr>
              <a:t> t</a:t>
            </a:r>
            <a:r>
              <a:rPr b="1" i="0" lang="en-US" sz="3000" u="none" cap="none" strike="noStrike">
                <a:solidFill>
                  <a:schemeClr val="dk1"/>
                </a:solidFill>
                <a:latin typeface="Times New Roman"/>
                <a:ea typeface="Times New Roman"/>
                <a:cs typeface="Times New Roman"/>
                <a:sym typeface="Times New Roman"/>
              </a:rPr>
              <a:t>he concept of depreciation.</a:t>
            </a:r>
            <a:endParaRPr/>
          </a:p>
          <a:p>
            <a:pPr indent="-361950" lvl="0" marL="361950" marR="0" rtl="0" algn="l">
              <a:lnSpc>
                <a:spcPct val="100000"/>
              </a:lnSpc>
              <a:spcBef>
                <a:spcPts val="600"/>
              </a:spcBef>
              <a:spcAft>
                <a:spcPts val="0"/>
              </a:spcAft>
              <a:buClr>
                <a:srgbClr val="BC3700"/>
              </a:buClr>
              <a:buSzPts val="3000"/>
              <a:buFont typeface="Arial"/>
              <a:buNone/>
            </a:pPr>
            <a:r>
              <a:rPr b="1" i="0" lang="en-US" sz="3000" u="none" cap="none" strike="noStrike">
                <a:solidFill>
                  <a:srgbClr val="BC3700"/>
                </a:solidFill>
                <a:latin typeface="Arial"/>
                <a:ea typeface="Arial"/>
                <a:cs typeface="Arial"/>
                <a:sym typeface="Arial"/>
              </a:rPr>
              <a:t>3</a:t>
            </a:r>
            <a:r>
              <a:rPr b="1" i="0" lang="en-US" sz="3000" u="none" cap="none" strike="noStrike">
                <a:solidFill>
                  <a:schemeClr val="dk1"/>
                </a:solidFill>
                <a:latin typeface="Times New Roman"/>
                <a:ea typeface="Times New Roman"/>
                <a:cs typeface="Times New Roman"/>
                <a:sym typeface="Times New Roman"/>
              </a:rPr>
              <a:t> Compute periodic depreciation using different methods.</a:t>
            </a:r>
            <a:endParaRPr/>
          </a:p>
          <a:p>
            <a:pPr indent="-361950" lvl="0" marL="361950" marR="0" rtl="0" algn="l">
              <a:lnSpc>
                <a:spcPct val="100000"/>
              </a:lnSpc>
              <a:spcBef>
                <a:spcPts val="600"/>
              </a:spcBef>
              <a:spcAft>
                <a:spcPts val="0"/>
              </a:spcAft>
              <a:buClr>
                <a:srgbClr val="BC3700"/>
              </a:buClr>
              <a:buSzPts val="3000"/>
              <a:buFont typeface="Arial"/>
              <a:buNone/>
            </a:pPr>
            <a:r>
              <a:rPr b="1" i="0" lang="en-US" sz="3000" u="none" cap="none" strike="noStrike">
                <a:solidFill>
                  <a:srgbClr val="BC3700"/>
                </a:solidFill>
                <a:latin typeface="Arial"/>
                <a:ea typeface="Arial"/>
                <a:cs typeface="Arial"/>
                <a:sym typeface="Arial"/>
              </a:rPr>
              <a:t>4</a:t>
            </a:r>
            <a:r>
              <a:rPr b="1" i="0" lang="en-US" sz="3000" u="none" cap="none" strike="noStrike">
                <a:solidFill>
                  <a:schemeClr val="dk1"/>
                </a:solidFill>
                <a:latin typeface="Times New Roman"/>
                <a:ea typeface="Times New Roman"/>
                <a:cs typeface="Times New Roman"/>
                <a:sym typeface="Times New Roman"/>
              </a:rPr>
              <a:t> Describe the procedure for revising periodic depreciation.</a:t>
            </a:r>
            <a:endParaRPr/>
          </a:p>
          <a:p>
            <a:pPr indent="-361950" lvl="0" marL="361950" marR="0" rtl="0" algn="l">
              <a:lnSpc>
                <a:spcPct val="100000"/>
              </a:lnSpc>
              <a:spcBef>
                <a:spcPts val="600"/>
              </a:spcBef>
              <a:spcAft>
                <a:spcPts val="0"/>
              </a:spcAft>
              <a:buClr>
                <a:srgbClr val="BC3700"/>
              </a:buClr>
              <a:buSzPts val="3000"/>
              <a:buFont typeface="Arial"/>
              <a:buNone/>
            </a:pPr>
            <a:r>
              <a:rPr b="1" i="0" lang="en-US" sz="3000" u="none" cap="none" strike="noStrike">
                <a:solidFill>
                  <a:srgbClr val="BC3700"/>
                </a:solidFill>
                <a:latin typeface="Arial"/>
                <a:ea typeface="Arial"/>
                <a:cs typeface="Arial"/>
                <a:sym typeface="Arial"/>
              </a:rPr>
              <a:t>5</a:t>
            </a:r>
            <a:r>
              <a:rPr b="1" i="0" lang="en-US" sz="3000" u="none" cap="none" strike="noStrike">
                <a:solidFill>
                  <a:schemeClr val="dk1"/>
                </a:solidFill>
                <a:latin typeface="Times New Roman"/>
                <a:ea typeface="Times New Roman"/>
                <a:cs typeface="Times New Roman"/>
                <a:sym typeface="Times New Roman"/>
              </a:rPr>
              <a:t> Distinguish between revenue and capital expenditures, and explain the entries for these expenditures.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
                                            <p:txEl>
                                              <p:pRg end="0" st="0"/>
                                            </p:txEl>
                                          </p:spTgt>
                                        </p:tgtEl>
                                        <p:attrNameLst>
                                          <p:attrName>style.visibility</p:attrName>
                                        </p:attrNameLst>
                                      </p:cBhvr>
                                      <p:to>
                                        <p:strVal val="visible"/>
                                      </p:to>
                                    </p:set>
                                    <p:anim calcmode="lin" valueType="num">
                                      <p:cBhvr additive="base">
                                        <p:cTn dur="500"/>
                                        <p:tgtEl>
                                          <p:spTgt spid="3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
                                            <p:txEl>
                                              <p:pRg end="1" st="1"/>
                                            </p:txEl>
                                          </p:spTgt>
                                        </p:tgtEl>
                                        <p:attrNameLst>
                                          <p:attrName>style.visibility</p:attrName>
                                        </p:attrNameLst>
                                      </p:cBhvr>
                                      <p:to>
                                        <p:strVal val="visible"/>
                                      </p:to>
                                    </p:set>
                                    <p:anim calcmode="lin" valueType="num">
                                      <p:cBhvr additive="base">
                                        <p:cTn dur="500"/>
                                        <p:tgtEl>
                                          <p:spTgt spid="3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
                                            <p:txEl>
                                              <p:pRg end="2" st="2"/>
                                            </p:txEl>
                                          </p:spTgt>
                                        </p:tgtEl>
                                        <p:attrNameLst>
                                          <p:attrName>style.visibility</p:attrName>
                                        </p:attrNameLst>
                                      </p:cBhvr>
                                      <p:to>
                                        <p:strVal val="visible"/>
                                      </p:to>
                                    </p:set>
                                    <p:anim calcmode="lin" valueType="num">
                                      <p:cBhvr additive="base">
                                        <p:cTn dur="500"/>
                                        <p:tgtEl>
                                          <p:spTgt spid="39">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
                                            <p:txEl>
                                              <p:pRg end="3" st="3"/>
                                            </p:txEl>
                                          </p:spTgt>
                                        </p:tgtEl>
                                        <p:attrNameLst>
                                          <p:attrName>style.visibility</p:attrName>
                                        </p:attrNameLst>
                                      </p:cBhvr>
                                      <p:to>
                                        <p:strVal val="visible"/>
                                      </p:to>
                                    </p:set>
                                    <p:anim calcmode="lin" valueType="num">
                                      <p:cBhvr additive="base">
                                        <p:cTn dur="500"/>
                                        <p:tgtEl>
                                          <p:spTgt spid="39">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
                                            <p:txEl>
                                              <p:pRg end="4" st="4"/>
                                            </p:txEl>
                                          </p:spTgt>
                                        </p:tgtEl>
                                        <p:attrNameLst>
                                          <p:attrName>style.visibility</p:attrName>
                                        </p:attrNameLst>
                                      </p:cBhvr>
                                      <p:to>
                                        <p:strVal val="visible"/>
                                      </p:to>
                                    </p:set>
                                    <p:anim calcmode="lin" valueType="num">
                                      <p:cBhvr additive="base">
                                        <p:cTn dur="500"/>
                                        <p:tgtEl>
                                          <p:spTgt spid="39">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 name="Shape 43"/>
        <p:cNvGrpSpPr/>
        <p:nvPr/>
      </p:nvGrpSpPr>
      <p:grpSpPr>
        <a:xfrm>
          <a:off x="0" y="0"/>
          <a:ext cx="0" cy="0"/>
          <a:chOff x="0" y="0"/>
          <a:chExt cx="0" cy="0"/>
        </a:xfrm>
      </p:grpSpPr>
      <p:sp>
        <p:nvSpPr>
          <p:cNvPr id="44" name="Google Shape;44;p6"/>
          <p:cNvSpPr txBox="1"/>
          <p:nvPr/>
        </p:nvSpPr>
        <p:spPr>
          <a:xfrm>
            <a:off x="858837" y="76200"/>
            <a:ext cx="7883525" cy="1460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3000"/>
              <a:buFont typeface="Arial Black"/>
              <a:buNone/>
            </a:pPr>
            <a:r>
              <a:rPr b="1" i="0" lang="en-US" sz="3000" u="none">
                <a:solidFill>
                  <a:srgbClr val="000099"/>
                </a:solidFill>
                <a:latin typeface="Arial Black"/>
                <a:ea typeface="Arial Black"/>
                <a:cs typeface="Arial Black"/>
                <a:sym typeface="Arial Black"/>
              </a:rPr>
              <a:t>PLANT ASSETS, NATURAL RESOURCES, AND INTANGIBLE ASSETS</a:t>
            </a:r>
            <a:endParaRPr/>
          </a:p>
        </p:txBody>
      </p:sp>
      <p:sp>
        <p:nvSpPr>
          <p:cNvPr id="45" name="Google Shape;45;p6"/>
          <p:cNvSpPr txBox="1"/>
          <p:nvPr/>
        </p:nvSpPr>
        <p:spPr>
          <a:xfrm>
            <a:off x="701675" y="1655762"/>
            <a:ext cx="8447087" cy="5461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3000"/>
              <a:buFont typeface="Times New Roman"/>
              <a:buNone/>
            </a:pPr>
            <a:r>
              <a:rPr b="1" i="0" lang="en-US" sz="3000" u="none">
                <a:solidFill>
                  <a:schemeClr val="dk1"/>
                </a:solidFill>
                <a:latin typeface="Times New Roman"/>
                <a:ea typeface="Times New Roman"/>
                <a:cs typeface="Times New Roman"/>
                <a:sym typeface="Times New Roman"/>
              </a:rPr>
              <a:t>After studying this chapter, you should be able to:</a:t>
            </a:r>
            <a:endParaRPr/>
          </a:p>
        </p:txBody>
      </p:sp>
      <p:sp>
        <p:nvSpPr>
          <p:cNvPr id="46" name="Google Shape;46;p6"/>
          <p:cNvSpPr txBox="1"/>
          <p:nvPr>
            <p:ph idx="1" type="body"/>
          </p:nvPr>
        </p:nvSpPr>
        <p:spPr>
          <a:xfrm>
            <a:off x="704850" y="2270125"/>
            <a:ext cx="8172450" cy="4873625"/>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3000"/>
              <a:buFont typeface="Arial"/>
              <a:buNone/>
            </a:pPr>
            <a:r>
              <a:rPr b="1" i="0" lang="en-US" sz="3000" u="none" cap="none" strike="noStrike">
                <a:solidFill>
                  <a:srgbClr val="BC3700"/>
                </a:solidFill>
                <a:latin typeface="Arial"/>
                <a:ea typeface="Arial"/>
                <a:cs typeface="Arial"/>
                <a:sym typeface="Arial"/>
              </a:rPr>
              <a:t>6</a:t>
            </a:r>
            <a:r>
              <a:rPr b="1" i="0" lang="en-US" sz="3000" u="none" cap="none" strike="noStrike">
                <a:solidFill>
                  <a:schemeClr val="dk1"/>
                </a:solidFill>
                <a:latin typeface="Times New Roman"/>
                <a:ea typeface="Times New Roman"/>
                <a:cs typeface="Times New Roman"/>
                <a:sym typeface="Times New Roman"/>
              </a:rPr>
              <a:t> Explain how to account for the disposal of a plant asset.</a:t>
            </a:r>
            <a:endParaRPr/>
          </a:p>
          <a:p>
            <a:pPr indent="-361950" lvl="0" marL="361950" marR="0" rtl="0" algn="l">
              <a:lnSpc>
                <a:spcPct val="100000"/>
              </a:lnSpc>
              <a:spcBef>
                <a:spcPts val="600"/>
              </a:spcBef>
              <a:spcAft>
                <a:spcPts val="0"/>
              </a:spcAft>
              <a:buClr>
                <a:srgbClr val="BC3700"/>
              </a:buClr>
              <a:buSzPts val="3000"/>
              <a:buFont typeface="Arial"/>
              <a:buNone/>
            </a:pPr>
            <a:r>
              <a:rPr b="1" i="0" lang="en-US" sz="3000" u="none" cap="none" strike="noStrike">
                <a:solidFill>
                  <a:srgbClr val="BC3700"/>
                </a:solidFill>
                <a:latin typeface="Arial"/>
                <a:ea typeface="Arial"/>
                <a:cs typeface="Arial"/>
                <a:sym typeface="Arial"/>
              </a:rPr>
              <a:t>7</a:t>
            </a:r>
            <a:r>
              <a:rPr b="1" i="0" lang="en-US" sz="3000" u="none" cap="none" strike="noStrike">
                <a:solidFill>
                  <a:schemeClr val="dk1"/>
                </a:solidFill>
                <a:latin typeface="Arial"/>
                <a:ea typeface="Arial"/>
                <a:cs typeface="Arial"/>
                <a:sym typeface="Arial"/>
              </a:rPr>
              <a:t> </a:t>
            </a:r>
            <a:r>
              <a:rPr b="1" i="0" lang="en-US" sz="3000" u="none" cap="none" strike="noStrike">
                <a:solidFill>
                  <a:schemeClr val="dk1"/>
                </a:solidFill>
                <a:latin typeface="Times New Roman"/>
                <a:ea typeface="Times New Roman"/>
                <a:cs typeface="Times New Roman"/>
                <a:sym typeface="Times New Roman"/>
              </a:rPr>
              <a:t>Compute periodic depletion of natural resources.</a:t>
            </a:r>
            <a:endParaRPr/>
          </a:p>
          <a:p>
            <a:pPr indent="-361950" lvl="0" marL="361950" marR="0" rtl="0" algn="l">
              <a:lnSpc>
                <a:spcPct val="100000"/>
              </a:lnSpc>
              <a:spcBef>
                <a:spcPts val="600"/>
              </a:spcBef>
              <a:spcAft>
                <a:spcPts val="0"/>
              </a:spcAft>
              <a:buClr>
                <a:srgbClr val="BC3700"/>
              </a:buClr>
              <a:buSzPts val="3000"/>
              <a:buFont typeface="Arial"/>
              <a:buNone/>
            </a:pPr>
            <a:r>
              <a:rPr b="1" i="0" lang="en-US" sz="3000" u="none" cap="none" strike="noStrike">
                <a:solidFill>
                  <a:srgbClr val="BC3700"/>
                </a:solidFill>
                <a:latin typeface="Arial"/>
                <a:ea typeface="Arial"/>
                <a:cs typeface="Arial"/>
                <a:sym typeface="Arial"/>
              </a:rPr>
              <a:t>8</a:t>
            </a:r>
            <a:r>
              <a:rPr b="1" i="0" lang="en-US" sz="3000" u="none" cap="none" strike="noStrike">
                <a:solidFill>
                  <a:schemeClr val="dk1"/>
                </a:solidFill>
                <a:latin typeface="Times New Roman"/>
                <a:ea typeface="Times New Roman"/>
                <a:cs typeface="Times New Roman"/>
                <a:sym typeface="Times New Roman"/>
              </a:rPr>
              <a:t> Explain the basic issues related to accounting for intangible assets.</a:t>
            </a:r>
            <a:endParaRPr/>
          </a:p>
          <a:p>
            <a:pPr indent="-361950" lvl="0" marL="361950" marR="0" rtl="0" algn="l">
              <a:lnSpc>
                <a:spcPct val="100000"/>
              </a:lnSpc>
              <a:spcBef>
                <a:spcPts val="600"/>
              </a:spcBef>
              <a:spcAft>
                <a:spcPts val="0"/>
              </a:spcAft>
              <a:buClr>
                <a:srgbClr val="BC3700"/>
              </a:buClr>
              <a:buSzPts val="3000"/>
              <a:buFont typeface="Arial"/>
              <a:buNone/>
            </a:pPr>
            <a:r>
              <a:rPr b="1" i="0" lang="en-US" sz="3000" u="none" cap="none" strike="noStrike">
                <a:solidFill>
                  <a:srgbClr val="BC3700"/>
                </a:solidFill>
                <a:latin typeface="Arial"/>
                <a:ea typeface="Arial"/>
                <a:cs typeface="Arial"/>
                <a:sym typeface="Arial"/>
              </a:rPr>
              <a:t>9</a:t>
            </a:r>
            <a:r>
              <a:rPr b="1" i="0" lang="en-US" sz="3000" u="none" cap="none" strike="noStrike">
                <a:solidFill>
                  <a:schemeClr val="dk1"/>
                </a:solidFill>
                <a:latin typeface="Times New Roman"/>
                <a:ea typeface="Times New Roman"/>
                <a:cs typeface="Times New Roman"/>
                <a:sym typeface="Times New Roman"/>
              </a:rPr>
              <a:t> Indicate how plant assets, natural resources, and intangible assets are reported and analyzed.</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6">
                                            <p:txEl>
                                              <p:pRg end="0" st="0"/>
                                            </p:txEl>
                                          </p:spTgt>
                                        </p:tgtEl>
                                        <p:attrNameLst>
                                          <p:attrName>style.visibility</p:attrName>
                                        </p:attrNameLst>
                                      </p:cBhvr>
                                      <p:to>
                                        <p:strVal val="visible"/>
                                      </p:to>
                                    </p:set>
                                    <p:anim calcmode="lin" valueType="num">
                                      <p:cBhvr additive="base">
                                        <p:cTn dur="500"/>
                                        <p:tgtEl>
                                          <p:spTgt spid="4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6">
                                            <p:txEl>
                                              <p:pRg end="1" st="1"/>
                                            </p:txEl>
                                          </p:spTgt>
                                        </p:tgtEl>
                                        <p:attrNameLst>
                                          <p:attrName>style.visibility</p:attrName>
                                        </p:attrNameLst>
                                      </p:cBhvr>
                                      <p:to>
                                        <p:strVal val="visible"/>
                                      </p:to>
                                    </p:set>
                                    <p:anim calcmode="lin" valueType="num">
                                      <p:cBhvr additive="base">
                                        <p:cTn dur="500"/>
                                        <p:tgtEl>
                                          <p:spTgt spid="4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6">
                                            <p:txEl>
                                              <p:pRg end="2" st="2"/>
                                            </p:txEl>
                                          </p:spTgt>
                                        </p:tgtEl>
                                        <p:attrNameLst>
                                          <p:attrName>style.visibility</p:attrName>
                                        </p:attrNameLst>
                                      </p:cBhvr>
                                      <p:to>
                                        <p:strVal val="visible"/>
                                      </p:to>
                                    </p:set>
                                    <p:anim calcmode="lin" valueType="num">
                                      <p:cBhvr additive="base">
                                        <p:cTn dur="500"/>
                                        <p:tgtEl>
                                          <p:spTgt spid="4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6">
                                            <p:txEl>
                                              <p:pRg end="3" st="3"/>
                                            </p:txEl>
                                          </p:spTgt>
                                        </p:tgtEl>
                                        <p:attrNameLst>
                                          <p:attrName>style.visibility</p:attrName>
                                        </p:attrNameLst>
                                      </p:cBhvr>
                                      <p:to>
                                        <p:strVal val="visible"/>
                                      </p:to>
                                    </p:set>
                                    <p:anim calcmode="lin" valueType="num">
                                      <p:cBhvr additive="base">
                                        <p:cTn dur="500"/>
                                        <p:tgtEl>
                                          <p:spTgt spid="46">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7"/>
          <p:cNvSpPr txBox="1"/>
          <p:nvPr>
            <p:ph idx="1" type="body"/>
          </p:nvPr>
        </p:nvSpPr>
        <p:spPr>
          <a:xfrm>
            <a:off x="533400" y="1074737"/>
            <a:ext cx="8159750" cy="5165725"/>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3200"/>
              <a:buFont typeface="Times New Roman"/>
              <a:buChar char="•"/>
            </a:pPr>
            <a:r>
              <a:rPr b="1" i="0" lang="en-US" sz="3200" u="none" cap="none" strike="noStrike">
                <a:solidFill>
                  <a:srgbClr val="BC3700"/>
                </a:solidFill>
                <a:latin typeface="Times New Roman"/>
                <a:ea typeface="Times New Roman"/>
                <a:cs typeface="Times New Roman"/>
                <a:sym typeface="Times New Roman"/>
              </a:rPr>
              <a:t>Plant assets</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tangible resources used in the operations of a business </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not intended for sale to customers  </a:t>
            </a:r>
            <a:endParaRPr/>
          </a:p>
          <a:p>
            <a:pPr indent="-361950" lvl="0" marL="361950" marR="0" rtl="0" algn="l">
              <a:lnSpc>
                <a:spcPct val="10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Plant assets are subdivided into four classes:  </a:t>
            </a:r>
            <a:endParaRPr/>
          </a:p>
          <a:p>
            <a:pPr indent="-361950" lvl="0" marL="361950" marR="0" rtl="0" algn="l">
              <a:lnSpc>
                <a:spcPct val="90000"/>
              </a:lnSpc>
              <a:spcBef>
                <a:spcPts val="640"/>
              </a:spcBef>
              <a:spcAft>
                <a:spcPts val="0"/>
              </a:spcAft>
              <a:buClr>
                <a:srgbClr val="BC3700"/>
              </a:buClr>
              <a:buSzPts val="3200"/>
              <a:buFont typeface="Arial"/>
              <a:buNone/>
            </a:pPr>
            <a:r>
              <a:rPr b="1" i="0" lang="en-US" sz="3200" u="none" cap="none" strike="noStrike">
                <a:solidFill>
                  <a:srgbClr val="BC3700"/>
                </a:solidFill>
                <a:latin typeface="Arial"/>
                <a:ea typeface="Arial"/>
                <a:cs typeface="Arial"/>
                <a:sym typeface="Arial"/>
              </a:rPr>
              <a:t>	</a:t>
            </a:r>
            <a:r>
              <a:rPr b="1" i="0" lang="en-US" sz="2800" u="none" cap="none" strike="noStrike">
                <a:solidFill>
                  <a:srgbClr val="BC3700"/>
                </a:solidFill>
                <a:latin typeface="Arial"/>
                <a:ea typeface="Arial"/>
                <a:cs typeface="Arial"/>
                <a:sym typeface="Arial"/>
              </a:rPr>
              <a:t>1</a:t>
            </a: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FC0128"/>
                </a:solidFill>
                <a:latin typeface="Times New Roman"/>
                <a:ea typeface="Times New Roman"/>
                <a:cs typeface="Times New Roman"/>
                <a:sym typeface="Times New Roman"/>
              </a:rPr>
              <a:t>Land</a:t>
            </a:r>
            <a:endParaRPr/>
          </a:p>
          <a:p>
            <a:pPr indent="-361950" lvl="0" marL="361950" marR="0" rtl="0" algn="l">
              <a:lnSpc>
                <a:spcPct val="90000"/>
              </a:lnSpc>
              <a:spcBef>
                <a:spcPts val="560"/>
              </a:spcBef>
              <a:spcAft>
                <a:spcPts val="0"/>
              </a:spcAft>
              <a:buClr>
                <a:srgbClr val="BC3700"/>
              </a:buClr>
              <a:buSzPts val="2800"/>
              <a:buFont typeface="Arial"/>
              <a:buNone/>
            </a:pPr>
            <a:r>
              <a:rPr b="1" i="0" lang="en-US" sz="2800" u="none" cap="none" strike="noStrike">
                <a:solidFill>
                  <a:srgbClr val="BC3700"/>
                </a:solidFill>
                <a:latin typeface="Arial"/>
                <a:ea typeface="Arial"/>
                <a:cs typeface="Arial"/>
                <a:sym typeface="Arial"/>
              </a:rPr>
              <a:t>	2</a:t>
            </a: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FC0128"/>
                </a:solidFill>
                <a:latin typeface="Times New Roman"/>
                <a:ea typeface="Times New Roman"/>
                <a:cs typeface="Times New Roman"/>
                <a:sym typeface="Times New Roman"/>
              </a:rPr>
              <a:t>Land improvements</a:t>
            </a:r>
            <a:endParaRPr/>
          </a:p>
          <a:p>
            <a:pPr indent="-361950" lvl="0" marL="361950" marR="0" rtl="0" algn="l">
              <a:lnSpc>
                <a:spcPct val="90000"/>
              </a:lnSpc>
              <a:spcBef>
                <a:spcPts val="560"/>
              </a:spcBef>
              <a:spcAft>
                <a:spcPts val="0"/>
              </a:spcAft>
              <a:buClr>
                <a:srgbClr val="BC3700"/>
              </a:buClr>
              <a:buSzPts val="2800"/>
              <a:buFont typeface="Arial"/>
              <a:buNone/>
            </a:pPr>
            <a:r>
              <a:rPr b="1" i="0" lang="en-US" sz="2800" u="none" cap="none" strike="noStrike">
                <a:solidFill>
                  <a:srgbClr val="BC3700"/>
                </a:solidFill>
                <a:latin typeface="Arial"/>
                <a:ea typeface="Arial"/>
                <a:cs typeface="Arial"/>
                <a:sym typeface="Arial"/>
              </a:rPr>
              <a:t>	3</a:t>
            </a: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FC0128"/>
                </a:solidFill>
                <a:latin typeface="Times New Roman"/>
                <a:ea typeface="Times New Roman"/>
                <a:cs typeface="Times New Roman"/>
                <a:sym typeface="Times New Roman"/>
              </a:rPr>
              <a:t>Buildings</a:t>
            </a:r>
            <a:endParaRPr/>
          </a:p>
          <a:p>
            <a:pPr indent="-361950" lvl="0" marL="361950" marR="0" rtl="0" algn="l">
              <a:lnSpc>
                <a:spcPct val="90000"/>
              </a:lnSpc>
              <a:spcBef>
                <a:spcPts val="560"/>
              </a:spcBef>
              <a:spcAft>
                <a:spcPts val="0"/>
              </a:spcAft>
              <a:buClr>
                <a:srgbClr val="BC3700"/>
              </a:buClr>
              <a:buSzPts val="2800"/>
              <a:buFont typeface="Arial"/>
              <a:buNone/>
            </a:pPr>
            <a:r>
              <a:rPr b="1" i="0" lang="en-US" sz="2800" u="none" cap="none" strike="noStrike">
                <a:solidFill>
                  <a:srgbClr val="BC3700"/>
                </a:solidFill>
                <a:latin typeface="Arial"/>
                <a:ea typeface="Arial"/>
                <a:cs typeface="Arial"/>
                <a:sym typeface="Arial"/>
              </a:rPr>
              <a:t>	4</a:t>
            </a: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FC0128"/>
                </a:solidFill>
                <a:latin typeface="Times New Roman"/>
                <a:ea typeface="Times New Roman"/>
                <a:cs typeface="Times New Roman"/>
                <a:sym typeface="Times New Roman"/>
              </a:rPr>
              <a:t>Equipment</a:t>
            </a:r>
            <a:endParaRPr/>
          </a:p>
        </p:txBody>
      </p:sp>
      <p:sp>
        <p:nvSpPr>
          <p:cNvPr id="52" name="Google Shape;52;p7"/>
          <p:cNvSpPr txBox="1"/>
          <p:nvPr/>
        </p:nvSpPr>
        <p:spPr>
          <a:xfrm>
            <a:off x="1801812" y="228600"/>
            <a:ext cx="599757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PLANT ASSETS</a:t>
            </a:r>
            <a:endParaRPr/>
          </a:p>
        </p:txBody>
      </p:sp>
      <p:pic>
        <p:nvPicPr>
          <p:cNvPr id="53" name="Google Shape;53;p7"/>
          <p:cNvPicPr preferRelativeResize="0"/>
          <p:nvPr/>
        </p:nvPicPr>
        <p:blipFill rotWithShape="1">
          <a:blip r:embed="rId3">
            <a:alphaModFix/>
          </a:blip>
          <a:srcRect b="0" l="0" r="0" t="0"/>
          <a:stretch/>
        </p:blipFill>
        <p:spPr>
          <a:xfrm>
            <a:off x="4343400" y="4343400"/>
            <a:ext cx="5029200" cy="2819400"/>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
                                            <p:txEl>
                                              <p:pRg end="0" st="0"/>
                                            </p:txEl>
                                          </p:spTgt>
                                        </p:tgtEl>
                                        <p:attrNameLst>
                                          <p:attrName>style.visibility</p:attrName>
                                        </p:attrNameLst>
                                      </p:cBhvr>
                                      <p:to>
                                        <p:strVal val="visible"/>
                                      </p:to>
                                    </p:set>
                                    <p:anim calcmode="lin" valueType="num">
                                      <p:cBhvr additive="base">
                                        <p:cTn dur="500"/>
                                        <p:tgtEl>
                                          <p:spTgt spid="5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
                                            <p:txEl>
                                              <p:pRg end="1" st="1"/>
                                            </p:txEl>
                                          </p:spTgt>
                                        </p:tgtEl>
                                        <p:attrNameLst>
                                          <p:attrName>style.visibility</p:attrName>
                                        </p:attrNameLst>
                                      </p:cBhvr>
                                      <p:to>
                                        <p:strVal val="visible"/>
                                      </p:to>
                                    </p:set>
                                    <p:anim calcmode="lin" valueType="num">
                                      <p:cBhvr additive="base">
                                        <p:cTn dur="500"/>
                                        <p:tgtEl>
                                          <p:spTgt spid="5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
                                            <p:txEl>
                                              <p:pRg end="2" st="2"/>
                                            </p:txEl>
                                          </p:spTgt>
                                        </p:tgtEl>
                                        <p:attrNameLst>
                                          <p:attrName>style.visibility</p:attrName>
                                        </p:attrNameLst>
                                      </p:cBhvr>
                                      <p:to>
                                        <p:strVal val="visible"/>
                                      </p:to>
                                    </p:set>
                                    <p:anim calcmode="lin" valueType="num">
                                      <p:cBhvr additive="base">
                                        <p:cTn dur="500"/>
                                        <p:tgtEl>
                                          <p:spTgt spid="51">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
                                            <p:txEl>
                                              <p:pRg end="3" st="3"/>
                                            </p:txEl>
                                          </p:spTgt>
                                        </p:tgtEl>
                                        <p:attrNameLst>
                                          <p:attrName>style.visibility</p:attrName>
                                        </p:attrNameLst>
                                      </p:cBhvr>
                                      <p:to>
                                        <p:strVal val="visible"/>
                                      </p:to>
                                    </p:set>
                                    <p:anim calcmode="lin" valueType="num">
                                      <p:cBhvr additive="base">
                                        <p:cTn dur="500"/>
                                        <p:tgtEl>
                                          <p:spTgt spid="51">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
                                            <p:txEl>
                                              <p:pRg end="4" st="4"/>
                                            </p:txEl>
                                          </p:spTgt>
                                        </p:tgtEl>
                                        <p:attrNameLst>
                                          <p:attrName>style.visibility</p:attrName>
                                        </p:attrNameLst>
                                      </p:cBhvr>
                                      <p:to>
                                        <p:strVal val="visible"/>
                                      </p:to>
                                    </p:set>
                                    <p:anim calcmode="lin" valueType="num">
                                      <p:cBhvr additive="base">
                                        <p:cTn dur="500"/>
                                        <p:tgtEl>
                                          <p:spTgt spid="51">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
                                            <p:txEl>
                                              <p:pRg end="5" st="5"/>
                                            </p:txEl>
                                          </p:spTgt>
                                        </p:tgtEl>
                                        <p:attrNameLst>
                                          <p:attrName>style.visibility</p:attrName>
                                        </p:attrNameLst>
                                      </p:cBhvr>
                                      <p:to>
                                        <p:strVal val="visible"/>
                                      </p:to>
                                    </p:set>
                                    <p:anim calcmode="lin" valueType="num">
                                      <p:cBhvr additive="base">
                                        <p:cTn dur="500"/>
                                        <p:tgtEl>
                                          <p:spTgt spid="51">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
                                            <p:txEl>
                                              <p:pRg end="6" st="6"/>
                                            </p:txEl>
                                          </p:spTgt>
                                        </p:tgtEl>
                                        <p:attrNameLst>
                                          <p:attrName>style.visibility</p:attrName>
                                        </p:attrNameLst>
                                      </p:cBhvr>
                                      <p:to>
                                        <p:strVal val="visible"/>
                                      </p:to>
                                    </p:set>
                                    <p:anim calcmode="lin" valueType="num">
                                      <p:cBhvr additive="base">
                                        <p:cTn dur="500"/>
                                        <p:tgtEl>
                                          <p:spTgt spid="51">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
                                            <p:txEl>
                                              <p:pRg end="7" st="7"/>
                                            </p:txEl>
                                          </p:spTgt>
                                        </p:tgtEl>
                                        <p:attrNameLst>
                                          <p:attrName>style.visibility</p:attrName>
                                        </p:attrNameLst>
                                      </p:cBhvr>
                                      <p:to>
                                        <p:strVal val="visible"/>
                                      </p:to>
                                    </p:set>
                                    <p:anim calcmode="lin" valueType="num">
                                      <p:cBhvr additive="base">
                                        <p:cTn dur="500"/>
                                        <p:tgtEl>
                                          <p:spTgt spid="51">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 name="Shape 57"/>
        <p:cNvGrpSpPr/>
        <p:nvPr/>
      </p:nvGrpSpPr>
      <p:grpSpPr>
        <a:xfrm>
          <a:off x="0" y="0"/>
          <a:ext cx="0" cy="0"/>
          <a:chOff x="0" y="0"/>
          <a:chExt cx="0" cy="0"/>
        </a:xfrm>
      </p:grpSpPr>
      <p:sp>
        <p:nvSpPr>
          <p:cNvPr id="58" name="Google Shape;58;p8"/>
          <p:cNvSpPr txBox="1"/>
          <p:nvPr>
            <p:ph idx="1" type="body"/>
          </p:nvPr>
        </p:nvSpPr>
        <p:spPr>
          <a:xfrm>
            <a:off x="547687" y="1898650"/>
            <a:ext cx="8159750" cy="4673600"/>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Plant assets are recorded at cost in            accordance with the </a:t>
            </a:r>
            <a:r>
              <a:rPr b="1" i="0" lang="en-US" sz="3200" u="none" cap="none" strike="noStrike">
                <a:solidFill>
                  <a:srgbClr val="BC3700"/>
                </a:solidFill>
                <a:latin typeface="Times New Roman"/>
                <a:ea typeface="Times New Roman"/>
                <a:cs typeface="Times New Roman"/>
                <a:sym typeface="Times New Roman"/>
              </a:rPr>
              <a:t>cost principle</a:t>
            </a:r>
            <a:r>
              <a:rPr b="1" i="0" lang="en-US" sz="3200" u="none" cap="none" strike="noStrike">
                <a:solidFill>
                  <a:schemeClr val="dk1"/>
                </a:solidFill>
                <a:latin typeface="Times New Roman"/>
                <a:ea typeface="Times New Roman"/>
                <a:cs typeface="Times New Roman"/>
                <a:sym typeface="Times New Roman"/>
              </a:rPr>
              <a:t>. </a:t>
            </a:r>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Cost </a:t>
            </a:r>
            <a:endParaRPr/>
          </a:p>
          <a:p>
            <a:pPr indent="-303212" lvl="1" marL="785812" marR="0" rtl="0" algn="l">
              <a:lnSpc>
                <a:spcPct val="90000"/>
              </a:lnSpc>
              <a:spcBef>
                <a:spcPts val="14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consists of all expenditures necessary                 to acquire the asset and make it ready                for its intended use</a:t>
            </a:r>
            <a:endParaRPr/>
          </a:p>
          <a:p>
            <a:pPr indent="-303212" lvl="1" marL="785812"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includes </a:t>
            </a:r>
            <a:r>
              <a:rPr b="1" i="0" lang="en-US" sz="2800" u="none" cap="none" strike="noStrike">
                <a:solidFill>
                  <a:srgbClr val="BC3700"/>
                </a:solidFill>
                <a:latin typeface="Times New Roman"/>
                <a:ea typeface="Times New Roman"/>
                <a:cs typeface="Times New Roman"/>
                <a:sym typeface="Times New Roman"/>
              </a:rPr>
              <a:t>purchase price</a:t>
            </a: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BC3700"/>
                </a:solidFill>
                <a:latin typeface="Times New Roman"/>
                <a:ea typeface="Times New Roman"/>
                <a:cs typeface="Times New Roman"/>
                <a:sym typeface="Times New Roman"/>
              </a:rPr>
              <a:t>freight costs</a:t>
            </a:r>
            <a:r>
              <a:rPr b="1" i="0" lang="en-US" sz="2800" u="none" cap="none" strike="noStrike">
                <a:solidFill>
                  <a:schemeClr val="dk1"/>
                </a:solidFill>
                <a:latin typeface="Times New Roman"/>
                <a:ea typeface="Times New Roman"/>
                <a:cs typeface="Times New Roman"/>
                <a:sym typeface="Times New Roman"/>
              </a:rPr>
              <a:t>, and </a:t>
            </a:r>
            <a:r>
              <a:rPr b="1" i="0" lang="en-US" sz="2800" u="none" cap="none" strike="noStrike">
                <a:solidFill>
                  <a:srgbClr val="BC3700"/>
                </a:solidFill>
                <a:latin typeface="Times New Roman"/>
                <a:ea typeface="Times New Roman"/>
                <a:cs typeface="Times New Roman"/>
                <a:sym typeface="Times New Roman"/>
              </a:rPr>
              <a:t>installation costs</a:t>
            </a:r>
            <a:endParaRPr b="1" i="0" sz="2800" u="none" cap="none" strike="noStrike">
              <a:solidFill>
                <a:schemeClr val="dk1"/>
              </a:solidFill>
              <a:latin typeface="Times New Roman"/>
              <a:ea typeface="Times New Roman"/>
              <a:cs typeface="Times New Roman"/>
              <a:sym typeface="Times New Roman"/>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Expenditures that are not necessary</a:t>
            </a:r>
            <a:endParaRPr/>
          </a:p>
          <a:p>
            <a:pPr indent="-303212" lvl="1" marL="785812"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recorded as expenses, losses, or other assets</a:t>
            </a:r>
            <a:endParaRPr/>
          </a:p>
        </p:txBody>
      </p:sp>
      <p:sp>
        <p:nvSpPr>
          <p:cNvPr id="59" name="Google Shape;59;p8"/>
          <p:cNvSpPr txBox="1"/>
          <p:nvPr/>
        </p:nvSpPr>
        <p:spPr>
          <a:xfrm>
            <a:off x="0" y="304800"/>
            <a:ext cx="9601200" cy="1498600"/>
          </a:xfrm>
          <a:prstGeom prst="rect">
            <a:avLst/>
          </a:prstGeom>
          <a:noFill/>
          <a:ln>
            <a:noFill/>
          </a:ln>
        </p:spPr>
        <p:txBody>
          <a:bodyPr anchorCtr="0" anchor="t" bIns="44425" lIns="90450" spcFirstLastPara="1" rIns="90450" wrap="square" tIns="44425">
            <a:spAutoFit/>
          </a:bodyPr>
          <a:lstStyle/>
          <a:p>
            <a:pPr indent="0" lvl="0" marL="0" marR="0" rtl="0" algn="ctr">
              <a:lnSpc>
                <a:spcPct val="95454"/>
              </a:lnSpc>
              <a:spcBef>
                <a:spcPts val="0"/>
              </a:spcBef>
              <a:spcAft>
                <a:spcPts val="0"/>
              </a:spcAft>
              <a:buClr>
                <a:srgbClr val="000099"/>
              </a:buClr>
              <a:buSzPts val="4400"/>
              <a:buFont typeface="Arial Black"/>
              <a:buNone/>
            </a:pPr>
            <a:r>
              <a:rPr b="1" i="0" lang="en-US" sz="4400" u="none">
                <a:solidFill>
                  <a:srgbClr val="000099"/>
                </a:solidFill>
                <a:latin typeface="Arial Black"/>
                <a:ea typeface="Arial Black"/>
                <a:cs typeface="Arial Black"/>
                <a:sym typeface="Arial Black"/>
              </a:rPr>
              <a:t>DETERMINING THE COST OF PLANT ASSETS</a:t>
            </a:r>
            <a:endParaRPr/>
          </a:p>
          <a:p>
            <a:pPr indent="0" lvl="0" marL="0" marR="0" rtl="0" algn="ctr">
              <a:lnSpc>
                <a:spcPct val="100000"/>
              </a:lnSpc>
              <a:spcBef>
                <a:spcPts val="45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STUDY OBJECTIVE</a:t>
            </a:r>
            <a:r>
              <a:rPr b="1" i="0" lang="en-US" sz="1800" u="none">
                <a:solidFill>
                  <a:srgbClr val="790015"/>
                </a:solidFill>
                <a:latin typeface="Arial"/>
                <a:ea typeface="Arial"/>
                <a:cs typeface="Arial"/>
                <a:sym typeface="Arial"/>
              </a:rPr>
              <a:t> </a:t>
            </a:r>
            <a:r>
              <a:rPr b="1" i="0" lang="en-US" sz="1800" u="none">
                <a:solidFill>
                  <a:srgbClr val="971008"/>
                </a:solidFill>
                <a:latin typeface="Arial"/>
                <a:ea typeface="Arial"/>
                <a:cs typeface="Arial"/>
                <a:sym typeface="Arial"/>
              </a:rPr>
              <a:t>1</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anim calcmode="lin" valueType="num">
                                      <p:cBhvr additive="base">
                                        <p:cTn dur="500"/>
                                        <p:tgtEl>
                                          <p:spTgt spid="5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anim calcmode="lin" valueType="num">
                                      <p:cBhvr additive="base">
                                        <p:cTn dur="500"/>
                                        <p:tgtEl>
                                          <p:spTgt spid="5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
                                            <p:txEl>
                                              <p:pRg end="2" st="2"/>
                                            </p:txEl>
                                          </p:spTgt>
                                        </p:tgtEl>
                                        <p:attrNameLst>
                                          <p:attrName>style.visibility</p:attrName>
                                        </p:attrNameLst>
                                      </p:cBhvr>
                                      <p:to>
                                        <p:strVal val="visible"/>
                                      </p:to>
                                    </p:set>
                                    <p:anim calcmode="lin" valueType="num">
                                      <p:cBhvr additive="base">
                                        <p:cTn dur="500"/>
                                        <p:tgtEl>
                                          <p:spTgt spid="5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
                                            <p:txEl>
                                              <p:pRg end="3" st="3"/>
                                            </p:txEl>
                                          </p:spTgt>
                                        </p:tgtEl>
                                        <p:attrNameLst>
                                          <p:attrName>style.visibility</p:attrName>
                                        </p:attrNameLst>
                                      </p:cBhvr>
                                      <p:to>
                                        <p:strVal val="visible"/>
                                      </p:to>
                                    </p:set>
                                    <p:anim calcmode="lin" valueType="num">
                                      <p:cBhvr additive="base">
                                        <p:cTn dur="500"/>
                                        <p:tgtEl>
                                          <p:spTgt spid="5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
                                            <p:txEl>
                                              <p:pRg end="4" st="4"/>
                                            </p:txEl>
                                          </p:spTgt>
                                        </p:tgtEl>
                                        <p:attrNameLst>
                                          <p:attrName>style.visibility</p:attrName>
                                        </p:attrNameLst>
                                      </p:cBhvr>
                                      <p:to>
                                        <p:strVal val="visible"/>
                                      </p:to>
                                    </p:set>
                                    <p:anim calcmode="lin" valueType="num">
                                      <p:cBhvr additive="base">
                                        <p:cTn dur="500"/>
                                        <p:tgtEl>
                                          <p:spTgt spid="58">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
                                            <p:txEl>
                                              <p:pRg end="5" st="5"/>
                                            </p:txEl>
                                          </p:spTgt>
                                        </p:tgtEl>
                                        <p:attrNameLst>
                                          <p:attrName>style.visibility</p:attrName>
                                        </p:attrNameLst>
                                      </p:cBhvr>
                                      <p:to>
                                        <p:strVal val="visible"/>
                                      </p:to>
                                    </p:set>
                                    <p:anim calcmode="lin" valueType="num">
                                      <p:cBhvr additive="base">
                                        <p:cTn dur="500"/>
                                        <p:tgtEl>
                                          <p:spTgt spid="58">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9"/>
          <p:cNvSpPr txBox="1"/>
          <p:nvPr>
            <p:ph idx="1" type="body"/>
          </p:nvPr>
        </p:nvSpPr>
        <p:spPr>
          <a:xfrm>
            <a:off x="720725" y="1905000"/>
            <a:ext cx="8159750" cy="4776787"/>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The cost of </a:t>
            </a:r>
            <a:r>
              <a:rPr b="1" i="0" lang="en-US" sz="2800" u="none" cap="none" strike="noStrike">
                <a:solidFill>
                  <a:srgbClr val="BC3700"/>
                </a:solidFill>
                <a:latin typeface="Times New Roman"/>
                <a:ea typeface="Times New Roman"/>
                <a:cs typeface="Times New Roman"/>
                <a:sym typeface="Times New Roman"/>
              </a:rPr>
              <a:t>Land</a:t>
            </a:r>
            <a:r>
              <a:rPr b="1" i="0" lang="en-US" sz="2800" u="none" cap="none" strike="noStrike">
                <a:solidFill>
                  <a:schemeClr val="dk1"/>
                </a:solidFill>
                <a:latin typeface="Times New Roman"/>
                <a:ea typeface="Times New Roman"/>
                <a:cs typeface="Times New Roman"/>
                <a:sym typeface="Times New Roman"/>
              </a:rPr>
              <a:t> includes:</a:t>
            </a:r>
            <a:endParaRPr/>
          </a:p>
          <a:p>
            <a:pPr indent="-361950" lvl="0" marL="361950" marR="0" rtl="0" algn="l">
              <a:lnSpc>
                <a:spcPct val="90000"/>
              </a:lnSpc>
              <a:spcBef>
                <a:spcPts val="560"/>
              </a:spcBef>
              <a:spcAft>
                <a:spcPts val="0"/>
              </a:spcAft>
              <a:buClr>
                <a:srgbClr val="BC3700"/>
              </a:buClr>
              <a:buSzPts val="2800"/>
              <a:buFont typeface="Arial"/>
              <a:buNone/>
            </a:pPr>
            <a:r>
              <a:rPr b="1" i="0" lang="en-US" sz="2800" u="none" cap="none" strike="noStrike">
                <a:solidFill>
                  <a:srgbClr val="BC3700"/>
                </a:solidFill>
                <a:latin typeface="Arial"/>
                <a:ea typeface="Arial"/>
                <a:cs typeface="Arial"/>
                <a:sym typeface="Arial"/>
              </a:rPr>
              <a:t>	1</a:t>
            </a:r>
            <a:r>
              <a:rPr b="1" i="0" lang="en-US" sz="2800" u="none" cap="none" strike="noStrike">
                <a:solidFill>
                  <a:schemeClr val="dk1"/>
                </a:solidFill>
                <a:latin typeface="Times New Roman"/>
                <a:ea typeface="Times New Roman"/>
                <a:cs typeface="Times New Roman"/>
                <a:sym typeface="Times New Roman"/>
              </a:rPr>
              <a:t> cash purchase price</a:t>
            </a:r>
            <a:endParaRPr/>
          </a:p>
          <a:p>
            <a:pPr indent="-361950" lvl="0" marL="361950" marR="0" rtl="0" algn="l">
              <a:lnSpc>
                <a:spcPct val="90000"/>
              </a:lnSpc>
              <a:spcBef>
                <a:spcPts val="560"/>
              </a:spcBef>
              <a:spcAft>
                <a:spcPts val="0"/>
              </a:spcAft>
              <a:buClr>
                <a:srgbClr val="BC3700"/>
              </a:buClr>
              <a:buSzPts val="2800"/>
              <a:buFont typeface="Arial"/>
              <a:buNone/>
            </a:pPr>
            <a:r>
              <a:rPr b="1" i="0" lang="en-US" sz="2800" u="none" cap="none" strike="noStrike">
                <a:solidFill>
                  <a:srgbClr val="BC3700"/>
                </a:solidFill>
                <a:latin typeface="Arial"/>
                <a:ea typeface="Arial"/>
                <a:cs typeface="Arial"/>
                <a:sym typeface="Arial"/>
              </a:rPr>
              <a:t>	2</a:t>
            </a:r>
            <a:r>
              <a:rPr b="1" i="0" lang="en-US" sz="2800" u="none" cap="none" strike="noStrike">
                <a:solidFill>
                  <a:schemeClr val="dk1"/>
                </a:solidFill>
                <a:latin typeface="Times New Roman"/>
                <a:ea typeface="Times New Roman"/>
                <a:cs typeface="Times New Roman"/>
                <a:sym typeface="Times New Roman"/>
              </a:rPr>
              <a:t> closing costs such as title and</a:t>
            </a:r>
            <a:endParaRPr/>
          </a:p>
          <a:p>
            <a:pPr indent="-361950" lvl="0" marL="361950" marR="0" rtl="0" algn="l">
              <a:lnSpc>
                <a:spcPct val="9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attorney’s fees</a:t>
            </a:r>
            <a:endParaRPr/>
          </a:p>
          <a:p>
            <a:pPr indent="-361950" lvl="0" marL="361950" marR="0" rtl="0" algn="l">
              <a:lnSpc>
                <a:spcPct val="90000"/>
              </a:lnSpc>
              <a:spcBef>
                <a:spcPts val="560"/>
              </a:spcBef>
              <a:spcAft>
                <a:spcPts val="0"/>
              </a:spcAft>
              <a:buClr>
                <a:srgbClr val="BC3700"/>
              </a:buClr>
              <a:buSzPts val="2800"/>
              <a:buFont typeface="Arial"/>
              <a:buNone/>
            </a:pPr>
            <a:r>
              <a:rPr b="1" i="0" lang="en-US" sz="2800" u="none" cap="none" strike="noStrike">
                <a:solidFill>
                  <a:srgbClr val="BC3700"/>
                </a:solidFill>
                <a:latin typeface="Arial"/>
                <a:ea typeface="Arial"/>
                <a:cs typeface="Arial"/>
                <a:sym typeface="Arial"/>
              </a:rPr>
              <a:t>	3</a:t>
            </a:r>
            <a:r>
              <a:rPr b="1" i="0" lang="en-US" sz="2800" u="none" cap="none" strike="noStrike">
                <a:solidFill>
                  <a:schemeClr val="dk1"/>
                </a:solidFill>
                <a:latin typeface="Times New Roman"/>
                <a:ea typeface="Times New Roman"/>
                <a:cs typeface="Times New Roman"/>
                <a:sym typeface="Times New Roman"/>
              </a:rPr>
              <a:t> real estate brokers’ commissions</a:t>
            </a:r>
            <a:endParaRPr/>
          </a:p>
          <a:p>
            <a:pPr indent="-361950" lvl="0" marL="361950" marR="0" rtl="0" algn="l">
              <a:lnSpc>
                <a:spcPct val="9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BC3700"/>
                </a:solidFill>
                <a:latin typeface="Arial"/>
                <a:ea typeface="Arial"/>
                <a:cs typeface="Arial"/>
                <a:sym typeface="Arial"/>
              </a:rPr>
              <a:t>4</a:t>
            </a:r>
            <a:r>
              <a:rPr b="1" i="0" lang="en-US" sz="2800" u="none" cap="none" strike="noStrike">
                <a:solidFill>
                  <a:schemeClr val="dk1"/>
                </a:solidFill>
                <a:latin typeface="Times New Roman"/>
                <a:ea typeface="Times New Roman"/>
                <a:cs typeface="Times New Roman"/>
                <a:sym typeface="Times New Roman"/>
              </a:rPr>
              <a:t> accrued property taxes and other liens on the</a:t>
            </a:r>
            <a:endParaRPr/>
          </a:p>
          <a:p>
            <a:pPr indent="-361950" lvl="0" marL="361950" marR="0" rtl="0" algn="l">
              <a:lnSpc>
                <a:spcPct val="9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land assumed by the purchaser. </a:t>
            </a:r>
            <a:endParaRPr/>
          </a:p>
          <a:p>
            <a:pPr indent="-361950" lvl="0" marL="361950"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All necessary costs incurred to make land ready</a:t>
            </a:r>
            <a:endParaRPr/>
          </a:p>
          <a:p>
            <a:pPr indent="-361950" lvl="0" marL="361950" marR="0" rtl="0" algn="l">
              <a:lnSpc>
                <a:spcPct val="9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for its intended use are debited to the </a:t>
            </a:r>
            <a:r>
              <a:rPr b="1" i="0" lang="en-US" sz="2800" u="none" cap="none" strike="noStrike">
                <a:solidFill>
                  <a:srgbClr val="BC3700"/>
                </a:solidFill>
                <a:latin typeface="Times New Roman"/>
                <a:ea typeface="Times New Roman"/>
                <a:cs typeface="Times New Roman"/>
                <a:sym typeface="Times New Roman"/>
              </a:rPr>
              <a:t>Land</a:t>
            </a:r>
            <a:endParaRPr/>
          </a:p>
          <a:p>
            <a:pPr indent="-361950" lvl="0" marL="361950" marR="0" rtl="0" algn="l">
              <a:lnSpc>
                <a:spcPct val="9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account.</a:t>
            </a:r>
            <a:endParaRPr/>
          </a:p>
        </p:txBody>
      </p:sp>
      <p:pic>
        <p:nvPicPr>
          <p:cNvPr id="65" name="Google Shape;65;p9"/>
          <p:cNvPicPr preferRelativeResize="0"/>
          <p:nvPr/>
        </p:nvPicPr>
        <p:blipFill rotWithShape="1">
          <a:blip r:embed="rId3">
            <a:alphaModFix/>
          </a:blip>
          <a:srcRect b="0" l="0" r="0" t="0"/>
          <a:stretch/>
        </p:blipFill>
        <p:spPr>
          <a:xfrm>
            <a:off x="6705600" y="1371600"/>
            <a:ext cx="2311400" cy="2286000"/>
          </a:xfrm>
          <a:prstGeom prst="rect">
            <a:avLst/>
          </a:prstGeom>
          <a:noFill/>
          <a:ln>
            <a:noFill/>
          </a:ln>
        </p:spPr>
      </p:pic>
      <p:sp>
        <p:nvSpPr>
          <p:cNvPr id="66" name="Google Shape;66;p9"/>
          <p:cNvSpPr txBox="1"/>
          <p:nvPr/>
        </p:nvSpPr>
        <p:spPr>
          <a:xfrm>
            <a:off x="3316287" y="457200"/>
            <a:ext cx="296862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LAND</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anim calcmode="lin" valueType="num">
                                      <p:cBhvr additive="base">
                                        <p:cTn dur="500"/>
                                        <p:tgtEl>
                                          <p:spTgt spid="6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anim calcmode="lin" valueType="num">
                                      <p:cBhvr additive="base">
                                        <p:cTn dur="500"/>
                                        <p:tgtEl>
                                          <p:spTgt spid="64">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2" st="2"/>
                                            </p:txEl>
                                          </p:spTgt>
                                        </p:tgtEl>
                                        <p:attrNameLst>
                                          <p:attrName>style.visibility</p:attrName>
                                        </p:attrNameLst>
                                      </p:cBhvr>
                                      <p:to>
                                        <p:strVal val="visible"/>
                                      </p:to>
                                    </p:set>
                                    <p:anim calcmode="lin" valueType="num">
                                      <p:cBhvr additive="base">
                                        <p:cTn dur="500"/>
                                        <p:tgtEl>
                                          <p:spTgt spid="64">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3" st="3"/>
                                            </p:txEl>
                                          </p:spTgt>
                                        </p:tgtEl>
                                        <p:attrNameLst>
                                          <p:attrName>style.visibility</p:attrName>
                                        </p:attrNameLst>
                                      </p:cBhvr>
                                      <p:to>
                                        <p:strVal val="visible"/>
                                      </p:to>
                                    </p:set>
                                    <p:anim calcmode="lin" valueType="num">
                                      <p:cBhvr additive="base">
                                        <p:cTn dur="500"/>
                                        <p:tgtEl>
                                          <p:spTgt spid="64">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4" st="4"/>
                                            </p:txEl>
                                          </p:spTgt>
                                        </p:tgtEl>
                                        <p:attrNameLst>
                                          <p:attrName>style.visibility</p:attrName>
                                        </p:attrNameLst>
                                      </p:cBhvr>
                                      <p:to>
                                        <p:strVal val="visible"/>
                                      </p:to>
                                    </p:set>
                                    <p:anim calcmode="lin" valueType="num">
                                      <p:cBhvr additive="base">
                                        <p:cTn dur="500"/>
                                        <p:tgtEl>
                                          <p:spTgt spid="64">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5" st="5"/>
                                            </p:txEl>
                                          </p:spTgt>
                                        </p:tgtEl>
                                        <p:attrNameLst>
                                          <p:attrName>style.visibility</p:attrName>
                                        </p:attrNameLst>
                                      </p:cBhvr>
                                      <p:to>
                                        <p:strVal val="visible"/>
                                      </p:to>
                                    </p:set>
                                    <p:anim calcmode="lin" valueType="num">
                                      <p:cBhvr additive="base">
                                        <p:cTn dur="500"/>
                                        <p:tgtEl>
                                          <p:spTgt spid="64">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6" st="6"/>
                                            </p:txEl>
                                          </p:spTgt>
                                        </p:tgtEl>
                                        <p:attrNameLst>
                                          <p:attrName>style.visibility</p:attrName>
                                        </p:attrNameLst>
                                      </p:cBhvr>
                                      <p:to>
                                        <p:strVal val="visible"/>
                                      </p:to>
                                    </p:set>
                                    <p:anim calcmode="lin" valueType="num">
                                      <p:cBhvr additive="base">
                                        <p:cTn dur="500"/>
                                        <p:tgtEl>
                                          <p:spTgt spid="64">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7" st="7"/>
                                            </p:txEl>
                                          </p:spTgt>
                                        </p:tgtEl>
                                        <p:attrNameLst>
                                          <p:attrName>style.visibility</p:attrName>
                                        </p:attrNameLst>
                                      </p:cBhvr>
                                      <p:to>
                                        <p:strVal val="visible"/>
                                      </p:to>
                                    </p:set>
                                    <p:anim calcmode="lin" valueType="num">
                                      <p:cBhvr additive="base">
                                        <p:cTn dur="500"/>
                                        <p:tgtEl>
                                          <p:spTgt spid="64">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8" st="8"/>
                                            </p:txEl>
                                          </p:spTgt>
                                        </p:tgtEl>
                                        <p:attrNameLst>
                                          <p:attrName>style.visibility</p:attrName>
                                        </p:attrNameLst>
                                      </p:cBhvr>
                                      <p:to>
                                        <p:strVal val="visible"/>
                                      </p:to>
                                    </p:set>
                                    <p:anim calcmode="lin" valueType="num">
                                      <p:cBhvr additive="base">
                                        <p:cTn dur="500"/>
                                        <p:tgtEl>
                                          <p:spTgt spid="64">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xEl>
                                              <p:pRg end="9" st="9"/>
                                            </p:txEl>
                                          </p:spTgt>
                                        </p:tgtEl>
                                        <p:attrNameLst>
                                          <p:attrName>style.visibility</p:attrName>
                                        </p:attrNameLst>
                                      </p:cBhvr>
                                      <p:to>
                                        <p:strVal val="visible"/>
                                      </p:to>
                                    </p:set>
                                    <p:anim calcmode="lin" valueType="num">
                                      <p:cBhvr additive="base">
                                        <p:cTn dur="500"/>
                                        <p:tgtEl>
                                          <p:spTgt spid="64">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p10"/>
          <p:cNvSpPr txBox="1"/>
          <p:nvPr/>
        </p:nvSpPr>
        <p:spPr>
          <a:xfrm>
            <a:off x="1163637" y="387350"/>
            <a:ext cx="7273925" cy="1308100"/>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COMPUTATION OF COST OF LAND</a:t>
            </a:r>
            <a:endParaRPr/>
          </a:p>
        </p:txBody>
      </p:sp>
      <p:sp>
        <p:nvSpPr>
          <p:cNvPr id="72" name="Google Shape;72;p10"/>
          <p:cNvSpPr/>
          <p:nvPr/>
        </p:nvSpPr>
        <p:spPr>
          <a:xfrm>
            <a:off x="381000" y="4038600"/>
            <a:ext cx="8915400" cy="3009900"/>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3" name="Google Shape;73;p10"/>
          <p:cNvPicPr preferRelativeResize="0"/>
          <p:nvPr/>
        </p:nvPicPr>
        <p:blipFill rotWithShape="1">
          <a:blip r:embed="rId3">
            <a:alphaModFix/>
          </a:blip>
          <a:srcRect b="90931" l="0" r="75416" t="0"/>
          <a:stretch/>
        </p:blipFill>
        <p:spPr>
          <a:xfrm>
            <a:off x="609600" y="4114800"/>
            <a:ext cx="8477250" cy="2914650"/>
          </a:xfrm>
          <a:prstGeom prst="rect">
            <a:avLst/>
          </a:prstGeom>
          <a:noFill/>
          <a:ln>
            <a:noFill/>
          </a:ln>
        </p:spPr>
      </p:pic>
      <p:sp>
        <p:nvSpPr>
          <p:cNvPr id="74" name="Google Shape;74;p10"/>
          <p:cNvSpPr txBox="1"/>
          <p:nvPr>
            <p:ph idx="1" type="body"/>
          </p:nvPr>
        </p:nvSpPr>
        <p:spPr>
          <a:xfrm>
            <a:off x="923925" y="1985962"/>
            <a:ext cx="7839075" cy="1785937"/>
          </a:xfrm>
          <a:prstGeom prst="rect">
            <a:avLst/>
          </a:prstGeom>
          <a:solidFill>
            <a:srgbClr val="FCD1C1"/>
          </a:solidFill>
          <a:ln>
            <a:noFill/>
          </a:ln>
          <a:effectLst>
            <a:outerShdw blurRad="63500" dir="2700000" dist="35921">
              <a:srgbClr val="808080"/>
            </a:outerShdw>
          </a:effectLst>
        </p:spPr>
        <p:txBody>
          <a:bodyPr anchorCtr="0" anchor="t" bIns="47625" lIns="96825" spcFirstLastPara="1" rIns="96825" wrap="square" tIns="47625">
            <a:noAutofit/>
          </a:bodyPr>
          <a:lstStyle/>
          <a:p>
            <a:pPr indent="-361950" lvl="0" marL="36195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Sometimes purchased land has a building on it that must be removed before construction of a new building.  In this case, all demolition and removal costs, less any proceeds from salvaged materials are debited to the </a:t>
            </a:r>
            <a:r>
              <a:rPr b="1" i="0" lang="en-US" sz="2200" u="none" cap="none" strike="noStrike">
                <a:solidFill>
                  <a:srgbClr val="BC3700"/>
                </a:solidFill>
                <a:latin typeface="Arial"/>
                <a:ea typeface="Arial"/>
                <a:cs typeface="Arial"/>
                <a:sym typeface="Arial"/>
              </a:rPr>
              <a:t>Land</a:t>
            </a:r>
            <a:r>
              <a:rPr b="1" i="0" lang="en-US" sz="2200" u="none" cap="none" strike="noStrike">
                <a:solidFill>
                  <a:schemeClr val="dk1"/>
                </a:solidFill>
                <a:latin typeface="Arial"/>
                <a:ea typeface="Arial"/>
                <a:cs typeface="Arial"/>
                <a:sym typeface="Arial"/>
              </a:rPr>
              <a:t> account.</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anim calcmode="lin" valueType="num">
                                      <p:cBhvr additive="base">
                                        <p:cTn dur="500"/>
                                        <p:tgtEl>
                                          <p:spTgt spid="7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11"/>
          <p:cNvSpPr txBox="1"/>
          <p:nvPr>
            <p:ph idx="1" type="body"/>
          </p:nvPr>
        </p:nvSpPr>
        <p:spPr>
          <a:xfrm>
            <a:off x="833437" y="2000250"/>
            <a:ext cx="7853362" cy="4171950"/>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The cost of</a:t>
            </a:r>
            <a:r>
              <a:rPr b="1" i="0" lang="en-US" sz="3200" u="none" cap="none" strike="noStrike">
                <a:solidFill>
                  <a:schemeClr val="accent2"/>
                </a:solidFill>
                <a:latin typeface="Times New Roman"/>
                <a:ea typeface="Times New Roman"/>
                <a:cs typeface="Times New Roman"/>
                <a:sym typeface="Times New Roman"/>
              </a:rPr>
              <a:t> </a:t>
            </a:r>
            <a:r>
              <a:rPr b="1" i="0" lang="en-US" sz="3200" u="none" cap="none" strike="noStrike">
                <a:solidFill>
                  <a:srgbClr val="BC3700"/>
                </a:solidFill>
                <a:latin typeface="Times New Roman"/>
                <a:ea typeface="Times New Roman"/>
                <a:cs typeface="Times New Roman"/>
                <a:sym typeface="Times New Roman"/>
              </a:rPr>
              <a:t>land improvements</a:t>
            </a:r>
            <a:r>
              <a:rPr b="1" i="0" lang="en-US" sz="3200" u="none" cap="none" strike="noStrike">
                <a:solidFill>
                  <a:schemeClr val="accent2"/>
                </a:solidFill>
                <a:latin typeface="Times New Roman"/>
                <a:ea typeface="Times New Roman"/>
                <a:cs typeface="Times New Roman"/>
                <a:sym typeface="Times New Roman"/>
              </a:rPr>
              <a:t> </a:t>
            </a:r>
            <a:r>
              <a:rPr b="1" i="0" lang="en-US" sz="3200" u="none" cap="none" strike="noStrike">
                <a:solidFill>
                  <a:schemeClr val="dk1"/>
                </a:solidFill>
                <a:latin typeface="Times New Roman"/>
                <a:ea typeface="Times New Roman"/>
                <a:cs typeface="Times New Roman"/>
                <a:sym typeface="Times New Roman"/>
              </a:rPr>
              <a:t>includes:</a:t>
            </a:r>
            <a:endParaRPr/>
          </a:p>
          <a:p>
            <a:pPr indent="-361950" lvl="0" marL="361950" marR="0" rtl="0" algn="l">
              <a:lnSpc>
                <a:spcPct val="100000"/>
              </a:lnSpc>
              <a:spcBef>
                <a:spcPts val="64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all expenditures needed to make the improvements ready for their intended use such as:</a:t>
            </a:r>
            <a:endParaRPr/>
          </a:p>
          <a:p>
            <a:pPr indent="-361950" lvl="0" marL="361950" marR="0" rtl="0" algn="l">
              <a:lnSpc>
                <a:spcPct val="100000"/>
              </a:lnSpc>
              <a:spcBef>
                <a:spcPts val="640"/>
              </a:spcBef>
              <a:spcAft>
                <a:spcPts val="0"/>
              </a:spcAft>
              <a:buClr>
                <a:srgbClr val="BC3700"/>
              </a:buClr>
              <a:buSzPts val="3200"/>
              <a:buFont typeface="Arial"/>
              <a:buNone/>
            </a:pPr>
            <a:r>
              <a:rPr b="1" i="0" lang="en-US" sz="3200" u="none" cap="none" strike="noStrike">
                <a:solidFill>
                  <a:srgbClr val="BC3700"/>
                </a:solidFill>
                <a:latin typeface="Arial"/>
                <a:ea typeface="Arial"/>
                <a:cs typeface="Arial"/>
                <a:sym typeface="Arial"/>
              </a:rPr>
              <a:t>1</a:t>
            </a:r>
            <a:r>
              <a:rPr b="1" i="0" lang="en-US" sz="3200" u="none" cap="none" strike="noStrike">
                <a:solidFill>
                  <a:schemeClr val="dk1"/>
                </a:solidFill>
                <a:latin typeface="Times New Roman"/>
                <a:ea typeface="Times New Roman"/>
                <a:cs typeface="Times New Roman"/>
                <a:sym typeface="Times New Roman"/>
              </a:rPr>
              <a:t> parking lots</a:t>
            </a:r>
            <a:endParaRPr/>
          </a:p>
          <a:p>
            <a:pPr indent="-361950" lvl="0" marL="361950" marR="0" rtl="0" algn="l">
              <a:lnSpc>
                <a:spcPct val="100000"/>
              </a:lnSpc>
              <a:spcBef>
                <a:spcPts val="640"/>
              </a:spcBef>
              <a:spcAft>
                <a:spcPts val="0"/>
              </a:spcAft>
              <a:buClr>
                <a:srgbClr val="BC3700"/>
              </a:buClr>
              <a:buSzPts val="3200"/>
              <a:buFont typeface="Arial"/>
              <a:buNone/>
            </a:pPr>
            <a:r>
              <a:rPr b="1" i="0" lang="en-US" sz="3200" u="none" cap="none" strike="noStrike">
                <a:solidFill>
                  <a:srgbClr val="BC3700"/>
                </a:solidFill>
                <a:latin typeface="Arial"/>
                <a:ea typeface="Arial"/>
                <a:cs typeface="Arial"/>
                <a:sym typeface="Arial"/>
              </a:rPr>
              <a:t>2</a:t>
            </a:r>
            <a:r>
              <a:rPr b="1" i="0" lang="en-US" sz="3200" u="none" cap="none" strike="noStrike">
                <a:solidFill>
                  <a:schemeClr val="dk1"/>
                </a:solidFill>
                <a:latin typeface="Times New Roman"/>
                <a:ea typeface="Times New Roman"/>
                <a:cs typeface="Times New Roman"/>
                <a:sym typeface="Times New Roman"/>
              </a:rPr>
              <a:t> fencing</a:t>
            </a:r>
            <a:endParaRPr/>
          </a:p>
          <a:p>
            <a:pPr indent="-361950" lvl="0" marL="361950" marR="0" rtl="0" algn="l">
              <a:lnSpc>
                <a:spcPct val="100000"/>
              </a:lnSpc>
              <a:spcBef>
                <a:spcPts val="640"/>
              </a:spcBef>
              <a:spcAft>
                <a:spcPts val="0"/>
              </a:spcAft>
              <a:buClr>
                <a:srgbClr val="BC3700"/>
              </a:buClr>
              <a:buSzPts val="3200"/>
              <a:buFont typeface="Arial"/>
              <a:buNone/>
            </a:pPr>
            <a:r>
              <a:rPr b="1" i="0" lang="en-US" sz="3200" u="none" cap="none" strike="noStrike">
                <a:solidFill>
                  <a:srgbClr val="BC3700"/>
                </a:solidFill>
                <a:latin typeface="Arial"/>
                <a:ea typeface="Arial"/>
                <a:cs typeface="Arial"/>
                <a:sym typeface="Arial"/>
              </a:rPr>
              <a:t>3</a:t>
            </a:r>
            <a:r>
              <a:rPr b="1" i="0" lang="en-US" sz="3200" u="none" cap="none" strike="noStrike">
                <a:solidFill>
                  <a:schemeClr val="dk1"/>
                </a:solidFill>
                <a:latin typeface="Times New Roman"/>
                <a:ea typeface="Times New Roman"/>
                <a:cs typeface="Times New Roman"/>
                <a:sym typeface="Times New Roman"/>
              </a:rPr>
              <a:t> lighting</a:t>
            </a:r>
            <a:endParaRPr/>
          </a:p>
        </p:txBody>
      </p:sp>
      <p:sp>
        <p:nvSpPr>
          <p:cNvPr id="80" name="Google Shape;80;p11"/>
          <p:cNvSpPr txBox="1"/>
          <p:nvPr/>
        </p:nvSpPr>
        <p:spPr>
          <a:xfrm>
            <a:off x="1020762" y="228600"/>
            <a:ext cx="755967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LAND IMPROVEMENTS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2"/>
          <p:cNvSpPr txBox="1"/>
          <p:nvPr>
            <p:ph idx="1" type="body"/>
          </p:nvPr>
        </p:nvSpPr>
        <p:spPr>
          <a:xfrm>
            <a:off x="95250" y="2085975"/>
            <a:ext cx="8159750" cy="4714875"/>
          </a:xfrm>
          <a:prstGeom prst="rect">
            <a:avLst/>
          </a:prstGeom>
          <a:noFill/>
          <a:ln>
            <a:noFill/>
          </a:ln>
        </p:spPr>
        <p:txBody>
          <a:bodyPr anchorCtr="0" anchor="t" bIns="47600" lIns="96800" spcFirstLastPara="1" rIns="96800" wrap="square" tIns="47600">
            <a:noAutofit/>
          </a:bodyPr>
          <a:lstStyle/>
          <a:p>
            <a:pPr indent="-361950" lvl="0" marL="361950" marR="0" rtl="0" algn="l">
              <a:lnSpc>
                <a:spcPct val="80000"/>
              </a:lnSpc>
              <a:spcBef>
                <a:spcPts val="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The cost</a:t>
            </a:r>
            <a:endParaRPr/>
          </a:p>
          <a:p>
            <a:pPr indent="-303212" lvl="1" marL="785812" marR="0" rtl="0" algn="l">
              <a:lnSpc>
                <a:spcPct val="80000"/>
              </a:lnSpc>
              <a:spcBef>
                <a:spcPts val="400"/>
              </a:spcBef>
              <a:spcAft>
                <a:spcPts val="0"/>
              </a:spcAft>
              <a:buClr>
                <a:srgbClr val="BC3700"/>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includes all necessary expenditures relating to the purchase or construction of a building:</a:t>
            </a:r>
            <a:endParaRPr/>
          </a:p>
          <a:p>
            <a:pPr indent="-303212" lvl="1" marL="785812" marR="0" rtl="0" algn="l">
              <a:lnSpc>
                <a:spcPct val="80000"/>
              </a:lnSpc>
              <a:spcBef>
                <a:spcPts val="400"/>
              </a:spcBef>
              <a:spcAft>
                <a:spcPts val="0"/>
              </a:spcAft>
              <a:buClr>
                <a:srgbClr val="BC3700"/>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costs include the purchase price, closing costs, and broker’s commission</a:t>
            </a:r>
            <a:endParaRPr/>
          </a:p>
          <a:p>
            <a:pPr indent="-361950" lvl="0" marL="361950" marR="0" rtl="0" algn="l">
              <a:lnSpc>
                <a:spcPct val="8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Costs to make the building ready for its intended use include</a:t>
            </a:r>
            <a:endParaRPr/>
          </a:p>
          <a:p>
            <a:pPr indent="-303212" lvl="1" marL="785812" marR="0" rtl="0" algn="l">
              <a:lnSpc>
                <a:spcPct val="80000"/>
              </a:lnSpc>
              <a:spcBef>
                <a:spcPts val="400"/>
              </a:spcBef>
              <a:spcAft>
                <a:spcPts val="0"/>
              </a:spcAft>
              <a:buClr>
                <a:srgbClr val="BC3700"/>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 expenditures for remodeling and replacing or</a:t>
            </a:r>
            <a:endParaRPr/>
          </a:p>
          <a:p>
            <a:pPr indent="-303212" lvl="1" marL="785812" marR="0" rtl="0" algn="l">
              <a:lnSpc>
                <a:spcPct val="80000"/>
              </a:lnSpc>
              <a:spcBef>
                <a:spcPts val="40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      repairing the roof, floors, wiring, and plumbing</a:t>
            </a:r>
            <a:endParaRPr/>
          </a:p>
          <a:p>
            <a:pPr indent="-361950" lvl="0" marL="361950" marR="0" rtl="0" algn="l">
              <a:lnSpc>
                <a:spcPct val="8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If a new building is </a:t>
            </a:r>
            <a:r>
              <a:rPr b="1" i="0" lang="en-US" sz="2400" u="none" cap="none" strike="noStrike">
                <a:solidFill>
                  <a:srgbClr val="BC3700"/>
                </a:solidFill>
                <a:latin typeface="Times New Roman"/>
                <a:ea typeface="Times New Roman"/>
                <a:cs typeface="Times New Roman"/>
                <a:sym typeface="Times New Roman"/>
              </a:rPr>
              <a:t>constructed, </a:t>
            </a:r>
            <a:r>
              <a:rPr b="1" i="0" lang="en-US" sz="2400" u="none" cap="none" strike="noStrike">
                <a:solidFill>
                  <a:schemeClr val="dk1"/>
                </a:solidFill>
                <a:latin typeface="Times New Roman"/>
                <a:ea typeface="Times New Roman"/>
                <a:cs typeface="Times New Roman"/>
                <a:sym typeface="Times New Roman"/>
              </a:rPr>
              <a:t>costs include</a:t>
            </a:r>
            <a:endParaRPr b="1" i="0" sz="2400" u="none" cap="none" strike="noStrike">
              <a:solidFill>
                <a:srgbClr val="BC3700"/>
              </a:solidFill>
              <a:latin typeface="Times New Roman"/>
              <a:ea typeface="Times New Roman"/>
              <a:cs typeface="Times New Roman"/>
              <a:sym typeface="Times New Roman"/>
            </a:endParaRPr>
          </a:p>
          <a:p>
            <a:pPr indent="-303212" lvl="1" marL="785812" marR="0" rtl="0" algn="l">
              <a:lnSpc>
                <a:spcPct val="80000"/>
              </a:lnSpc>
              <a:spcBef>
                <a:spcPts val="400"/>
              </a:spcBef>
              <a:spcAft>
                <a:spcPts val="0"/>
              </a:spcAft>
              <a:buClr>
                <a:srgbClr val="BC3700"/>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 contract price plus payments for architects’</a:t>
            </a:r>
            <a:endParaRPr/>
          </a:p>
          <a:p>
            <a:pPr indent="-303212" lvl="1" marL="785812" marR="0" rtl="0" algn="l">
              <a:lnSpc>
                <a:spcPct val="80000"/>
              </a:lnSpc>
              <a:spcBef>
                <a:spcPts val="40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      fees, building permits, interest payments during</a:t>
            </a:r>
            <a:endParaRPr/>
          </a:p>
          <a:p>
            <a:pPr indent="-303212" lvl="1" marL="785812" marR="0" rtl="0" algn="l">
              <a:lnSpc>
                <a:spcPct val="80000"/>
              </a:lnSpc>
              <a:spcBef>
                <a:spcPts val="40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      construction, and excavation costs</a:t>
            </a:r>
            <a:endParaRPr/>
          </a:p>
        </p:txBody>
      </p:sp>
      <p:pic>
        <p:nvPicPr>
          <p:cNvPr id="86" name="Google Shape;86;p12"/>
          <p:cNvPicPr preferRelativeResize="0"/>
          <p:nvPr/>
        </p:nvPicPr>
        <p:blipFill rotWithShape="1">
          <a:blip r:embed="rId3">
            <a:alphaModFix/>
          </a:blip>
          <a:srcRect b="0" l="0" r="0" t="0"/>
          <a:stretch/>
        </p:blipFill>
        <p:spPr>
          <a:xfrm>
            <a:off x="7924800" y="4267200"/>
            <a:ext cx="1473200" cy="2700337"/>
          </a:xfrm>
          <a:prstGeom prst="rect">
            <a:avLst/>
          </a:prstGeom>
          <a:noFill/>
          <a:ln>
            <a:noFill/>
          </a:ln>
        </p:spPr>
      </p:pic>
      <p:sp>
        <p:nvSpPr>
          <p:cNvPr id="87" name="Google Shape;87;p12"/>
          <p:cNvSpPr txBox="1"/>
          <p:nvPr/>
        </p:nvSpPr>
        <p:spPr>
          <a:xfrm>
            <a:off x="2286000" y="438150"/>
            <a:ext cx="5257800"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BUILDINGS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anim calcmode="lin" valueType="num">
                                      <p:cBhvr additive="base">
                                        <p:cTn dur="500"/>
                                        <p:tgtEl>
                                          <p:spTgt spid="8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anim calcmode="lin" valueType="num">
                                      <p:cBhvr additive="base">
                                        <p:cTn dur="500"/>
                                        <p:tgtEl>
                                          <p:spTgt spid="8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anim calcmode="lin" valueType="num">
                                      <p:cBhvr additive="base">
                                        <p:cTn dur="500"/>
                                        <p:tgtEl>
                                          <p:spTgt spid="8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anim calcmode="lin" valueType="num">
                                      <p:cBhvr additive="base">
                                        <p:cTn dur="500"/>
                                        <p:tgtEl>
                                          <p:spTgt spid="8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anim calcmode="lin" valueType="num">
                                      <p:cBhvr additive="base">
                                        <p:cTn dur="500"/>
                                        <p:tgtEl>
                                          <p:spTgt spid="85">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5" st="5"/>
                                            </p:txEl>
                                          </p:spTgt>
                                        </p:tgtEl>
                                        <p:attrNameLst>
                                          <p:attrName>style.visibility</p:attrName>
                                        </p:attrNameLst>
                                      </p:cBhvr>
                                      <p:to>
                                        <p:strVal val="visible"/>
                                      </p:to>
                                    </p:set>
                                    <p:anim calcmode="lin" valueType="num">
                                      <p:cBhvr additive="base">
                                        <p:cTn dur="500"/>
                                        <p:tgtEl>
                                          <p:spTgt spid="85">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6" st="6"/>
                                            </p:txEl>
                                          </p:spTgt>
                                        </p:tgtEl>
                                        <p:attrNameLst>
                                          <p:attrName>style.visibility</p:attrName>
                                        </p:attrNameLst>
                                      </p:cBhvr>
                                      <p:to>
                                        <p:strVal val="visible"/>
                                      </p:to>
                                    </p:set>
                                    <p:anim calcmode="lin" valueType="num">
                                      <p:cBhvr additive="base">
                                        <p:cTn dur="500"/>
                                        <p:tgtEl>
                                          <p:spTgt spid="85">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7" st="7"/>
                                            </p:txEl>
                                          </p:spTgt>
                                        </p:tgtEl>
                                        <p:attrNameLst>
                                          <p:attrName>style.visibility</p:attrName>
                                        </p:attrNameLst>
                                      </p:cBhvr>
                                      <p:to>
                                        <p:strVal val="visible"/>
                                      </p:to>
                                    </p:set>
                                    <p:anim calcmode="lin" valueType="num">
                                      <p:cBhvr additive="base">
                                        <p:cTn dur="500"/>
                                        <p:tgtEl>
                                          <p:spTgt spid="85">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8" st="8"/>
                                            </p:txEl>
                                          </p:spTgt>
                                        </p:tgtEl>
                                        <p:attrNameLst>
                                          <p:attrName>style.visibility</p:attrName>
                                        </p:attrNameLst>
                                      </p:cBhvr>
                                      <p:to>
                                        <p:strVal val="visible"/>
                                      </p:to>
                                    </p:set>
                                    <p:anim calcmode="lin" valueType="num">
                                      <p:cBhvr additive="base">
                                        <p:cTn dur="500"/>
                                        <p:tgtEl>
                                          <p:spTgt spid="85">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5">
                                            <p:txEl>
                                              <p:pRg end="9" st="9"/>
                                            </p:txEl>
                                          </p:spTgt>
                                        </p:tgtEl>
                                        <p:attrNameLst>
                                          <p:attrName>style.visibility</p:attrName>
                                        </p:attrNameLst>
                                      </p:cBhvr>
                                      <p:to>
                                        <p:strVal val="visible"/>
                                      </p:to>
                                    </p:set>
                                    <p:anim calcmode="lin" valueType="num">
                                      <p:cBhvr additive="base">
                                        <p:cTn dur="500"/>
                                        <p:tgtEl>
                                          <p:spTgt spid="85">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13"/>
          <p:cNvSpPr txBox="1"/>
          <p:nvPr>
            <p:ph idx="1" type="body"/>
          </p:nvPr>
        </p:nvSpPr>
        <p:spPr>
          <a:xfrm>
            <a:off x="685800" y="1722437"/>
            <a:ext cx="8267700" cy="3840162"/>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Cost of </a:t>
            </a:r>
            <a:r>
              <a:rPr b="1" i="0" lang="en-US" sz="2800" u="none" cap="none" strike="noStrike">
                <a:solidFill>
                  <a:srgbClr val="BC3700"/>
                </a:solidFill>
                <a:latin typeface="Times New Roman"/>
                <a:ea typeface="Times New Roman"/>
                <a:cs typeface="Times New Roman"/>
                <a:sym typeface="Times New Roman"/>
              </a:rPr>
              <a:t>equipment</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consists of the cash purchase price and certain related costs</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costs include sales taxes, freight charges, and insurance paid by the purchaser during transit</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includes all expenditures required in assembling, installing, and testing the unit</a:t>
            </a:r>
            <a:endParaRPr/>
          </a:p>
          <a:p>
            <a:pPr indent="-361950" lvl="0" marL="361950"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Recurring costs such as licenses and insurance are expensed as incurred.</a:t>
            </a:r>
            <a:endParaRPr/>
          </a:p>
        </p:txBody>
      </p:sp>
      <p:pic>
        <p:nvPicPr>
          <p:cNvPr id="93" name="Google Shape;93;p13"/>
          <p:cNvPicPr preferRelativeResize="0"/>
          <p:nvPr/>
        </p:nvPicPr>
        <p:blipFill rotWithShape="1">
          <a:blip r:embed="rId3">
            <a:alphaModFix/>
          </a:blip>
          <a:srcRect b="0" l="0" r="0" t="0"/>
          <a:stretch/>
        </p:blipFill>
        <p:spPr>
          <a:xfrm>
            <a:off x="8077200" y="6019800"/>
            <a:ext cx="457200" cy="801687"/>
          </a:xfrm>
          <a:prstGeom prst="rect">
            <a:avLst/>
          </a:prstGeom>
          <a:noFill/>
          <a:ln>
            <a:noFill/>
          </a:ln>
        </p:spPr>
      </p:pic>
      <p:pic>
        <p:nvPicPr>
          <p:cNvPr id="94" name="Google Shape;94;p13"/>
          <p:cNvPicPr preferRelativeResize="0"/>
          <p:nvPr/>
        </p:nvPicPr>
        <p:blipFill rotWithShape="1">
          <a:blip r:embed="rId4">
            <a:alphaModFix/>
          </a:blip>
          <a:srcRect b="0" l="0" r="0" t="0"/>
          <a:stretch/>
        </p:blipFill>
        <p:spPr>
          <a:xfrm>
            <a:off x="2667000" y="6019800"/>
            <a:ext cx="1981200" cy="788987"/>
          </a:xfrm>
          <a:prstGeom prst="rect">
            <a:avLst/>
          </a:prstGeom>
          <a:noFill/>
          <a:ln>
            <a:noFill/>
          </a:ln>
        </p:spPr>
      </p:pic>
      <p:pic>
        <p:nvPicPr>
          <p:cNvPr id="95" name="Google Shape;95;p13"/>
          <p:cNvPicPr preferRelativeResize="0"/>
          <p:nvPr/>
        </p:nvPicPr>
        <p:blipFill rotWithShape="1">
          <a:blip r:embed="rId5">
            <a:alphaModFix/>
          </a:blip>
          <a:srcRect b="0" l="0" r="0" t="0"/>
          <a:stretch/>
        </p:blipFill>
        <p:spPr>
          <a:xfrm>
            <a:off x="1143000" y="6096000"/>
            <a:ext cx="762000" cy="674687"/>
          </a:xfrm>
          <a:prstGeom prst="rect">
            <a:avLst/>
          </a:prstGeom>
          <a:noFill/>
          <a:ln>
            <a:noFill/>
          </a:ln>
        </p:spPr>
      </p:pic>
      <p:pic>
        <p:nvPicPr>
          <p:cNvPr id="96" name="Google Shape;96;p13"/>
          <p:cNvPicPr preferRelativeResize="0"/>
          <p:nvPr/>
        </p:nvPicPr>
        <p:blipFill rotWithShape="1">
          <a:blip r:embed="rId6">
            <a:alphaModFix/>
          </a:blip>
          <a:srcRect b="0" l="0" r="0" t="0"/>
          <a:stretch/>
        </p:blipFill>
        <p:spPr>
          <a:xfrm>
            <a:off x="6019800" y="6096000"/>
            <a:ext cx="914400" cy="838200"/>
          </a:xfrm>
          <a:prstGeom prst="rect">
            <a:avLst/>
          </a:prstGeom>
          <a:noFill/>
          <a:ln>
            <a:noFill/>
          </a:ln>
        </p:spPr>
      </p:pic>
      <p:sp>
        <p:nvSpPr>
          <p:cNvPr id="97" name="Google Shape;97;p13"/>
          <p:cNvSpPr txBox="1"/>
          <p:nvPr/>
        </p:nvSpPr>
        <p:spPr>
          <a:xfrm>
            <a:off x="1828800" y="438150"/>
            <a:ext cx="5791200"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EQUIPMENT</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anim calcmode="lin" valueType="num">
                                      <p:cBhvr additive="base">
                                        <p:cTn dur="500"/>
                                        <p:tgtEl>
                                          <p:spTgt spid="9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anim calcmode="lin" valueType="num">
                                      <p:cBhvr additive="base">
                                        <p:cTn dur="500"/>
                                        <p:tgtEl>
                                          <p:spTgt spid="9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anim calcmode="lin" valueType="num">
                                      <p:cBhvr additive="base">
                                        <p:cTn dur="500"/>
                                        <p:tgtEl>
                                          <p:spTgt spid="9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anim calcmode="lin" valueType="num">
                                      <p:cBhvr additive="base">
                                        <p:cTn dur="500"/>
                                        <p:tgtEl>
                                          <p:spTgt spid="92">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anim calcmode="lin" valueType="num">
                                      <p:cBhvr additive="base">
                                        <p:cTn dur="500"/>
                                        <p:tgtEl>
                                          <p:spTgt spid="92">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14"/>
          <p:cNvSpPr/>
          <p:nvPr/>
        </p:nvSpPr>
        <p:spPr>
          <a:xfrm>
            <a:off x="1466850" y="5429250"/>
            <a:ext cx="6991350" cy="1504950"/>
          </a:xfrm>
          <a:prstGeom prst="rect">
            <a:avLst/>
          </a:prstGeom>
          <a:solidFill>
            <a:srgbClr val="F6BF6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3" name="Google Shape;103;p14"/>
          <p:cNvGrpSpPr/>
          <p:nvPr/>
        </p:nvGrpSpPr>
        <p:grpSpPr>
          <a:xfrm>
            <a:off x="914400" y="1752600"/>
            <a:ext cx="7848600" cy="2667000"/>
            <a:chOff x="576" y="1104"/>
            <a:chExt cx="4944" cy="1680"/>
          </a:xfrm>
        </p:grpSpPr>
        <p:sp>
          <p:nvSpPr>
            <p:cNvPr id="104" name="Google Shape;104;p14"/>
            <p:cNvSpPr/>
            <p:nvPr/>
          </p:nvSpPr>
          <p:spPr>
            <a:xfrm>
              <a:off x="576" y="1104"/>
              <a:ext cx="4944" cy="1680"/>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05" name="Google Shape;105;p14"/>
            <p:cNvPicPr preferRelativeResize="0"/>
            <p:nvPr/>
          </p:nvPicPr>
          <p:blipFill rotWithShape="1">
            <a:blip r:embed="rId3">
              <a:alphaModFix/>
            </a:blip>
            <a:srcRect b="85998" l="728" r="79010" t="0"/>
            <a:stretch/>
          </p:blipFill>
          <p:spPr>
            <a:xfrm>
              <a:off x="1152" y="1152"/>
              <a:ext cx="3744" cy="1572"/>
            </a:xfrm>
            <a:prstGeom prst="rect">
              <a:avLst/>
            </a:prstGeom>
            <a:noFill/>
            <a:ln>
              <a:noFill/>
            </a:ln>
          </p:spPr>
        </p:pic>
      </p:grpSp>
      <p:sp>
        <p:nvSpPr>
          <p:cNvPr id="106" name="Google Shape;106;p14"/>
          <p:cNvSpPr txBox="1"/>
          <p:nvPr/>
        </p:nvSpPr>
        <p:spPr>
          <a:xfrm>
            <a:off x="304800" y="228600"/>
            <a:ext cx="8610600"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ENTRY TO RECORD PURCHASE OF MACHINERY</a:t>
            </a:r>
            <a:endParaRPr/>
          </a:p>
        </p:txBody>
      </p:sp>
      <p:sp>
        <p:nvSpPr>
          <p:cNvPr id="107" name="Google Shape;107;p14"/>
          <p:cNvSpPr txBox="1"/>
          <p:nvPr/>
        </p:nvSpPr>
        <p:spPr>
          <a:xfrm>
            <a:off x="928687" y="4567237"/>
            <a:ext cx="7858125" cy="698500"/>
          </a:xfrm>
          <a:prstGeom prst="rect">
            <a:avLst/>
          </a:prstGeom>
          <a:solidFill>
            <a:srgbClr val="FCD1C1"/>
          </a:solidFill>
          <a:ln>
            <a:noFill/>
          </a:ln>
          <a:effectLst>
            <a:outerShdw blurRad="63500" dir="2700000" dist="17960">
              <a:schemeClr val="dk1"/>
            </a:outerShdw>
          </a:effectLst>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The summary entry to record the cost of the factory machinery and related expenditures is as follows:</a:t>
            </a:r>
            <a:endParaRPr/>
          </a:p>
        </p:txBody>
      </p:sp>
      <p:pic>
        <p:nvPicPr>
          <p:cNvPr id="108" name="Google Shape;108;p14"/>
          <p:cNvPicPr preferRelativeResize="0"/>
          <p:nvPr/>
        </p:nvPicPr>
        <p:blipFill rotWithShape="1">
          <a:blip r:embed="rId4">
            <a:alphaModFix/>
          </a:blip>
          <a:srcRect b="0" l="0" r="0" t="0"/>
          <a:stretch/>
        </p:blipFill>
        <p:spPr>
          <a:xfrm>
            <a:off x="1447800" y="5410200"/>
            <a:ext cx="7010400" cy="1557337"/>
          </a:xfrm>
          <a:prstGeom prst="rect">
            <a:avLst/>
          </a:prstGeom>
          <a:noFill/>
          <a:ln>
            <a:noFill/>
          </a:ln>
        </p:spPr>
      </p:pic>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15"/>
          <p:cNvSpPr txBox="1"/>
          <p:nvPr/>
        </p:nvSpPr>
        <p:spPr>
          <a:xfrm>
            <a:off x="1163637" y="141287"/>
            <a:ext cx="727392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COMPUTATION OF COST OF DELIVERY TRUCK</a:t>
            </a:r>
            <a:endParaRPr/>
          </a:p>
        </p:txBody>
      </p:sp>
      <p:sp>
        <p:nvSpPr>
          <p:cNvPr id="114" name="Google Shape;114;p15"/>
          <p:cNvSpPr txBox="1"/>
          <p:nvPr>
            <p:ph idx="1" type="body"/>
          </p:nvPr>
        </p:nvSpPr>
        <p:spPr>
          <a:xfrm>
            <a:off x="923925" y="1833562"/>
            <a:ext cx="7839075" cy="2205037"/>
          </a:xfrm>
          <a:prstGeom prst="rect">
            <a:avLst/>
          </a:prstGeom>
          <a:solidFill>
            <a:srgbClr val="FCD1C1"/>
          </a:solidFill>
          <a:ln>
            <a:noFill/>
          </a:ln>
          <a:effectLst>
            <a:outerShdw blurRad="63500" dir="2700000" dist="35921">
              <a:srgbClr val="808080"/>
            </a:outerShdw>
          </a:effectLst>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The cost of equipment consists of the </a:t>
            </a:r>
            <a:r>
              <a:rPr b="1" i="0" lang="en-US" sz="2000" u="none" cap="none" strike="noStrike">
                <a:solidFill>
                  <a:srgbClr val="BC3700"/>
                </a:solidFill>
                <a:latin typeface="Arial"/>
                <a:ea typeface="Arial"/>
                <a:cs typeface="Arial"/>
                <a:sym typeface="Arial"/>
              </a:rPr>
              <a:t>cash purchase price</a:t>
            </a:r>
            <a:r>
              <a:rPr b="1" i="0" lang="en-US" sz="2000" u="none" cap="none" strike="noStrike">
                <a:solidFill>
                  <a:schemeClr val="dk1"/>
                </a:solidFill>
                <a:latin typeface="Arial"/>
                <a:ea typeface="Arial"/>
                <a:cs typeface="Arial"/>
                <a:sym typeface="Arial"/>
              </a:rPr>
              <a:t>, </a:t>
            </a:r>
            <a:r>
              <a:rPr b="1" i="0" lang="en-US" sz="2000" u="none" cap="none" strike="noStrike">
                <a:solidFill>
                  <a:srgbClr val="BC3700"/>
                </a:solidFill>
                <a:latin typeface="Arial"/>
                <a:ea typeface="Arial"/>
                <a:cs typeface="Arial"/>
                <a:sym typeface="Arial"/>
              </a:rPr>
              <a:t>sales taxes</a:t>
            </a:r>
            <a:r>
              <a:rPr b="1" i="0" lang="en-US" sz="2000" u="none" cap="none" strike="noStrike">
                <a:solidFill>
                  <a:schemeClr val="dk1"/>
                </a:solidFill>
                <a:latin typeface="Arial"/>
                <a:ea typeface="Arial"/>
                <a:cs typeface="Arial"/>
                <a:sym typeface="Arial"/>
              </a:rPr>
              <a:t>, </a:t>
            </a:r>
            <a:r>
              <a:rPr b="1" i="0" lang="en-US" sz="2000" u="none" cap="none" strike="noStrike">
                <a:solidFill>
                  <a:srgbClr val="BC3700"/>
                </a:solidFill>
                <a:latin typeface="Arial"/>
                <a:ea typeface="Arial"/>
                <a:cs typeface="Arial"/>
                <a:sym typeface="Arial"/>
              </a:rPr>
              <a:t>freight charges</a:t>
            </a:r>
            <a:r>
              <a:rPr b="1" i="0" lang="en-US" sz="2000" u="none" cap="none" strike="noStrike">
                <a:solidFill>
                  <a:schemeClr val="dk1"/>
                </a:solidFill>
                <a:latin typeface="Arial"/>
                <a:ea typeface="Arial"/>
                <a:cs typeface="Arial"/>
                <a:sym typeface="Arial"/>
              </a:rPr>
              <a:t>, and </a:t>
            </a:r>
            <a:r>
              <a:rPr b="1" i="0" lang="en-US" sz="2000" u="none" cap="none" strike="noStrike">
                <a:solidFill>
                  <a:srgbClr val="BC3700"/>
                </a:solidFill>
                <a:latin typeface="Arial"/>
                <a:ea typeface="Arial"/>
                <a:cs typeface="Arial"/>
                <a:sym typeface="Arial"/>
              </a:rPr>
              <a:t>insurance during transit paid by the purchaser</a:t>
            </a:r>
            <a:r>
              <a:rPr b="1" i="0" lang="en-US" sz="2000" u="none" cap="none" strike="noStrike">
                <a:solidFill>
                  <a:schemeClr val="dk1"/>
                </a:solidFill>
                <a:latin typeface="Arial"/>
                <a:ea typeface="Arial"/>
                <a:cs typeface="Arial"/>
                <a:sym typeface="Arial"/>
              </a:rPr>
              <a:t>.  It also includes expenditures required in </a:t>
            </a:r>
            <a:r>
              <a:rPr b="1" i="0" lang="en-US" sz="2000" u="none" cap="none" strike="noStrike">
                <a:solidFill>
                  <a:srgbClr val="BC3700"/>
                </a:solidFill>
                <a:latin typeface="Arial"/>
                <a:ea typeface="Arial"/>
                <a:cs typeface="Arial"/>
                <a:sym typeface="Arial"/>
              </a:rPr>
              <a:t>assembling</a:t>
            </a:r>
            <a:r>
              <a:rPr b="1" i="0" lang="en-US" sz="2000" u="none" cap="none" strike="noStrike">
                <a:solidFill>
                  <a:schemeClr val="dk1"/>
                </a:solidFill>
                <a:latin typeface="Arial"/>
                <a:ea typeface="Arial"/>
                <a:cs typeface="Arial"/>
                <a:sym typeface="Arial"/>
              </a:rPr>
              <a:t>, </a:t>
            </a:r>
            <a:r>
              <a:rPr b="1" i="0" lang="en-US" sz="2000" u="none" cap="none" strike="noStrike">
                <a:solidFill>
                  <a:srgbClr val="BC3700"/>
                </a:solidFill>
                <a:latin typeface="Arial"/>
                <a:ea typeface="Arial"/>
                <a:cs typeface="Arial"/>
                <a:sym typeface="Arial"/>
              </a:rPr>
              <a:t>installing</a:t>
            </a:r>
            <a:r>
              <a:rPr b="1" i="0" lang="en-US" sz="2000" u="none" cap="none" strike="noStrike">
                <a:solidFill>
                  <a:schemeClr val="dk1"/>
                </a:solidFill>
                <a:latin typeface="Arial"/>
                <a:ea typeface="Arial"/>
                <a:cs typeface="Arial"/>
                <a:sym typeface="Arial"/>
              </a:rPr>
              <a:t>, and </a:t>
            </a:r>
            <a:r>
              <a:rPr b="1" i="0" lang="en-US" sz="2000" u="none" cap="none" strike="noStrike">
                <a:solidFill>
                  <a:srgbClr val="BC3700"/>
                </a:solidFill>
                <a:latin typeface="Arial"/>
                <a:ea typeface="Arial"/>
                <a:cs typeface="Arial"/>
                <a:sym typeface="Arial"/>
              </a:rPr>
              <a:t>testing</a:t>
            </a:r>
            <a:r>
              <a:rPr b="1" i="0" lang="en-US" sz="2000" u="none" cap="none" strike="noStrike">
                <a:solidFill>
                  <a:schemeClr val="dk1"/>
                </a:solidFill>
                <a:latin typeface="Arial"/>
                <a:ea typeface="Arial"/>
                <a:cs typeface="Arial"/>
                <a:sym typeface="Arial"/>
              </a:rPr>
              <a:t> the unit.  However, motor vehicle licenses and accident insurance on company cars and trucks are expensed as incurred, since they represent annual recurring events that do not benefit future periods.</a:t>
            </a:r>
            <a:endParaRPr/>
          </a:p>
        </p:txBody>
      </p:sp>
      <p:grpSp>
        <p:nvGrpSpPr>
          <p:cNvPr id="115" name="Google Shape;115;p15"/>
          <p:cNvGrpSpPr/>
          <p:nvPr/>
        </p:nvGrpSpPr>
        <p:grpSpPr>
          <a:xfrm>
            <a:off x="914400" y="4230687"/>
            <a:ext cx="7848600" cy="3084512"/>
            <a:chOff x="576" y="2628"/>
            <a:chExt cx="4944" cy="1943"/>
          </a:xfrm>
        </p:grpSpPr>
        <p:sp>
          <p:nvSpPr>
            <p:cNvPr id="116" name="Google Shape;116;p15"/>
            <p:cNvSpPr/>
            <p:nvPr/>
          </p:nvSpPr>
          <p:spPr>
            <a:xfrm>
              <a:off x="576" y="2628"/>
              <a:ext cx="4944" cy="1896"/>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17" name="Google Shape;117;p15"/>
            <p:cNvPicPr preferRelativeResize="0"/>
            <p:nvPr/>
          </p:nvPicPr>
          <p:blipFill rotWithShape="1">
            <a:blip r:embed="rId3">
              <a:alphaModFix/>
            </a:blip>
            <a:srcRect b="21127" l="0" r="60607" t="0"/>
            <a:stretch/>
          </p:blipFill>
          <p:spPr>
            <a:xfrm>
              <a:off x="720" y="2652"/>
              <a:ext cx="4620" cy="1919"/>
            </a:xfrm>
            <a:prstGeom prst="rect">
              <a:avLst/>
            </a:prstGeom>
            <a:noFill/>
            <a:ln>
              <a:noFill/>
            </a:ln>
          </p:spPr>
        </p:pic>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 calcmode="lin" valueType="num">
                                      <p:cBhvr additive="base">
                                        <p:cTn dur="500"/>
                                        <p:tgtEl>
                                          <p:spTgt spid="11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16"/>
          <p:cNvSpPr/>
          <p:nvPr/>
        </p:nvSpPr>
        <p:spPr>
          <a:xfrm>
            <a:off x="1466850" y="4933950"/>
            <a:ext cx="6934200" cy="2286000"/>
          </a:xfrm>
          <a:prstGeom prst="rect">
            <a:avLst/>
          </a:prstGeom>
          <a:solidFill>
            <a:srgbClr val="F6BF6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23" name="Google Shape;123;p16"/>
          <p:cNvGrpSpPr/>
          <p:nvPr/>
        </p:nvGrpSpPr>
        <p:grpSpPr>
          <a:xfrm>
            <a:off x="914400" y="1752600"/>
            <a:ext cx="7848600" cy="2305050"/>
            <a:chOff x="576" y="1104"/>
            <a:chExt cx="4944" cy="1452"/>
          </a:xfrm>
        </p:grpSpPr>
        <p:sp>
          <p:nvSpPr>
            <p:cNvPr id="124" name="Google Shape;124;p16"/>
            <p:cNvSpPr/>
            <p:nvPr/>
          </p:nvSpPr>
          <p:spPr>
            <a:xfrm>
              <a:off x="576" y="1104"/>
              <a:ext cx="4944" cy="1440"/>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25" name="Google Shape;125;p16"/>
            <p:cNvPicPr preferRelativeResize="0"/>
            <p:nvPr/>
          </p:nvPicPr>
          <p:blipFill rotWithShape="1">
            <a:blip r:embed="rId3">
              <a:alphaModFix/>
            </a:blip>
            <a:srcRect b="21080" l="0" r="60615" t="0"/>
            <a:stretch/>
          </p:blipFill>
          <p:spPr>
            <a:xfrm>
              <a:off x="1329" y="1152"/>
              <a:ext cx="3384" cy="1404"/>
            </a:xfrm>
            <a:prstGeom prst="rect">
              <a:avLst/>
            </a:prstGeom>
            <a:noFill/>
            <a:ln>
              <a:noFill/>
            </a:ln>
          </p:spPr>
        </p:pic>
      </p:grpSp>
      <p:sp>
        <p:nvSpPr>
          <p:cNvPr id="126" name="Google Shape;126;p16"/>
          <p:cNvSpPr txBox="1"/>
          <p:nvPr/>
        </p:nvSpPr>
        <p:spPr>
          <a:xfrm>
            <a:off x="1182687" y="209550"/>
            <a:ext cx="723582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ENTRY TO RECORD PURCHASE OF TRUCK</a:t>
            </a:r>
            <a:endParaRPr/>
          </a:p>
        </p:txBody>
      </p:sp>
      <p:sp>
        <p:nvSpPr>
          <p:cNvPr id="127" name="Google Shape;127;p16"/>
          <p:cNvSpPr txBox="1"/>
          <p:nvPr/>
        </p:nvSpPr>
        <p:spPr>
          <a:xfrm>
            <a:off x="928687" y="4129087"/>
            <a:ext cx="7858125" cy="698500"/>
          </a:xfrm>
          <a:prstGeom prst="rect">
            <a:avLst/>
          </a:prstGeom>
          <a:solidFill>
            <a:srgbClr val="FCD1C1"/>
          </a:solidFill>
          <a:ln>
            <a:noFill/>
          </a:ln>
          <a:effectLst>
            <a:outerShdw blurRad="63500" dir="2700000" dist="17960">
              <a:schemeClr val="dk1"/>
            </a:outerShdw>
          </a:effectLst>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The entry to record the cost of the delivery truck and related expenditures is as follows:</a:t>
            </a:r>
            <a:endParaRPr/>
          </a:p>
        </p:txBody>
      </p:sp>
      <p:grpSp>
        <p:nvGrpSpPr>
          <p:cNvPr id="128" name="Google Shape;128;p16"/>
          <p:cNvGrpSpPr/>
          <p:nvPr/>
        </p:nvGrpSpPr>
        <p:grpSpPr>
          <a:xfrm>
            <a:off x="1322387" y="4953000"/>
            <a:ext cx="8278812" cy="3203575"/>
            <a:chOff x="833" y="3120"/>
            <a:chExt cx="5215" cy="2018"/>
          </a:xfrm>
        </p:grpSpPr>
        <p:pic>
          <p:nvPicPr>
            <p:cNvPr id="129" name="Google Shape;129;p16"/>
            <p:cNvPicPr preferRelativeResize="0"/>
            <p:nvPr/>
          </p:nvPicPr>
          <p:blipFill rotWithShape="1">
            <a:blip r:embed="rId4">
              <a:alphaModFix/>
            </a:blip>
            <a:srcRect b="9736" l="0" r="42990" t="0"/>
            <a:stretch/>
          </p:blipFill>
          <p:spPr>
            <a:xfrm>
              <a:off x="833" y="3120"/>
              <a:ext cx="5215" cy="2018"/>
            </a:xfrm>
            <a:prstGeom prst="rect">
              <a:avLst/>
            </a:prstGeom>
            <a:noFill/>
            <a:ln>
              <a:noFill/>
            </a:ln>
          </p:spPr>
        </p:pic>
        <p:sp>
          <p:nvSpPr>
            <p:cNvPr id="130" name="Google Shape;130;p16"/>
            <p:cNvSpPr txBox="1"/>
            <p:nvPr/>
          </p:nvSpPr>
          <p:spPr>
            <a:xfrm>
              <a:off x="4069" y="3350"/>
              <a:ext cx="507" cy="520"/>
            </a:xfrm>
            <a:prstGeom prst="rect">
              <a:avLst/>
            </a:prstGeom>
            <a:noFill/>
            <a:ln>
              <a:noFill/>
            </a:ln>
          </p:spPr>
          <p:txBody>
            <a:bodyPr anchorCtr="0" anchor="t" bIns="45700" lIns="91400" spcFirstLastPara="1" rIns="91400" wrap="square" tIns="45700">
              <a:spAutoFit/>
            </a:bodyPr>
            <a:lstStyle/>
            <a:p>
              <a:pPr indent="0" lvl="0" marL="0" marR="0" rtl="0" algn="r">
                <a:lnSpc>
                  <a:spcPct val="100000"/>
                </a:lnSpc>
                <a:spcBef>
                  <a:spcPts val="0"/>
                </a:spcBef>
                <a:spcAft>
                  <a:spcPts val="0"/>
                </a:spcAft>
                <a:buClr>
                  <a:srgbClr val="C7150A"/>
                </a:buClr>
                <a:buSzPts val="1600"/>
                <a:buFont typeface="Arial"/>
                <a:buNone/>
              </a:pPr>
              <a:r>
                <a:rPr b="1" i="0" lang="en-US" sz="1600" u="none">
                  <a:solidFill>
                    <a:srgbClr val="C7150A"/>
                  </a:solidFill>
                  <a:latin typeface="Arial"/>
                  <a:ea typeface="Arial"/>
                  <a:cs typeface="Arial"/>
                  <a:sym typeface="Arial"/>
                </a:rPr>
                <a:t>23,820</a:t>
              </a:r>
              <a:endParaRPr/>
            </a:p>
            <a:p>
              <a:pPr indent="0" lvl="0" marL="0" marR="0" rtl="0" algn="r">
                <a:lnSpc>
                  <a:spcPct val="100000"/>
                </a:lnSpc>
                <a:spcBef>
                  <a:spcPts val="0"/>
                </a:spcBef>
                <a:spcAft>
                  <a:spcPts val="0"/>
                </a:spcAft>
                <a:buClr>
                  <a:srgbClr val="C7150A"/>
                </a:buClr>
                <a:buSzPts val="1600"/>
                <a:buFont typeface="Arial"/>
                <a:buNone/>
              </a:pPr>
              <a:r>
                <a:rPr b="1" i="0" lang="en-US" sz="1600" u="none">
                  <a:solidFill>
                    <a:srgbClr val="C7150A"/>
                  </a:solidFill>
                  <a:latin typeface="Arial"/>
                  <a:ea typeface="Arial"/>
                  <a:cs typeface="Arial"/>
                  <a:sym typeface="Arial"/>
                </a:rPr>
                <a:t>80</a:t>
              </a:r>
              <a:endParaRPr/>
            </a:p>
            <a:p>
              <a:pPr indent="0" lvl="0" marL="0" marR="0" rtl="0" algn="r">
                <a:lnSpc>
                  <a:spcPct val="100000"/>
                </a:lnSpc>
                <a:spcBef>
                  <a:spcPts val="0"/>
                </a:spcBef>
                <a:spcAft>
                  <a:spcPts val="0"/>
                </a:spcAft>
                <a:buClr>
                  <a:srgbClr val="C7150A"/>
                </a:buClr>
                <a:buSzPts val="1600"/>
                <a:buFont typeface="Arial"/>
                <a:buNone/>
              </a:pPr>
              <a:r>
                <a:rPr b="1" i="0" lang="en-US" sz="1600" u="none">
                  <a:solidFill>
                    <a:srgbClr val="C7150A"/>
                  </a:solidFill>
                  <a:latin typeface="Arial"/>
                  <a:ea typeface="Arial"/>
                  <a:cs typeface="Arial"/>
                  <a:sym typeface="Arial"/>
                </a:rPr>
                <a:t>1,600</a:t>
              </a:r>
              <a:endParaRPr/>
            </a:p>
          </p:txBody>
        </p:sp>
        <p:sp>
          <p:nvSpPr>
            <p:cNvPr id="131" name="Google Shape;131;p16"/>
            <p:cNvSpPr txBox="1"/>
            <p:nvPr/>
          </p:nvSpPr>
          <p:spPr>
            <a:xfrm>
              <a:off x="4704" y="3840"/>
              <a:ext cx="507" cy="212"/>
            </a:xfrm>
            <a:prstGeom prst="rect">
              <a:avLst/>
            </a:prstGeom>
            <a:noFill/>
            <a:ln>
              <a:noFill/>
            </a:ln>
          </p:spPr>
          <p:txBody>
            <a:bodyPr anchorCtr="0" anchor="t" bIns="45700" lIns="91400" spcFirstLastPara="1" rIns="91400" wrap="square" tIns="45700">
              <a:spAutoFit/>
            </a:bodyPr>
            <a:lstStyle/>
            <a:p>
              <a:pPr indent="0" lvl="0" marL="0" marR="0" rtl="0" algn="ctr">
                <a:lnSpc>
                  <a:spcPct val="100000"/>
                </a:lnSpc>
                <a:spcBef>
                  <a:spcPts val="0"/>
                </a:spcBef>
                <a:spcAft>
                  <a:spcPts val="0"/>
                </a:spcAft>
                <a:buClr>
                  <a:srgbClr val="063DE8"/>
                </a:buClr>
                <a:buSzPts val="1600"/>
                <a:buFont typeface="Arial"/>
                <a:buNone/>
              </a:pPr>
              <a:r>
                <a:rPr b="1" i="0" lang="en-US" sz="1600" u="none">
                  <a:solidFill>
                    <a:srgbClr val="063DE8"/>
                  </a:solidFill>
                  <a:latin typeface="Arial"/>
                  <a:ea typeface="Arial"/>
                  <a:cs typeface="Arial"/>
                  <a:sym typeface="Arial"/>
                </a:rPr>
                <a:t>25,500</a:t>
              </a:r>
              <a:endParaRPr/>
            </a:p>
          </p:txBody>
        </p:sp>
      </p:grpSp>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17"/>
          <p:cNvSpPr txBox="1"/>
          <p:nvPr>
            <p:ph idx="1" type="body"/>
          </p:nvPr>
        </p:nvSpPr>
        <p:spPr>
          <a:xfrm>
            <a:off x="690562" y="1717675"/>
            <a:ext cx="8478837" cy="5561012"/>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2900"/>
              <a:buFont typeface="Times New Roman"/>
              <a:buChar char="•"/>
            </a:pPr>
            <a:r>
              <a:rPr b="1" i="0" lang="en-US" sz="2900" u="none" cap="none" strike="noStrike">
                <a:solidFill>
                  <a:srgbClr val="BC3700"/>
                </a:solidFill>
                <a:latin typeface="Times New Roman"/>
                <a:ea typeface="Times New Roman"/>
                <a:cs typeface="Times New Roman"/>
                <a:sym typeface="Times New Roman"/>
              </a:rPr>
              <a:t>Depreciation</a:t>
            </a:r>
            <a:r>
              <a:rPr b="1" i="0" lang="en-US" sz="2900" u="none" cap="none" strike="noStrike">
                <a:solidFill>
                  <a:schemeClr val="dk1"/>
                </a:solidFill>
                <a:latin typeface="Times New Roman"/>
                <a:ea typeface="Times New Roman"/>
                <a:cs typeface="Times New Roman"/>
                <a:sym typeface="Times New Roman"/>
              </a:rPr>
              <a:t> </a:t>
            </a:r>
            <a:endParaRPr/>
          </a:p>
          <a:p>
            <a:pPr indent="-303212" lvl="1" marL="785812" marR="0" rtl="0" algn="l">
              <a:lnSpc>
                <a:spcPct val="9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allocation of the cost of a plant asset to expense over its useful (service) life in a rational and systematic manner.</a:t>
            </a:r>
            <a:endParaRPr/>
          </a:p>
          <a:p>
            <a:pPr indent="-361950" lvl="0" marL="361950"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Cost allocation </a:t>
            </a:r>
            <a:endParaRPr/>
          </a:p>
          <a:p>
            <a:pPr indent="-303212" lvl="1" marL="785812" marR="0" rtl="0" algn="l">
              <a:lnSpc>
                <a:spcPct val="9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provides for the proper </a:t>
            </a:r>
            <a:r>
              <a:rPr b="1" i="0" lang="en-US" sz="2400" u="none" cap="none" strike="noStrike">
                <a:solidFill>
                  <a:srgbClr val="BC3700"/>
                </a:solidFill>
                <a:latin typeface="Times New Roman"/>
                <a:ea typeface="Times New Roman"/>
                <a:cs typeface="Times New Roman"/>
                <a:sym typeface="Times New Roman"/>
              </a:rPr>
              <a:t>matching</a:t>
            </a:r>
            <a:r>
              <a:rPr b="1" i="0" lang="en-US" sz="2400" u="none" cap="none" strike="noStrike">
                <a:solidFill>
                  <a:schemeClr val="dk1"/>
                </a:solidFill>
                <a:latin typeface="Times New Roman"/>
                <a:ea typeface="Times New Roman"/>
                <a:cs typeface="Times New Roman"/>
                <a:sym typeface="Times New Roman"/>
              </a:rPr>
              <a:t> of expenses with revenues in accordance with the </a:t>
            </a:r>
            <a:r>
              <a:rPr b="1" i="0" lang="en-US" sz="2400" u="none" cap="none" strike="noStrike">
                <a:solidFill>
                  <a:srgbClr val="BC3700"/>
                </a:solidFill>
                <a:latin typeface="Times New Roman"/>
                <a:ea typeface="Times New Roman"/>
                <a:cs typeface="Times New Roman"/>
                <a:sym typeface="Times New Roman"/>
              </a:rPr>
              <a:t>matching principle</a:t>
            </a:r>
            <a:r>
              <a:rPr b="1" i="0" lang="en-US" sz="2400" u="none" cap="none" strike="noStrike">
                <a:solidFill>
                  <a:schemeClr val="dk1"/>
                </a:solidFill>
                <a:latin typeface="Times New Roman"/>
                <a:ea typeface="Times New Roman"/>
                <a:cs typeface="Times New Roman"/>
                <a:sym typeface="Times New Roman"/>
              </a:rPr>
              <a:t>.</a:t>
            </a:r>
            <a:endParaRPr/>
          </a:p>
          <a:p>
            <a:pPr indent="-361950" lvl="0" marL="361950"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Usefulness may decline because of wear and tear or obsolescence.</a:t>
            </a:r>
            <a:endParaRPr/>
          </a:p>
          <a:p>
            <a:pPr indent="-361950" lvl="0" marL="361950"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Depreciation does not result in an accumulation of cash for the replacement of the asset.</a:t>
            </a:r>
            <a:endParaRPr/>
          </a:p>
          <a:p>
            <a:pPr indent="-361950" lvl="0" marL="361950"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Land </a:t>
            </a:r>
            <a:endParaRPr/>
          </a:p>
          <a:p>
            <a:pPr indent="-303212" lvl="1" marL="785812" marR="0" rtl="0" algn="l">
              <a:lnSpc>
                <a:spcPct val="9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is the only plant asset that is </a:t>
            </a:r>
            <a:r>
              <a:rPr b="1" i="0" lang="en-US" sz="2400" u="none" cap="none" strike="noStrike">
                <a:solidFill>
                  <a:srgbClr val="BC3700"/>
                </a:solidFill>
                <a:latin typeface="Times New Roman"/>
                <a:ea typeface="Times New Roman"/>
                <a:cs typeface="Times New Roman"/>
                <a:sym typeface="Times New Roman"/>
              </a:rPr>
              <a:t>not</a:t>
            </a:r>
            <a:r>
              <a:rPr b="1" i="0" lang="en-US" sz="2400" u="none" cap="none" strike="noStrike">
                <a:solidFill>
                  <a:schemeClr val="dk1"/>
                </a:solidFill>
                <a:latin typeface="Times New Roman"/>
                <a:ea typeface="Times New Roman"/>
                <a:cs typeface="Times New Roman"/>
                <a:sym typeface="Times New Roman"/>
              </a:rPr>
              <a:t> depreciated.</a:t>
            </a:r>
            <a:endParaRPr/>
          </a:p>
        </p:txBody>
      </p:sp>
      <p:sp>
        <p:nvSpPr>
          <p:cNvPr id="137" name="Google Shape;137;p17"/>
          <p:cNvSpPr txBox="1"/>
          <p:nvPr/>
        </p:nvSpPr>
        <p:spPr>
          <a:xfrm>
            <a:off x="1752600" y="533400"/>
            <a:ext cx="5978525" cy="1014412"/>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DEPRECIATION</a:t>
            </a:r>
            <a:endParaRPr/>
          </a:p>
          <a:p>
            <a:pPr indent="0" lvl="0" marL="0" marR="0" rtl="0" algn="ctr">
              <a:lnSpc>
                <a:spcPct val="100000"/>
              </a:lnSpc>
              <a:spcBef>
                <a:spcPts val="27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STUDY OBJECTIVE</a:t>
            </a:r>
            <a:r>
              <a:rPr b="1" i="0" lang="en-US" sz="1800" u="none">
                <a:solidFill>
                  <a:srgbClr val="790015"/>
                </a:solidFill>
                <a:latin typeface="Arial"/>
                <a:ea typeface="Arial"/>
                <a:cs typeface="Arial"/>
                <a:sym typeface="Arial"/>
              </a:rPr>
              <a:t> </a:t>
            </a:r>
            <a:r>
              <a:rPr b="1" i="0" lang="en-US" sz="1800" u="none">
                <a:solidFill>
                  <a:srgbClr val="FC0128"/>
                </a:solidFill>
                <a:latin typeface="Arial"/>
                <a:ea typeface="Arial"/>
                <a:cs typeface="Arial"/>
                <a:sym typeface="Arial"/>
              </a:rPr>
              <a:t>2</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 calcmode="lin" valueType="num">
                                      <p:cBhvr additive="base">
                                        <p:cTn dur="500"/>
                                        <p:tgtEl>
                                          <p:spTgt spid="13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 calcmode="lin" valueType="num">
                                      <p:cBhvr additive="base">
                                        <p:cTn dur="500"/>
                                        <p:tgtEl>
                                          <p:spTgt spid="13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 calcmode="lin" valueType="num">
                                      <p:cBhvr additive="base">
                                        <p:cTn dur="500"/>
                                        <p:tgtEl>
                                          <p:spTgt spid="13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 calcmode="lin" valueType="num">
                                      <p:cBhvr additive="base">
                                        <p:cTn dur="500"/>
                                        <p:tgtEl>
                                          <p:spTgt spid="136">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 calcmode="lin" valueType="num">
                                      <p:cBhvr additive="base">
                                        <p:cTn dur="500"/>
                                        <p:tgtEl>
                                          <p:spTgt spid="136">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 calcmode="lin" valueType="num">
                                      <p:cBhvr additive="base">
                                        <p:cTn dur="500"/>
                                        <p:tgtEl>
                                          <p:spTgt spid="136">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anim calcmode="lin" valueType="num">
                                      <p:cBhvr additive="base">
                                        <p:cTn dur="500"/>
                                        <p:tgtEl>
                                          <p:spTgt spid="136">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anim calcmode="lin" valueType="num">
                                      <p:cBhvr additive="base">
                                        <p:cTn dur="500"/>
                                        <p:tgtEl>
                                          <p:spTgt spid="136">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 name="Shape 141"/>
        <p:cNvGrpSpPr/>
        <p:nvPr/>
      </p:nvGrpSpPr>
      <p:grpSpPr>
        <a:xfrm>
          <a:off x="0" y="0"/>
          <a:ext cx="0" cy="0"/>
          <a:chOff x="0" y="0"/>
          <a:chExt cx="0" cy="0"/>
        </a:xfrm>
      </p:grpSpPr>
      <p:sp>
        <p:nvSpPr>
          <p:cNvPr id="142" name="Google Shape;142;p18"/>
          <p:cNvSpPr/>
          <p:nvPr/>
        </p:nvSpPr>
        <p:spPr>
          <a:xfrm>
            <a:off x="533400" y="1219200"/>
            <a:ext cx="8596312" cy="1511300"/>
          </a:xfrm>
          <a:prstGeom prst="rect">
            <a:avLst/>
          </a:prstGeom>
          <a:solidFill>
            <a:srgbClr val="FFFF9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3" name="Google Shape;143;p18"/>
          <p:cNvSpPr txBox="1"/>
          <p:nvPr>
            <p:ph idx="1" type="body"/>
          </p:nvPr>
        </p:nvSpPr>
        <p:spPr>
          <a:xfrm>
            <a:off x="609600" y="1447800"/>
            <a:ext cx="8156575" cy="4594225"/>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3200"/>
              <a:buFont typeface="Arial"/>
              <a:buNone/>
            </a:pPr>
            <a:r>
              <a:rPr b="1" i="0" lang="en-US" sz="3200" u="none" cap="none" strike="noStrike">
                <a:solidFill>
                  <a:srgbClr val="BC3700"/>
                </a:solidFill>
                <a:latin typeface="Arial"/>
                <a:ea typeface="Arial"/>
                <a:cs typeface="Arial"/>
                <a:sym typeface="Arial"/>
              </a:rPr>
              <a:t>THREE FACTORS THAT AFFECT THE COMPUTATION OF DEPRECIATION ARE:</a:t>
            </a:r>
            <a:endParaRPr/>
          </a:p>
          <a:p>
            <a:pPr indent="-361950" lvl="0" marL="361950" marR="0" rtl="0" algn="l">
              <a:lnSpc>
                <a:spcPct val="90000"/>
              </a:lnSpc>
              <a:spcBef>
                <a:spcPts val="640"/>
              </a:spcBef>
              <a:spcAft>
                <a:spcPts val="0"/>
              </a:spcAft>
              <a:buClr>
                <a:srgbClr val="FC0128"/>
              </a:buClr>
              <a:buSzPts val="3200"/>
              <a:buFont typeface="Arial"/>
              <a:buNone/>
            </a:pPr>
            <a:r>
              <a:rPr b="1" i="0" lang="en-US" sz="3200" u="none" cap="none" strike="noStrike">
                <a:solidFill>
                  <a:srgbClr val="FC0128"/>
                </a:solidFill>
                <a:latin typeface="Arial"/>
                <a:ea typeface="Arial"/>
                <a:cs typeface="Arial"/>
                <a:sym typeface="Arial"/>
              </a:rPr>
              <a:t>1</a:t>
            </a:r>
            <a:r>
              <a:rPr b="1" i="0" lang="en-US" sz="3200" u="none" cap="none" strike="noStrike">
                <a:solidFill>
                  <a:srgbClr val="FC0128"/>
                </a:solidFill>
                <a:latin typeface="Times New Roman"/>
                <a:ea typeface="Times New Roman"/>
                <a:cs typeface="Times New Roman"/>
                <a:sym typeface="Times New Roman"/>
              </a:rPr>
              <a:t> Cost</a:t>
            </a:r>
            <a:r>
              <a:rPr b="1" i="0" lang="en-US" sz="3200" u="none" cap="none" strike="noStrike">
                <a:solidFill>
                  <a:schemeClr val="dk1"/>
                </a:solidFill>
                <a:latin typeface="Times New Roman"/>
                <a:ea typeface="Times New Roman"/>
                <a:cs typeface="Times New Roman"/>
                <a:sym typeface="Times New Roman"/>
              </a:rPr>
              <a:t>:</a:t>
            </a:r>
            <a:endParaRPr/>
          </a:p>
          <a:p>
            <a:pPr indent="-361950" lvl="0" marL="361950" marR="0" rtl="0" algn="l">
              <a:lnSpc>
                <a:spcPct val="55000"/>
              </a:lnSpc>
              <a:spcBef>
                <a:spcPts val="16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all expenditures necessary to acquire the asset and make it</a:t>
            </a:r>
            <a:endParaRPr/>
          </a:p>
          <a:p>
            <a:pPr indent="-361950" lvl="0" marL="361950" marR="0" rtl="0" algn="l">
              <a:lnSpc>
                <a:spcPct val="55000"/>
              </a:lnSpc>
              <a:spcBef>
                <a:spcPts val="12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   </a:t>
            </a:r>
            <a:endParaRPr/>
          </a:p>
          <a:p>
            <a:pPr indent="-361950" lvl="0" marL="361950" marR="0" rtl="0" algn="l">
              <a:lnSpc>
                <a:spcPct val="55000"/>
              </a:lnSpc>
              <a:spcBef>
                <a:spcPts val="12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    ready for intended use </a:t>
            </a:r>
            <a:endParaRPr/>
          </a:p>
          <a:p>
            <a:pPr indent="-361950" lvl="0" marL="361950" marR="0" rtl="0" algn="l">
              <a:lnSpc>
                <a:spcPct val="55000"/>
              </a:lnSpc>
              <a:spcBef>
                <a:spcPts val="120"/>
              </a:spcBef>
              <a:spcAft>
                <a:spcPts val="0"/>
              </a:spcAft>
              <a:buClr>
                <a:schemeClr val="dk1"/>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361950" lvl="0" marL="361950" marR="0" rtl="0" algn="l">
              <a:lnSpc>
                <a:spcPct val="55000"/>
              </a:lnSpc>
              <a:spcBef>
                <a:spcPts val="12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	</a:t>
            </a:r>
            <a:endParaRPr/>
          </a:p>
          <a:p>
            <a:pPr indent="-361950" lvl="0" marL="361950" marR="0" rtl="0" algn="l">
              <a:lnSpc>
                <a:spcPct val="55000"/>
              </a:lnSpc>
              <a:spcBef>
                <a:spcPts val="640"/>
              </a:spcBef>
              <a:spcAft>
                <a:spcPts val="0"/>
              </a:spcAft>
              <a:buClr>
                <a:srgbClr val="FC0128"/>
              </a:buClr>
              <a:buSzPts val="3200"/>
              <a:buFont typeface="Arial"/>
              <a:buNone/>
            </a:pPr>
            <a:r>
              <a:rPr b="1" i="0" lang="en-US" sz="3200" u="none" cap="none" strike="noStrike">
                <a:solidFill>
                  <a:srgbClr val="FC0128"/>
                </a:solidFill>
                <a:latin typeface="Arial"/>
                <a:ea typeface="Arial"/>
                <a:cs typeface="Arial"/>
                <a:sym typeface="Arial"/>
              </a:rPr>
              <a:t>2</a:t>
            </a:r>
            <a:r>
              <a:rPr b="1" i="0" lang="en-US" sz="3200" u="none" cap="none" strike="noStrike">
                <a:solidFill>
                  <a:srgbClr val="FC0128"/>
                </a:solidFill>
                <a:latin typeface="Times New Roman"/>
                <a:ea typeface="Times New Roman"/>
                <a:cs typeface="Times New Roman"/>
                <a:sym typeface="Times New Roman"/>
              </a:rPr>
              <a:t> Useful life</a:t>
            </a:r>
            <a:r>
              <a:rPr b="1" i="0" lang="en-US" sz="3200" u="none" cap="none" strike="noStrike">
                <a:solidFill>
                  <a:schemeClr val="dk1"/>
                </a:solidFill>
                <a:latin typeface="Times New Roman"/>
                <a:ea typeface="Times New Roman"/>
                <a:cs typeface="Times New Roman"/>
                <a:sym typeface="Times New Roman"/>
              </a:rPr>
              <a:t>: </a:t>
            </a:r>
            <a:endParaRPr/>
          </a:p>
          <a:p>
            <a:pPr indent="-361950" lvl="0" marL="361950" marR="0" rtl="0" algn="l">
              <a:lnSpc>
                <a:spcPct val="60000"/>
              </a:lnSpc>
              <a:spcBef>
                <a:spcPts val="64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estimate of the expected life based on need for repair,</a:t>
            </a:r>
            <a:endParaRPr/>
          </a:p>
          <a:p>
            <a:pPr indent="-361950" lvl="0" marL="361950" marR="0" rtl="0" algn="l">
              <a:lnSpc>
                <a:spcPct val="60000"/>
              </a:lnSpc>
              <a:spcBef>
                <a:spcPts val="48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    </a:t>
            </a:r>
            <a:endParaRPr/>
          </a:p>
          <a:p>
            <a:pPr indent="-361950" lvl="0" marL="361950" marR="0" rtl="0" algn="l">
              <a:lnSpc>
                <a:spcPct val="60000"/>
              </a:lnSpc>
              <a:spcBef>
                <a:spcPts val="48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    service life, and vulnerability to obsolescence</a:t>
            </a:r>
            <a:endParaRPr/>
          </a:p>
          <a:p>
            <a:pPr indent="-361950" lvl="0" marL="361950" marR="0" rtl="0" algn="l">
              <a:lnSpc>
                <a:spcPct val="60000"/>
              </a:lnSpc>
              <a:spcBef>
                <a:spcPts val="480"/>
              </a:spcBef>
              <a:spcAft>
                <a:spcPts val="0"/>
              </a:spcAft>
              <a:buClr>
                <a:schemeClr val="dk1"/>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361950" lvl="0" marL="361950" marR="0" rtl="0" algn="l">
              <a:lnSpc>
                <a:spcPct val="55000"/>
              </a:lnSpc>
              <a:spcBef>
                <a:spcPts val="640"/>
              </a:spcBef>
              <a:spcAft>
                <a:spcPts val="0"/>
              </a:spcAft>
              <a:buClr>
                <a:srgbClr val="FC0128"/>
              </a:buClr>
              <a:buSzPts val="3200"/>
              <a:buFont typeface="Arial"/>
              <a:buNone/>
            </a:pPr>
            <a:r>
              <a:rPr b="1" i="0" lang="en-US" sz="3200" u="none" cap="none" strike="noStrike">
                <a:solidFill>
                  <a:srgbClr val="FC0128"/>
                </a:solidFill>
                <a:latin typeface="Arial"/>
                <a:ea typeface="Arial"/>
                <a:cs typeface="Arial"/>
                <a:sym typeface="Arial"/>
              </a:rPr>
              <a:t>3</a:t>
            </a:r>
            <a:r>
              <a:rPr b="1" i="0" lang="en-US" sz="3200" u="none" cap="none" strike="noStrike">
                <a:solidFill>
                  <a:srgbClr val="FC0128"/>
                </a:solidFill>
                <a:latin typeface="Times New Roman"/>
                <a:ea typeface="Times New Roman"/>
                <a:cs typeface="Times New Roman"/>
                <a:sym typeface="Times New Roman"/>
              </a:rPr>
              <a:t> Salvage value</a:t>
            </a:r>
            <a:r>
              <a:rPr b="1" i="0" lang="en-US" sz="3200" u="none" cap="none" strike="noStrike">
                <a:solidFill>
                  <a:srgbClr val="BC3700"/>
                </a:solidFill>
                <a:latin typeface="Times New Roman"/>
                <a:ea typeface="Times New Roman"/>
                <a:cs typeface="Times New Roman"/>
                <a:sym typeface="Times New Roman"/>
              </a:rPr>
              <a:t>:</a:t>
            </a:r>
            <a:endParaRPr/>
          </a:p>
          <a:p>
            <a:pPr indent="-361950" lvl="0" marL="361950" marR="0" rtl="0" algn="l">
              <a:lnSpc>
                <a:spcPct val="65000"/>
              </a:lnSpc>
              <a:spcBef>
                <a:spcPts val="640"/>
              </a:spcBef>
              <a:spcAft>
                <a:spcPts val="0"/>
              </a:spcAft>
              <a:buClr>
                <a:srgbClr val="BC3700"/>
              </a:buClr>
              <a:buSzPts val="3200"/>
              <a:buFont typeface="Times New Roman"/>
              <a:buNone/>
            </a:pPr>
            <a:r>
              <a:rPr b="1" i="0" lang="en-US" sz="3200" u="none" cap="none" strike="noStrike">
                <a:solidFill>
                  <a:srgbClr val="BC3700"/>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estimate of the asset’s value at the end of 	its useful life</a:t>
            </a:r>
            <a:endParaRPr/>
          </a:p>
          <a:p>
            <a:pPr indent="-361950" lvl="0" marL="361950" marR="0" rtl="0" algn="l">
              <a:lnSpc>
                <a:spcPct val="65000"/>
              </a:lnSpc>
              <a:spcBef>
                <a:spcPts val="480"/>
              </a:spcBef>
              <a:spcAft>
                <a:spcPts val="0"/>
              </a:spcAft>
              <a:buClr>
                <a:schemeClr val="dk1"/>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361950" lvl="0" marL="361950" marR="0" rtl="0" algn="l">
              <a:lnSpc>
                <a:spcPct val="65000"/>
              </a:lnSpc>
              <a:spcBef>
                <a:spcPts val="48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 	</a:t>
            </a:r>
            <a:endParaRPr/>
          </a:p>
        </p:txBody>
      </p:sp>
      <p:sp>
        <p:nvSpPr>
          <p:cNvPr id="144" name="Google Shape;144;p18"/>
          <p:cNvSpPr txBox="1"/>
          <p:nvPr/>
        </p:nvSpPr>
        <p:spPr>
          <a:xfrm>
            <a:off x="914400" y="0"/>
            <a:ext cx="788352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FACTORS IN COMPUTING DEPRECIATION</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 calcmode="lin" valueType="num">
                                      <p:cBhvr additive="base">
                                        <p:cTn dur="500"/>
                                        <p:tgtEl>
                                          <p:spTgt spid="14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anim calcmode="lin" valueType="num">
                                      <p:cBhvr additive="base">
                                        <p:cTn dur="500"/>
                                        <p:tgtEl>
                                          <p:spTgt spid="14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anim calcmode="lin" valueType="num">
                                      <p:cBhvr additive="base">
                                        <p:cTn dur="500"/>
                                        <p:tgtEl>
                                          <p:spTgt spid="14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anim calcmode="lin" valueType="num">
                                      <p:cBhvr additive="base">
                                        <p:cTn dur="500"/>
                                        <p:tgtEl>
                                          <p:spTgt spid="143">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anim calcmode="lin" valueType="num">
                                      <p:cBhvr additive="base">
                                        <p:cTn dur="500"/>
                                        <p:tgtEl>
                                          <p:spTgt spid="143">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5" st="5"/>
                                            </p:txEl>
                                          </p:spTgt>
                                        </p:tgtEl>
                                        <p:attrNameLst>
                                          <p:attrName>style.visibility</p:attrName>
                                        </p:attrNameLst>
                                      </p:cBhvr>
                                      <p:to>
                                        <p:strVal val="visible"/>
                                      </p:to>
                                    </p:set>
                                    <p:anim calcmode="lin" valueType="num">
                                      <p:cBhvr additive="base">
                                        <p:cTn dur="500"/>
                                        <p:tgtEl>
                                          <p:spTgt spid="143">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6" st="6"/>
                                            </p:txEl>
                                          </p:spTgt>
                                        </p:tgtEl>
                                        <p:attrNameLst>
                                          <p:attrName>style.visibility</p:attrName>
                                        </p:attrNameLst>
                                      </p:cBhvr>
                                      <p:to>
                                        <p:strVal val="visible"/>
                                      </p:to>
                                    </p:set>
                                    <p:anim calcmode="lin" valueType="num">
                                      <p:cBhvr additive="base">
                                        <p:cTn dur="500"/>
                                        <p:tgtEl>
                                          <p:spTgt spid="143">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7" st="7"/>
                                            </p:txEl>
                                          </p:spTgt>
                                        </p:tgtEl>
                                        <p:attrNameLst>
                                          <p:attrName>style.visibility</p:attrName>
                                        </p:attrNameLst>
                                      </p:cBhvr>
                                      <p:to>
                                        <p:strVal val="visible"/>
                                      </p:to>
                                    </p:set>
                                    <p:anim calcmode="lin" valueType="num">
                                      <p:cBhvr additive="base">
                                        <p:cTn dur="500"/>
                                        <p:tgtEl>
                                          <p:spTgt spid="143">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8" st="8"/>
                                            </p:txEl>
                                          </p:spTgt>
                                        </p:tgtEl>
                                        <p:attrNameLst>
                                          <p:attrName>style.visibility</p:attrName>
                                        </p:attrNameLst>
                                      </p:cBhvr>
                                      <p:to>
                                        <p:strVal val="visible"/>
                                      </p:to>
                                    </p:set>
                                    <p:anim calcmode="lin" valueType="num">
                                      <p:cBhvr additive="base">
                                        <p:cTn dur="500"/>
                                        <p:tgtEl>
                                          <p:spTgt spid="143">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9" st="9"/>
                                            </p:txEl>
                                          </p:spTgt>
                                        </p:tgtEl>
                                        <p:attrNameLst>
                                          <p:attrName>style.visibility</p:attrName>
                                        </p:attrNameLst>
                                      </p:cBhvr>
                                      <p:to>
                                        <p:strVal val="visible"/>
                                      </p:to>
                                    </p:set>
                                    <p:anim calcmode="lin" valueType="num">
                                      <p:cBhvr additive="base">
                                        <p:cTn dur="500"/>
                                        <p:tgtEl>
                                          <p:spTgt spid="143">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10" st="10"/>
                                            </p:txEl>
                                          </p:spTgt>
                                        </p:tgtEl>
                                        <p:attrNameLst>
                                          <p:attrName>style.visibility</p:attrName>
                                        </p:attrNameLst>
                                      </p:cBhvr>
                                      <p:to>
                                        <p:strVal val="visible"/>
                                      </p:to>
                                    </p:set>
                                    <p:anim calcmode="lin" valueType="num">
                                      <p:cBhvr additive="base">
                                        <p:cTn dur="500"/>
                                        <p:tgtEl>
                                          <p:spTgt spid="143">
                                            <p:txEl>
                                              <p:pRg end="10" st="1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11" st="11"/>
                                            </p:txEl>
                                          </p:spTgt>
                                        </p:tgtEl>
                                        <p:attrNameLst>
                                          <p:attrName>style.visibility</p:attrName>
                                        </p:attrNameLst>
                                      </p:cBhvr>
                                      <p:to>
                                        <p:strVal val="visible"/>
                                      </p:to>
                                    </p:set>
                                    <p:anim calcmode="lin" valueType="num">
                                      <p:cBhvr additive="base">
                                        <p:cTn dur="500"/>
                                        <p:tgtEl>
                                          <p:spTgt spid="143">
                                            <p:txEl>
                                              <p:pRg end="11" st="1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12" st="12"/>
                                            </p:txEl>
                                          </p:spTgt>
                                        </p:tgtEl>
                                        <p:attrNameLst>
                                          <p:attrName>style.visibility</p:attrName>
                                        </p:attrNameLst>
                                      </p:cBhvr>
                                      <p:to>
                                        <p:strVal val="visible"/>
                                      </p:to>
                                    </p:set>
                                    <p:anim calcmode="lin" valueType="num">
                                      <p:cBhvr additive="base">
                                        <p:cTn dur="500"/>
                                        <p:tgtEl>
                                          <p:spTgt spid="143">
                                            <p:txEl>
                                              <p:pRg end="12" st="1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13" st="13"/>
                                            </p:txEl>
                                          </p:spTgt>
                                        </p:tgtEl>
                                        <p:attrNameLst>
                                          <p:attrName>style.visibility</p:attrName>
                                        </p:attrNameLst>
                                      </p:cBhvr>
                                      <p:to>
                                        <p:strVal val="visible"/>
                                      </p:to>
                                    </p:set>
                                    <p:anim calcmode="lin" valueType="num">
                                      <p:cBhvr additive="base">
                                        <p:cTn dur="500"/>
                                        <p:tgtEl>
                                          <p:spTgt spid="143">
                                            <p:txEl>
                                              <p:pRg end="13" st="1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14" st="14"/>
                                            </p:txEl>
                                          </p:spTgt>
                                        </p:tgtEl>
                                        <p:attrNameLst>
                                          <p:attrName>style.visibility</p:attrName>
                                        </p:attrNameLst>
                                      </p:cBhvr>
                                      <p:to>
                                        <p:strVal val="visible"/>
                                      </p:to>
                                    </p:set>
                                    <p:anim calcmode="lin" valueType="num">
                                      <p:cBhvr additive="base">
                                        <p:cTn dur="500"/>
                                        <p:tgtEl>
                                          <p:spTgt spid="143">
                                            <p:txEl>
                                              <p:pRg end="14" st="1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3">
                                            <p:txEl>
                                              <p:pRg end="15" st="15"/>
                                            </p:txEl>
                                          </p:spTgt>
                                        </p:tgtEl>
                                        <p:attrNameLst>
                                          <p:attrName>style.visibility</p:attrName>
                                        </p:attrNameLst>
                                      </p:cBhvr>
                                      <p:to>
                                        <p:strVal val="visible"/>
                                      </p:to>
                                    </p:set>
                                    <p:anim calcmode="lin" valueType="num">
                                      <p:cBhvr additive="base">
                                        <p:cTn dur="500"/>
                                        <p:tgtEl>
                                          <p:spTgt spid="143">
                                            <p:txEl>
                                              <p:pRg end="15" st="1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pic>
        <p:nvPicPr>
          <p:cNvPr id="149" name="Google Shape;149;p19"/>
          <p:cNvPicPr preferRelativeResize="0"/>
          <p:nvPr/>
        </p:nvPicPr>
        <p:blipFill rotWithShape="1">
          <a:blip r:embed="rId3">
            <a:alphaModFix/>
          </a:blip>
          <a:srcRect b="0" l="0" r="0" t="0"/>
          <a:stretch/>
        </p:blipFill>
        <p:spPr>
          <a:xfrm>
            <a:off x="1409700" y="1490662"/>
            <a:ext cx="6781800" cy="2166937"/>
          </a:xfrm>
          <a:prstGeom prst="rect">
            <a:avLst/>
          </a:prstGeom>
          <a:noFill/>
          <a:ln>
            <a:noFill/>
          </a:ln>
        </p:spPr>
      </p:pic>
      <p:pic>
        <p:nvPicPr>
          <p:cNvPr id="150" name="Google Shape;150;p19"/>
          <p:cNvPicPr preferRelativeResize="0"/>
          <p:nvPr/>
        </p:nvPicPr>
        <p:blipFill rotWithShape="1">
          <a:blip r:embed="rId4">
            <a:alphaModFix/>
          </a:blip>
          <a:srcRect b="0" l="0" r="0" t="0"/>
          <a:stretch/>
        </p:blipFill>
        <p:spPr>
          <a:xfrm>
            <a:off x="1524000" y="4343400"/>
            <a:ext cx="6553200" cy="2435225"/>
          </a:xfrm>
          <a:prstGeom prst="rect">
            <a:avLst/>
          </a:prstGeom>
          <a:noFill/>
          <a:ln>
            <a:noFill/>
          </a:ln>
        </p:spPr>
      </p:pic>
      <p:sp>
        <p:nvSpPr>
          <p:cNvPr id="151" name="Google Shape;151;p19"/>
          <p:cNvSpPr txBox="1"/>
          <p:nvPr/>
        </p:nvSpPr>
        <p:spPr>
          <a:xfrm>
            <a:off x="858837" y="192087"/>
            <a:ext cx="788352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DEPRECIATION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grpSp>
        <p:nvGrpSpPr>
          <p:cNvPr id="156" name="Google Shape;156;p20"/>
          <p:cNvGrpSpPr/>
          <p:nvPr/>
        </p:nvGrpSpPr>
        <p:grpSpPr>
          <a:xfrm>
            <a:off x="457200" y="304800"/>
            <a:ext cx="8382000" cy="838200"/>
            <a:chOff x="288" y="192"/>
            <a:chExt cx="5280" cy="528"/>
          </a:xfrm>
        </p:grpSpPr>
        <p:sp>
          <p:nvSpPr>
            <p:cNvPr id="157" name="Google Shape;157;p20"/>
            <p:cNvSpPr/>
            <p:nvPr/>
          </p:nvSpPr>
          <p:spPr>
            <a:xfrm>
              <a:off x="288" y="192"/>
              <a:ext cx="2208" cy="466"/>
            </a:xfrm>
            <a:prstGeom prst="rect">
              <a:avLst/>
            </a:prstGeom>
          </p:spPr>
          <p:txBody>
            <a:bodyPr>
              <a:prstTxWarp prst="textPlain"/>
            </a:bodyPr>
            <a:lstStyle/>
            <a:p>
              <a:pPr lvl="0" algn="l"/>
              <a:r>
                <a:rPr b="0" i="0">
                  <a:ln>
                    <a:noFill/>
                  </a:ln>
                  <a:solidFill>
                    <a:schemeClr val="accent2"/>
                  </a:solidFill>
                  <a:latin typeface="Impact"/>
                </a:rPr>
                <a:t>Review</a:t>
              </a:r>
            </a:p>
          </p:txBody>
        </p:sp>
        <p:cxnSp>
          <p:nvCxnSpPr>
            <p:cNvPr id="158" name="Google Shape;158;p20"/>
            <p:cNvCxnSpPr/>
            <p:nvPr/>
          </p:nvCxnSpPr>
          <p:spPr>
            <a:xfrm>
              <a:off x="288" y="720"/>
              <a:ext cx="5280" cy="0"/>
            </a:xfrm>
            <a:prstGeom prst="straightConnector1">
              <a:avLst/>
            </a:prstGeom>
            <a:noFill/>
            <a:ln cap="flat" cmpd="sng" w="38100">
              <a:solidFill>
                <a:schemeClr val="dk1"/>
              </a:solidFill>
              <a:prstDash val="solid"/>
              <a:miter lim="800000"/>
              <a:headEnd len="med" w="med" type="none"/>
              <a:tailEnd len="med" w="med" type="none"/>
            </a:ln>
          </p:spPr>
        </p:cxnSp>
      </p:grpSp>
      <p:sp>
        <p:nvSpPr>
          <p:cNvPr id="159" name="Google Shape;159;p20"/>
          <p:cNvSpPr txBox="1"/>
          <p:nvPr>
            <p:ph type="title"/>
          </p:nvPr>
        </p:nvSpPr>
        <p:spPr>
          <a:xfrm>
            <a:off x="381000" y="1828800"/>
            <a:ext cx="8839200" cy="685800"/>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Depreciation is a process of:</a:t>
            </a:r>
            <a:endParaRPr/>
          </a:p>
        </p:txBody>
      </p:sp>
      <p:sp>
        <p:nvSpPr>
          <p:cNvPr id="160" name="Google Shape;160;p20"/>
          <p:cNvSpPr txBox="1"/>
          <p:nvPr>
            <p:ph idx="1" type="body"/>
          </p:nvPr>
        </p:nvSpPr>
        <p:spPr>
          <a:xfrm>
            <a:off x="457200" y="2819400"/>
            <a:ext cx="8229600" cy="3352800"/>
          </a:xfrm>
          <a:prstGeom prst="rect">
            <a:avLst/>
          </a:prstGeom>
          <a:noFill/>
          <a:ln>
            <a:noFill/>
          </a:ln>
        </p:spPr>
        <p:txBody>
          <a:bodyPr anchorCtr="0" anchor="t" bIns="45700" lIns="91425" spcFirstLastPara="1" rIns="91425" wrap="square" tIns="45700">
            <a:noAutofit/>
          </a:bodyPr>
          <a:lstStyle/>
          <a:p>
            <a:pPr indent="-361950" lvl="0" marL="361950" marR="0" rtl="0" algn="l">
              <a:lnSpc>
                <a:spcPct val="100000"/>
              </a:lnSpc>
              <a:spcBef>
                <a:spcPts val="0"/>
              </a:spcBef>
              <a:spcAft>
                <a:spcPts val="0"/>
              </a:spcAft>
              <a:buClr>
                <a:schemeClr val="dk1"/>
              </a:buClr>
              <a:buSzPts val="3600"/>
              <a:buFont typeface="Arial"/>
              <a:buAutoNum type="alphaLcPeriod"/>
            </a:pPr>
            <a:r>
              <a:rPr b="0" i="0" lang="en-US" sz="3600" u="none" cap="none" strike="noStrike">
                <a:solidFill>
                  <a:schemeClr val="dk1"/>
                </a:solidFill>
                <a:latin typeface="Arial"/>
                <a:ea typeface="Arial"/>
                <a:cs typeface="Arial"/>
                <a:sym typeface="Arial"/>
              </a:rPr>
              <a:t> valuation.</a:t>
            </a:r>
            <a:endParaRPr/>
          </a:p>
          <a:p>
            <a:pPr indent="-361950" lvl="0" marL="361950" marR="0" rtl="0" algn="l">
              <a:lnSpc>
                <a:spcPct val="100000"/>
              </a:lnSpc>
              <a:spcBef>
                <a:spcPts val="720"/>
              </a:spcBef>
              <a:spcAft>
                <a:spcPts val="0"/>
              </a:spcAft>
              <a:buClr>
                <a:schemeClr val="dk1"/>
              </a:buClr>
              <a:buSzPts val="3600"/>
              <a:buFont typeface="Arial"/>
              <a:buAutoNum type="alphaLcPeriod"/>
            </a:pPr>
            <a:r>
              <a:rPr b="0" i="0" lang="en-US" sz="3600" u="none" cap="none" strike="noStrike">
                <a:solidFill>
                  <a:schemeClr val="dk1"/>
                </a:solidFill>
                <a:latin typeface="Arial"/>
                <a:ea typeface="Arial"/>
                <a:cs typeface="Arial"/>
                <a:sym typeface="Arial"/>
              </a:rPr>
              <a:t> cost allocation.</a:t>
            </a:r>
            <a:endParaRPr/>
          </a:p>
          <a:p>
            <a:pPr indent="-361950" lvl="0" marL="361950" marR="0" rtl="0" algn="l">
              <a:lnSpc>
                <a:spcPct val="100000"/>
              </a:lnSpc>
              <a:spcBef>
                <a:spcPts val="720"/>
              </a:spcBef>
              <a:spcAft>
                <a:spcPts val="0"/>
              </a:spcAft>
              <a:buClr>
                <a:schemeClr val="dk1"/>
              </a:buClr>
              <a:buSzPts val="3600"/>
              <a:buFont typeface="Arial"/>
              <a:buAutoNum type="alphaLcPeriod"/>
            </a:pPr>
            <a:r>
              <a:rPr b="0" i="0" lang="en-US" sz="3600" u="none" cap="none" strike="noStrike">
                <a:solidFill>
                  <a:schemeClr val="dk1"/>
                </a:solidFill>
                <a:latin typeface="Arial"/>
                <a:ea typeface="Arial"/>
                <a:cs typeface="Arial"/>
                <a:sym typeface="Arial"/>
              </a:rPr>
              <a:t> cash accumulation.</a:t>
            </a:r>
            <a:endParaRPr/>
          </a:p>
          <a:p>
            <a:pPr indent="-361950" lvl="0" marL="361950" marR="0" rtl="0" algn="l">
              <a:lnSpc>
                <a:spcPct val="100000"/>
              </a:lnSpc>
              <a:spcBef>
                <a:spcPts val="720"/>
              </a:spcBef>
              <a:spcAft>
                <a:spcPts val="0"/>
              </a:spcAft>
              <a:buClr>
                <a:schemeClr val="dk1"/>
              </a:buClr>
              <a:buSzPts val="3600"/>
              <a:buFont typeface="Arial"/>
              <a:buAutoNum type="alphaLcPeriod"/>
            </a:pPr>
            <a:r>
              <a:rPr b="0" i="0" lang="en-US" sz="3600" u="none" cap="none" strike="noStrike">
                <a:solidFill>
                  <a:schemeClr val="dk1"/>
                </a:solidFill>
                <a:latin typeface="Arial"/>
                <a:ea typeface="Arial"/>
                <a:cs typeface="Arial"/>
                <a:sym typeface="Arial"/>
              </a:rPr>
              <a:t> appraisal.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animEffect filter="fade" transition="in">
                                      <p:cBhvr>
                                        <p:cTn dur="500"/>
                                        <p:tgtEl>
                                          <p:spTgt spid="1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animEffect filter="fade" transition="in">
                                      <p:cBhvr>
                                        <p:cTn dur="500"/>
                                        <p:tgtEl>
                                          <p:spTgt spid="1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animEffect filter="fade" transition="in">
                                      <p:cBhvr>
                                        <p:cTn dur="500"/>
                                        <p:tgtEl>
                                          <p:spTgt spid="1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animEffect filter="fade" transition="in">
                                      <p:cBhvr>
                                        <p:cTn dur="500"/>
                                        <p:tgtEl>
                                          <p:spTgt spid="16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grpSp>
        <p:nvGrpSpPr>
          <p:cNvPr id="165" name="Google Shape;165;p21"/>
          <p:cNvGrpSpPr/>
          <p:nvPr/>
        </p:nvGrpSpPr>
        <p:grpSpPr>
          <a:xfrm>
            <a:off x="457200" y="304800"/>
            <a:ext cx="8382000" cy="838200"/>
            <a:chOff x="288" y="192"/>
            <a:chExt cx="5280" cy="528"/>
          </a:xfrm>
        </p:grpSpPr>
        <p:sp>
          <p:nvSpPr>
            <p:cNvPr id="166" name="Google Shape;166;p21"/>
            <p:cNvSpPr/>
            <p:nvPr/>
          </p:nvSpPr>
          <p:spPr>
            <a:xfrm>
              <a:off x="288" y="192"/>
              <a:ext cx="2208" cy="466"/>
            </a:xfrm>
            <a:prstGeom prst="rect">
              <a:avLst/>
            </a:prstGeom>
          </p:spPr>
          <p:txBody>
            <a:bodyPr>
              <a:prstTxWarp prst="textPlain"/>
            </a:bodyPr>
            <a:lstStyle/>
            <a:p>
              <a:pPr lvl="0" algn="l"/>
              <a:r>
                <a:rPr b="0" i="0">
                  <a:ln>
                    <a:noFill/>
                  </a:ln>
                  <a:solidFill>
                    <a:schemeClr val="accent2"/>
                  </a:solidFill>
                  <a:latin typeface="Impact"/>
                </a:rPr>
                <a:t>Review</a:t>
              </a:r>
            </a:p>
          </p:txBody>
        </p:sp>
        <p:cxnSp>
          <p:nvCxnSpPr>
            <p:cNvPr id="167" name="Google Shape;167;p21"/>
            <p:cNvCxnSpPr/>
            <p:nvPr/>
          </p:nvCxnSpPr>
          <p:spPr>
            <a:xfrm>
              <a:off x="288" y="720"/>
              <a:ext cx="5280" cy="0"/>
            </a:xfrm>
            <a:prstGeom prst="straightConnector1">
              <a:avLst/>
            </a:prstGeom>
            <a:noFill/>
            <a:ln cap="flat" cmpd="sng" w="38100">
              <a:solidFill>
                <a:schemeClr val="dk1"/>
              </a:solidFill>
              <a:prstDash val="solid"/>
              <a:miter lim="800000"/>
              <a:headEnd len="med" w="med" type="none"/>
              <a:tailEnd len="med" w="med" type="none"/>
            </a:ln>
          </p:spPr>
        </p:cxnSp>
      </p:grpSp>
      <p:sp>
        <p:nvSpPr>
          <p:cNvPr id="168" name="Google Shape;168;p21"/>
          <p:cNvSpPr txBox="1"/>
          <p:nvPr>
            <p:ph type="title"/>
          </p:nvPr>
        </p:nvSpPr>
        <p:spPr>
          <a:xfrm>
            <a:off x="381000" y="1828800"/>
            <a:ext cx="8839200" cy="685800"/>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Depreciation is a process of:</a:t>
            </a:r>
            <a:endParaRPr/>
          </a:p>
        </p:txBody>
      </p:sp>
      <p:sp>
        <p:nvSpPr>
          <p:cNvPr id="169" name="Google Shape;169;p21"/>
          <p:cNvSpPr txBox="1"/>
          <p:nvPr>
            <p:ph idx="1" type="body"/>
          </p:nvPr>
        </p:nvSpPr>
        <p:spPr>
          <a:xfrm>
            <a:off x="457200" y="2819400"/>
            <a:ext cx="8229600" cy="3352800"/>
          </a:xfrm>
          <a:prstGeom prst="rect">
            <a:avLst/>
          </a:prstGeom>
          <a:noFill/>
          <a:ln>
            <a:noFill/>
          </a:ln>
        </p:spPr>
        <p:txBody>
          <a:bodyPr anchorCtr="0" anchor="t" bIns="45700" lIns="91425" spcFirstLastPara="1" rIns="91425" wrap="square" tIns="45700">
            <a:noAutofit/>
          </a:bodyPr>
          <a:lstStyle/>
          <a:p>
            <a:pPr indent="-361950" lvl="0" marL="361950" marR="0" rtl="0" algn="l">
              <a:lnSpc>
                <a:spcPct val="100000"/>
              </a:lnSpc>
              <a:spcBef>
                <a:spcPts val="0"/>
              </a:spcBef>
              <a:spcAft>
                <a:spcPts val="0"/>
              </a:spcAft>
              <a:buClr>
                <a:schemeClr val="dk1"/>
              </a:buClr>
              <a:buSzPts val="3600"/>
              <a:buFont typeface="Arial"/>
              <a:buAutoNum type="alphaLcPeriod"/>
            </a:pPr>
            <a:r>
              <a:rPr b="0" i="0" lang="en-US" sz="3600" u="none" cap="none" strike="noStrike">
                <a:solidFill>
                  <a:schemeClr val="dk1"/>
                </a:solidFill>
                <a:latin typeface="Arial"/>
                <a:ea typeface="Arial"/>
                <a:cs typeface="Arial"/>
                <a:sym typeface="Arial"/>
              </a:rPr>
              <a:t> valuation.</a:t>
            </a:r>
            <a:endParaRPr/>
          </a:p>
          <a:p>
            <a:pPr indent="-361950" lvl="0" marL="361950" marR="0" rtl="0" algn="l">
              <a:lnSpc>
                <a:spcPct val="100000"/>
              </a:lnSpc>
              <a:spcBef>
                <a:spcPts val="720"/>
              </a:spcBef>
              <a:spcAft>
                <a:spcPts val="0"/>
              </a:spcAft>
              <a:buClr>
                <a:srgbClr val="FC0128"/>
              </a:buClr>
              <a:buSzPts val="3600"/>
              <a:buFont typeface="Arial"/>
              <a:buAutoNum type="alphaLcPeriod"/>
            </a:pPr>
            <a:r>
              <a:rPr b="0" i="0" lang="en-US" sz="3600" u="none" cap="none" strike="noStrike">
                <a:solidFill>
                  <a:srgbClr val="FC0128"/>
                </a:solidFill>
                <a:latin typeface="Arial"/>
                <a:ea typeface="Arial"/>
                <a:cs typeface="Arial"/>
                <a:sym typeface="Arial"/>
              </a:rPr>
              <a:t> cost allocation.</a:t>
            </a:r>
            <a:endParaRPr/>
          </a:p>
          <a:p>
            <a:pPr indent="-361950" lvl="0" marL="361950" marR="0" rtl="0" algn="l">
              <a:lnSpc>
                <a:spcPct val="100000"/>
              </a:lnSpc>
              <a:spcBef>
                <a:spcPts val="720"/>
              </a:spcBef>
              <a:spcAft>
                <a:spcPts val="0"/>
              </a:spcAft>
              <a:buClr>
                <a:schemeClr val="dk1"/>
              </a:buClr>
              <a:buSzPts val="3600"/>
              <a:buFont typeface="Arial"/>
              <a:buAutoNum type="alphaLcPeriod"/>
            </a:pPr>
            <a:r>
              <a:rPr b="0" i="0" lang="en-US" sz="3600" u="none" cap="none" strike="noStrike">
                <a:solidFill>
                  <a:schemeClr val="dk1"/>
                </a:solidFill>
                <a:latin typeface="Arial"/>
                <a:ea typeface="Arial"/>
                <a:cs typeface="Arial"/>
                <a:sym typeface="Arial"/>
              </a:rPr>
              <a:t> cash accumulation.</a:t>
            </a:r>
            <a:endParaRPr/>
          </a:p>
          <a:p>
            <a:pPr indent="-361950" lvl="0" marL="361950" marR="0" rtl="0" algn="l">
              <a:lnSpc>
                <a:spcPct val="100000"/>
              </a:lnSpc>
              <a:spcBef>
                <a:spcPts val="720"/>
              </a:spcBef>
              <a:spcAft>
                <a:spcPts val="0"/>
              </a:spcAft>
              <a:buClr>
                <a:schemeClr val="dk1"/>
              </a:buClr>
              <a:buSzPts val="3600"/>
              <a:buFont typeface="Arial"/>
              <a:buAutoNum type="alphaLcPeriod"/>
            </a:pPr>
            <a:r>
              <a:rPr b="0" i="0" lang="en-US" sz="3600" u="none" cap="none" strike="noStrike">
                <a:solidFill>
                  <a:schemeClr val="dk1"/>
                </a:solidFill>
                <a:latin typeface="Arial"/>
                <a:ea typeface="Arial"/>
                <a:cs typeface="Arial"/>
                <a:sym typeface="Arial"/>
              </a:rPr>
              <a:t> appraisal.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22"/>
          <p:cNvSpPr txBox="1"/>
          <p:nvPr/>
        </p:nvSpPr>
        <p:spPr>
          <a:xfrm>
            <a:off x="1163637" y="293687"/>
            <a:ext cx="7273925" cy="1925637"/>
          </a:xfrm>
          <a:prstGeom prst="rect">
            <a:avLst/>
          </a:prstGeom>
          <a:noFill/>
          <a:ln>
            <a:noFill/>
          </a:ln>
        </p:spPr>
        <p:txBody>
          <a:bodyPr anchorCtr="0" anchor="t" bIns="44425" lIns="90450" spcFirstLastPara="1" rIns="90450" wrap="square" tIns="44425">
            <a:spAutoFit/>
          </a:bodyPr>
          <a:lstStyle/>
          <a:p>
            <a:pPr indent="0" lvl="0" marL="0" marR="0" rtl="0" algn="ctr">
              <a:lnSpc>
                <a:spcPct val="80000"/>
              </a:lnSpc>
              <a:spcBef>
                <a:spcPts val="0"/>
              </a:spcBef>
              <a:spcAft>
                <a:spcPts val="0"/>
              </a:spcAft>
              <a:buClr>
                <a:srgbClr val="000099"/>
              </a:buClr>
              <a:buSzPts val="3200"/>
              <a:buFont typeface="Arial Black"/>
              <a:buNone/>
            </a:pPr>
            <a:r>
              <a:rPr b="1" i="0" lang="en-US" sz="3200" u="none">
                <a:solidFill>
                  <a:srgbClr val="000099"/>
                </a:solidFill>
                <a:latin typeface="Arial Black"/>
                <a:ea typeface="Arial Black"/>
                <a:cs typeface="Arial Black"/>
                <a:sym typeface="Arial Black"/>
              </a:rPr>
              <a:t>USE OF DEPRECIATION METHODS IN 600 LARGE U.S. COMPANIES</a:t>
            </a:r>
            <a:endParaRPr/>
          </a:p>
          <a:p>
            <a:pPr indent="0" lvl="0" marL="0" marR="0" rtl="0" algn="ctr">
              <a:lnSpc>
                <a:spcPct val="100000"/>
              </a:lnSpc>
              <a:spcBef>
                <a:spcPts val="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STUDY OBJECTIVE</a:t>
            </a:r>
            <a:r>
              <a:rPr b="1" i="0" lang="en-US" sz="1800" u="none">
                <a:solidFill>
                  <a:srgbClr val="790015"/>
                </a:solidFill>
                <a:latin typeface="Arial"/>
                <a:ea typeface="Arial"/>
                <a:cs typeface="Arial"/>
                <a:sym typeface="Arial"/>
              </a:rPr>
              <a:t> </a:t>
            </a:r>
            <a:r>
              <a:rPr b="1" i="0" lang="en-US" sz="1800" u="none">
                <a:solidFill>
                  <a:srgbClr val="FC0128"/>
                </a:solidFill>
                <a:latin typeface="Arial"/>
                <a:ea typeface="Arial"/>
                <a:cs typeface="Arial"/>
                <a:sym typeface="Arial"/>
              </a:rPr>
              <a:t>3</a:t>
            </a:r>
            <a:endParaRPr/>
          </a:p>
          <a:p>
            <a:pPr indent="0" lvl="0" marL="0" marR="0" rtl="0" algn="l">
              <a:lnSpc>
                <a:spcPct val="100000"/>
              </a:lnSpc>
              <a:spcBef>
                <a:spcPts val="0"/>
              </a:spcBef>
              <a:spcAft>
                <a:spcPts val="0"/>
              </a:spcAft>
              <a:buNone/>
            </a:pPr>
            <a:r>
              <a:t/>
            </a:r>
            <a:endParaRPr b="1" i="0" sz="1800" u="none">
              <a:solidFill>
                <a:srgbClr val="FC0128"/>
              </a:solidFill>
              <a:latin typeface="Arial"/>
              <a:ea typeface="Arial"/>
              <a:cs typeface="Arial"/>
              <a:sym typeface="Arial"/>
            </a:endParaRPr>
          </a:p>
        </p:txBody>
      </p:sp>
      <p:sp>
        <p:nvSpPr>
          <p:cNvPr id="175" name="Google Shape;175;p22"/>
          <p:cNvSpPr txBox="1"/>
          <p:nvPr>
            <p:ph idx="1" type="body"/>
          </p:nvPr>
        </p:nvSpPr>
        <p:spPr>
          <a:xfrm>
            <a:off x="381000" y="1828800"/>
            <a:ext cx="9220200" cy="2052637"/>
          </a:xfrm>
          <a:prstGeom prst="rect">
            <a:avLst/>
          </a:prstGeom>
          <a:solidFill>
            <a:srgbClr val="FFFF99"/>
          </a:solidFill>
          <a:ln>
            <a:noFill/>
          </a:ln>
          <a:effectLst>
            <a:outerShdw blurRad="63500" dir="2700000" dist="35921">
              <a:srgbClr val="808080"/>
            </a:outerShdw>
          </a:effectLst>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Three methods of recognizing depreciation are:  </a:t>
            </a:r>
            <a:r>
              <a:rPr b="1" i="0" lang="en-US" sz="2200" u="none" cap="none" strike="noStrike">
                <a:solidFill>
                  <a:srgbClr val="BC3700"/>
                </a:solidFill>
                <a:latin typeface="Arial"/>
                <a:ea typeface="Arial"/>
                <a:cs typeface="Arial"/>
                <a:sym typeface="Arial"/>
              </a:rPr>
              <a:t>1 Straight-line</a:t>
            </a:r>
            <a:r>
              <a:rPr b="1" i="0" lang="en-US" sz="2200" u="none" cap="none" strike="noStrike">
                <a:solidFill>
                  <a:schemeClr val="dk1"/>
                </a:solidFill>
                <a:latin typeface="Arial"/>
                <a:ea typeface="Arial"/>
                <a:cs typeface="Arial"/>
                <a:sym typeface="Arial"/>
              </a:rPr>
              <a:t>, </a:t>
            </a:r>
            <a:endParaRPr/>
          </a:p>
          <a:p>
            <a:pPr indent="-361950" lvl="0" marL="361950" marR="0" rtl="0" algn="l">
              <a:lnSpc>
                <a:spcPct val="100000"/>
              </a:lnSpc>
              <a:spcBef>
                <a:spcPts val="0"/>
              </a:spcBef>
              <a:spcAft>
                <a:spcPts val="0"/>
              </a:spcAft>
              <a:buClr>
                <a:srgbClr val="BC3700"/>
              </a:buClr>
              <a:buSzPts val="2200"/>
              <a:buFont typeface="Arial"/>
              <a:buNone/>
            </a:pPr>
            <a:r>
              <a:rPr b="1" i="0" lang="en-US" sz="2200" u="none" cap="none" strike="noStrike">
                <a:solidFill>
                  <a:srgbClr val="BC3700"/>
                </a:solidFill>
                <a:latin typeface="Arial"/>
                <a:ea typeface="Arial"/>
                <a:cs typeface="Arial"/>
                <a:sym typeface="Arial"/>
              </a:rPr>
              <a:t>2 Units of activity</a:t>
            </a:r>
            <a:r>
              <a:rPr b="1" i="0" lang="en-US" sz="2200" u="none" cap="none" strike="noStrike">
                <a:solidFill>
                  <a:schemeClr val="dk1"/>
                </a:solidFill>
                <a:latin typeface="Arial"/>
                <a:ea typeface="Arial"/>
                <a:cs typeface="Arial"/>
                <a:sym typeface="Arial"/>
              </a:rPr>
              <a:t>, and </a:t>
            </a:r>
            <a:r>
              <a:rPr b="1" i="0" lang="en-US" sz="2200" u="none" cap="none" strike="noStrike">
                <a:solidFill>
                  <a:srgbClr val="BC3700"/>
                </a:solidFill>
                <a:latin typeface="Arial"/>
                <a:ea typeface="Arial"/>
                <a:cs typeface="Arial"/>
                <a:sym typeface="Arial"/>
              </a:rPr>
              <a:t>3 Declining-balance</a:t>
            </a:r>
            <a:r>
              <a:rPr b="1" i="0" lang="en-US" sz="2200" u="none" cap="none" strike="noStrike">
                <a:solidFill>
                  <a:schemeClr val="dk1"/>
                </a:solidFill>
                <a:latin typeface="Arial"/>
                <a:ea typeface="Arial"/>
                <a:cs typeface="Arial"/>
                <a:sym typeface="Arial"/>
              </a:rPr>
              <a:t>.  Each method is acceptable under </a:t>
            </a:r>
            <a:r>
              <a:rPr b="1" i="0" lang="en-US" sz="2200" u="none" cap="none" strike="noStrike">
                <a:solidFill>
                  <a:srgbClr val="BC3700"/>
                </a:solidFill>
                <a:latin typeface="Arial"/>
                <a:ea typeface="Arial"/>
                <a:cs typeface="Arial"/>
                <a:sym typeface="Arial"/>
              </a:rPr>
              <a:t>generally accepted accounting principles</a:t>
            </a:r>
            <a:r>
              <a:rPr b="1" i="0" lang="en-US" sz="2200" u="none" cap="none" strike="noStrike">
                <a:solidFill>
                  <a:schemeClr val="dk1"/>
                </a:solidFill>
                <a:latin typeface="Arial"/>
                <a:ea typeface="Arial"/>
                <a:cs typeface="Arial"/>
                <a:sym typeface="Arial"/>
              </a:rPr>
              <a:t>.  Management selects the method that is appropriate in the circumstances.  Once a method is chosen, it should be applied </a:t>
            </a:r>
            <a:r>
              <a:rPr b="1" i="0" lang="en-US" sz="2200" u="none" cap="none" strike="noStrike">
                <a:solidFill>
                  <a:srgbClr val="BC3700"/>
                </a:solidFill>
                <a:latin typeface="Arial"/>
                <a:ea typeface="Arial"/>
                <a:cs typeface="Arial"/>
                <a:sym typeface="Arial"/>
              </a:rPr>
              <a:t>consistently</a:t>
            </a:r>
            <a:r>
              <a:rPr b="1" i="0" lang="en-US" sz="2200" u="none" cap="none" strike="noStrike">
                <a:solidFill>
                  <a:schemeClr val="dk1"/>
                </a:solidFill>
                <a:latin typeface="Arial"/>
                <a:ea typeface="Arial"/>
                <a:cs typeface="Arial"/>
                <a:sym typeface="Arial"/>
              </a:rPr>
              <a:t>.</a:t>
            </a:r>
            <a:endParaRPr/>
          </a:p>
        </p:txBody>
      </p:sp>
      <p:grpSp>
        <p:nvGrpSpPr>
          <p:cNvPr id="176" name="Google Shape;176;p22"/>
          <p:cNvGrpSpPr/>
          <p:nvPr/>
        </p:nvGrpSpPr>
        <p:grpSpPr>
          <a:xfrm>
            <a:off x="914400" y="3632200"/>
            <a:ext cx="7929562" cy="3683000"/>
            <a:chOff x="597" y="2276"/>
            <a:chExt cx="4995" cy="2320"/>
          </a:xfrm>
        </p:grpSpPr>
        <p:grpSp>
          <p:nvGrpSpPr>
            <p:cNvPr id="177" name="Google Shape;177;p22"/>
            <p:cNvGrpSpPr/>
            <p:nvPr/>
          </p:nvGrpSpPr>
          <p:grpSpPr>
            <a:xfrm>
              <a:off x="3300" y="2304"/>
              <a:ext cx="2292" cy="2292"/>
              <a:chOff x="3300" y="2304"/>
              <a:chExt cx="2292" cy="2292"/>
            </a:xfrm>
          </p:grpSpPr>
          <p:pic>
            <p:nvPicPr>
              <p:cNvPr id="178" name="Google Shape;178;p22"/>
              <p:cNvPicPr preferRelativeResize="0"/>
              <p:nvPr/>
            </p:nvPicPr>
            <p:blipFill rotWithShape="1">
              <a:blip r:embed="rId3">
                <a:alphaModFix/>
              </a:blip>
              <a:srcRect b="6901" l="21459" r="21608" t="7607"/>
              <a:stretch/>
            </p:blipFill>
            <p:spPr>
              <a:xfrm>
                <a:off x="3300" y="2304"/>
                <a:ext cx="2292" cy="2292"/>
              </a:xfrm>
              <a:prstGeom prst="rect">
                <a:avLst/>
              </a:prstGeom>
              <a:noFill/>
              <a:ln>
                <a:noFill/>
              </a:ln>
            </p:spPr>
          </p:pic>
          <p:sp>
            <p:nvSpPr>
              <p:cNvPr id="179" name="Google Shape;179;p22"/>
              <p:cNvSpPr txBox="1"/>
              <p:nvPr/>
            </p:nvSpPr>
            <p:spPr>
              <a:xfrm>
                <a:off x="3825" y="3573"/>
                <a:ext cx="1242" cy="516"/>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82% Straight-line</a:t>
                </a:r>
                <a:endParaRPr/>
              </a:p>
            </p:txBody>
          </p:sp>
        </p:grpSp>
        <p:sp>
          <p:nvSpPr>
            <p:cNvPr id="180" name="Google Shape;180;p22"/>
            <p:cNvSpPr txBox="1"/>
            <p:nvPr/>
          </p:nvSpPr>
          <p:spPr>
            <a:xfrm>
              <a:off x="597" y="2937"/>
              <a:ext cx="2106" cy="976"/>
            </a:xfrm>
            <a:prstGeom prst="rect">
              <a:avLst/>
            </a:prstGeom>
            <a:solidFill>
              <a:srgbClr val="FCD1C1"/>
            </a:solidFill>
            <a:ln>
              <a:noFill/>
            </a:ln>
            <a:effectLst>
              <a:outerShdw blurRad="63500" dir="2700000" dist="17960">
                <a:schemeClr val="dk1"/>
              </a:outerShdw>
            </a:effectLst>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4% Declining balance</a:t>
              </a:r>
              <a:endParaRPr/>
            </a:p>
            <a:p>
              <a:pPr indent="0" lvl="0" marL="0" marR="0" rtl="0" algn="l">
                <a:lnSpc>
                  <a:spcPct val="100000"/>
                </a:lnSpc>
                <a:spcBef>
                  <a:spcPts val="120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5% Units-of-activity</a:t>
              </a:r>
              <a:endParaRPr/>
            </a:p>
            <a:p>
              <a:pPr indent="0" lvl="0" marL="0" marR="0" rtl="0" algn="l">
                <a:lnSpc>
                  <a:spcPct val="100000"/>
                </a:lnSpc>
                <a:spcBef>
                  <a:spcPts val="120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9% Other</a:t>
              </a:r>
              <a:endParaRPr/>
            </a:p>
          </p:txBody>
        </p:sp>
        <p:grpSp>
          <p:nvGrpSpPr>
            <p:cNvPr id="181" name="Google Shape;181;p22"/>
            <p:cNvGrpSpPr/>
            <p:nvPr/>
          </p:nvGrpSpPr>
          <p:grpSpPr>
            <a:xfrm>
              <a:off x="2668" y="2276"/>
              <a:ext cx="1748" cy="824"/>
              <a:chOff x="2668" y="2276"/>
              <a:chExt cx="1748" cy="824"/>
            </a:xfrm>
          </p:grpSpPr>
          <p:pic>
            <p:nvPicPr>
              <p:cNvPr id="182" name="Google Shape;182;p22"/>
              <p:cNvPicPr preferRelativeResize="0"/>
              <p:nvPr/>
            </p:nvPicPr>
            <p:blipFill rotWithShape="1">
              <a:blip r:embed="rId4">
                <a:alphaModFix/>
              </a:blip>
              <a:srcRect b="16980" l="15093" r="16980" t="15093"/>
              <a:stretch/>
            </p:blipFill>
            <p:spPr>
              <a:xfrm>
                <a:off x="4272" y="2376"/>
                <a:ext cx="144" cy="144"/>
              </a:xfrm>
              <a:prstGeom prst="rect">
                <a:avLst/>
              </a:prstGeom>
              <a:noFill/>
              <a:ln>
                <a:noFill/>
              </a:ln>
            </p:spPr>
          </p:pic>
          <p:cxnSp>
            <p:nvCxnSpPr>
              <p:cNvPr id="183" name="Google Shape;183;p22"/>
              <p:cNvCxnSpPr/>
              <p:nvPr/>
            </p:nvCxnSpPr>
            <p:spPr>
              <a:xfrm>
                <a:off x="2668" y="3084"/>
                <a:ext cx="208" cy="0"/>
              </a:xfrm>
              <a:prstGeom prst="straightConnector1">
                <a:avLst/>
              </a:prstGeom>
              <a:noFill/>
              <a:ln cap="flat" cmpd="sng" w="50800">
                <a:solidFill>
                  <a:srgbClr val="FC0128"/>
                </a:solidFill>
                <a:prstDash val="solid"/>
                <a:miter lim="800000"/>
                <a:headEnd len="med" w="med" type="none"/>
                <a:tailEnd len="med" w="med" type="none"/>
              </a:ln>
            </p:spPr>
          </p:cxnSp>
          <p:cxnSp>
            <p:nvCxnSpPr>
              <p:cNvPr id="184" name="Google Shape;184;p22"/>
              <p:cNvCxnSpPr/>
              <p:nvPr/>
            </p:nvCxnSpPr>
            <p:spPr>
              <a:xfrm rot="10800000">
                <a:off x="4088" y="2276"/>
                <a:ext cx="260" cy="164"/>
              </a:xfrm>
              <a:prstGeom prst="straightConnector1">
                <a:avLst/>
              </a:prstGeom>
              <a:noFill/>
              <a:ln cap="flat" cmpd="sng" w="50800">
                <a:solidFill>
                  <a:srgbClr val="FC0128"/>
                </a:solidFill>
                <a:prstDash val="solid"/>
                <a:miter lim="800000"/>
                <a:headEnd len="med" w="med" type="none"/>
                <a:tailEnd len="med" w="med" type="none"/>
              </a:ln>
            </p:spPr>
          </p:cxnSp>
          <p:cxnSp>
            <p:nvCxnSpPr>
              <p:cNvPr id="185" name="Google Shape;185;p22"/>
              <p:cNvCxnSpPr/>
              <p:nvPr/>
            </p:nvCxnSpPr>
            <p:spPr>
              <a:xfrm flipH="1" rot="10800000">
                <a:off x="2896" y="2276"/>
                <a:ext cx="328" cy="824"/>
              </a:xfrm>
              <a:prstGeom prst="straightConnector1">
                <a:avLst/>
              </a:prstGeom>
              <a:noFill/>
              <a:ln cap="flat" cmpd="sng" w="50800">
                <a:solidFill>
                  <a:srgbClr val="FC0128"/>
                </a:solidFill>
                <a:prstDash val="solid"/>
                <a:miter lim="800000"/>
                <a:headEnd len="med" w="med" type="none"/>
                <a:tailEnd len="med" w="med" type="none"/>
              </a:ln>
            </p:spPr>
          </p:cxnSp>
          <p:cxnSp>
            <p:nvCxnSpPr>
              <p:cNvPr id="186" name="Google Shape;186;p22"/>
              <p:cNvCxnSpPr/>
              <p:nvPr/>
            </p:nvCxnSpPr>
            <p:spPr>
              <a:xfrm>
                <a:off x="3256" y="2304"/>
                <a:ext cx="868" cy="0"/>
              </a:xfrm>
              <a:prstGeom prst="straightConnector1">
                <a:avLst/>
              </a:prstGeom>
              <a:noFill/>
              <a:ln cap="flat" cmpd="sng" w="50800">
                <a:solidFill>
                  <a:srgbClr val="FC0128"/>
                </a:solidFill>
                <a:prstDash val="solid"/>
                <a:miter lim="800000"/>
                <a:headEnd len="med" w="med" type="none"/>
                <a:tailEnd len="med" w="med" type="none"/>
              </a:ln>
            </p:spPr>
          </p:cxnSp>
        </p:grpSp>
        <p:grpSp>
          <p:nvGrpSpPr>
            <p:cNvPr id="187" name="Google Shape;187;p22"/>
            <p:cNvGrpSpPr/>
            <p:nvPr/>
          </p:nvGrpSpPr>
          <p:grpSpPr>
            <a:xfrm>
              <a:off x="2500" y="2420"/>
              <a:ext cx="1592" cy="1040"/>
              <a:chOff x="2500" y="2420"/>
              <a:chExt cx="1592" cy="1040"/>
            </a:xfrm>
          </p:grpSpPr>
          <p:pic>
            <p:nvPicPr>
              <p:cNvPr id="188" name="Google Shape;188;p22"/>
              <p:cNvPicPr preferRelativeResize="0"/>
              <p:nvPr/>
            </p:nvPicPr>
            <p:blipFill rotWithShape="1">
              <a:blip r:embed="rId4">
                <a:alphaModFix/>
              </a:blip>
              <a:srcRect b="16980" l="15093" r="16980" t="15093"/>
              <a:stretch/>
            </p:blipFill>
            <p:spPr>
              <a:xfrm>
                <a:off x="3948" y="2496"/>
                <a:ext cx="144" cy="144"/>
              </a:xfrm>
              <a:prstGeom prst="rect">
                <a:avLst/>
              </a:prstGeom>
              <a:noFill/>
              <a:ln>
                <a:noFill/>
              </a:ln>
            </p:spPr>
          </p:pic>
          <p:cxnSp>
            <p:nvCxnSpPr>
              <p:cNvPr id="189" name="Google Shape;189;p22"/>
              <p:cNvCxnSpPr/>
              <p:nvPr/>
            </p:nvCxnSpPr>
            <p:spPr>
              <a:xfrm>
                <a:off x="2500" y="3444"/>
                <a:ext cx="388" cy="0"/>
              </a:xfrm>
              <a:prstGeom prst="straightConnector1">
                <a:avLst/>
              </a:prstGeom>
              <a:noFill/>
              <a:ln cap="flat" cmpd="sng" w="50800">
                <a:solidFill>
                  <a:srgbClr val="FC0128"/>
                </a:solidFill>
                <a:prstDash val="solid"/>
                <a:miter lim="800000"/>
                <a:headEnd len="med" w="med" type="none"/>
                <a:tailEnd len="med" w="med" type="none"/>
              </a:ln>
            </p:spPr>
          </p:cxnSp>
          <p:cxnSp>
            <p:nvCxnSpPr>
              <p:cNvPr id="190" name="Google Shape;190;p22"/>
              <p:cNvCxnSpPr/>
              <p:nvPr/>
            </p:nvCxnSpPr>
            <p:spPr>
              <a:xfrm rot="10800000">
                <a:off x="3320" y="2420"/>
                <a:ext cx="692" cy="128"/>
              </a:xfrm>
              <a:prstGeom prst="straightConnector1">
                <a:avLst/>
              </a:prstGeom>
              <a:noFill/>
              <a:ln cap="flat" cmpd="sng" w="50800">
                <a:solidFill>
                  <a:srgbClr val="FC0128"/>
                </a:solidFill>
                <a:prstDash val="solid"/>
                <a:miter lim="800000"/>
                <a:headEnd len="med" w="med" type="none"/>
                <a:tailEnd len="med" w="med" type="none"/>
              </a:ln>
            </p:spPr>
          </p:cxnSp>
          <p:cxnSp>
            <p:nvCxnSpPr>
              <p:cNvPr id="191" name="Google Shape;191;p22"/>
              <p:cNvCxnSpPr/>
              <p:nvPr/>
            </p:nvCxnSpPr>
            <p:spPr>
              <a:xfrm flipH="1" rot="10800000">
                <a:off x="2908" y="2420"/>
                <a:ext cx="424" cy="1040"/>
              </a:xfrm>
              <a:prstGeom prst="straightConnector1">
                <a:avLst/>
              </a:prstGeom>
              <a:noFill/>
              <a:ln cap="flat" cmpd="sng" w="50800">
                <a:solidFill>
                  <a:srgbClr val="FC0128"/>
                </a:solidFill>
                <a:prstDash val="solid"/>
                <a:miter lim="800000"/>
                <a:headEnd len="med" w="med" type="none"/>
                <a:tailEnd len="med" w="med" type="none"/>
              </a:ln>
            </p:spPr>
          </p:cxnSp>
        </p:grpSp>
        <p:grpSp>
          <p:nvGrpSpPr>
            <p:cNvPr id="192" name="Google Shape;192;p22"/>
            <p:cNvGrpSpPr/>
            <p:nvPr/>
          </p:nvGrpSpPr>
          <p:grpSpPr>
            <a:xfrm>
              <a:off x="1708" y="2880"/>
              <a:ext cx="2024" cy="904"/>
              <a:chOff x="1708" y="2880"/>
              <a:chExt cx="2024" cy="904"/>
            </a:xfrm>
          </p:grpSpPr>
          <p:pic>
            <p:nvPicPr>
              <p:cNvPr id="193" name="Google Shape;193;p22"/>
              <p:cNvPicPr preferRelativeResize="0"/>
              <p:nvPr/>
            </p:nvPicPr>
            <p:blipFill rotWithShape="1">
              <a:blip r:embed="rId4">
                <a:alphaModFix/>
              </a:blip>
              <a:srcRect b="16980" l="15093" r="16980" t="15093"/>
              <a:stretch/>
            </p:blipFill>
            <p:spPr>
              <a:xfrm>
                <a:off x="3588" y="2880"/>
                <a:ext cx="144" cy="144"/>
              </a:xfrm>
              <a:prstGeom prst="rect">
                <a:avLst/>
              </a:prstGeom>
              <a:noFill/>
              <a:ln>
                <a:noFill/>
              </a:ln>
            </p:spPr>
          </p:pic>
          <p:cxnSp>
            <p:nvCxnSpPr>
              <p:cNvPr id="194" name="Google Shape;194;p22"/>
              <p:cNvCxnSpPr/>
              <p:nvPr/>
            </p:nvCxnSpPr>
            <p:spPr>
              <a:xfrm>
                <a:off x="1708" y="3768"/>
                <a:ext cx="1324" cy="0"/>
              </a:xfrm>
              <a:prstGeom prst="straightConnector1">
                <a:avLst/>
              </a:prstGeom>
              <a:noFill/>
              <a:ln cap="flat" cmpd="sng" w="50800">
                <a:solidFill>
                  <a:srgbClr val="FC0128"/>
                </a:solidFill>
                <a:prstDash val="solid"/>
                <a:miter lim="800000"/>
                <a:headEnd len="med" w="med" type="none"/>
                <a:tailEnd len="med" w="med" type="none"/>
              </a:ln>
            </p:spPr>
          </p:cxnSp>
          <p:cxnSp>
            <p:nvCxnSpPr>
              <p:cNvPr id="195" name="Google Shape;195;p22"/>
              <p:cNvCxnSpPr/>
              <p:nvPr/>
            </p:nvCxnSpPr>
            <p:spPr>
              <a:xfrm rot="10800000">
                <a:off x="3260" y="2928"/>
                <a:ext cx="380" cy="0"/>
              </a:xfrm>
              <a:prstGeom prst="straightConnector1">
                <a:avLst/>
              </a:prstGeom>
              <a:noFill/>
              <a:ln cap="flat" cmpd="sng" w="50800">
                <a:solidFill>
                  <a:srgbClr val="FC0128"/>
                </a:solidFill>
                <a:prstDash val="solid"/>
                <a:miter lim="800000"/>
                <a:headEnd len="med" w="med" type="none"/>
                <a:tailEnd len="med" w="med" type="none"/>
              </a:ln>
            </p:spPr>
          </p:cxnSp>
          <p:cxnSp>
            <p:nvCxnSpPr>
              <p:cNvPr id="196" name="Google Shape;196;p22"/>
              <p:cNvCxnSpPr/>
              <p:nvPr/>
            </p:nvCxnSpPr>
            <p:spPr>
              <a:xfrm flipH="1" rot="10800000">
                <a:off x="3052" y="2912"/>
                <a:ext cx="220" cy="872"/>
              </a:xfrm>
              <a:prstGeom prst="straightConnector1">
                <a:avLst/>
              </a:prstGeom>
              <a:noFill/>
              <a:ln cap="flat" cmpd="sng" w="50800">
                <a:solidFill>
                  <a:srgbClr val="FC0128"/>
                </a:solidFill>
                <a:prstDash val="solid"/>
                <a:miter lim="800000"/>
                <a:headEnd len="med" w="med" type="none"/>
                <a:tailEnd len="med" w="med" type="none"/>
              </a:ln>
            </p:spPr>
          </p:cxnSp>
        </p:grp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 calcmode="lin" valueType="num">
                                      <p:cBhvr additive="base">
                                        <p:cTn dur="500"/>
                                        <p:tgtEl>
                                          <p:spTgt spid="17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anim calcmode="lin" valueType="num">
                                      <p:cBhvr additive="base">
                                        <p:cTn dur="500"/>
                                        <p:tgtEl>
                                          <p:spTgt spid="17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23"/>
          <p:cNvSpPr txBox="1"/>
          <p:nvPr>
            <p:ph type="title"/>
          </p:nvPr>
        </p:nvSpPr>
        <p:spPr>
          <a:xfrm>
            <a:off x="479425" y="565150"/>
            <a:ext cx="8642350" cy="917575"/>
          </a:xfrm>
          <a:prstGeom prst="rect">
            <a:avLst/>
          </a:prstGeom>
          <a:noFill/>
          <a:ln>
            <a:noFill/>
          </a:ln>
        </p:spPr>
        <p:txBody>
          <a:bodyPr anchorCtr="0" anchor="ctr" bIns="47600" lIns="96800" spcFirstLastPara="1" rIns="96800" wrap="square" tIns="47600">
            <a:noAutofit/>
          </a:bodyPr>
          <a:lstStyle/>
          <a:p>
            <a:pPr indent="0" lvl="0" marL="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DELIVERY TRUCK DATA</a:t>
            </a:r>
            <a:br>
              <a:rPr b="1" i="0" lang="en-US" sz="3200" u="none">
                <a:solidFill>
                  <a:srgbClr val="000099"/>
                </a:solidFill>
                <a:latin typeface="Arial Black"/>
                <a:ea typeface="Arial Black"/>
                <a:cs typeface="Arial Black"/>
                <a:sym typeface="Arial Black"/>
              </a:rPr>
            </a:br>
            <a:endParaRPr/>
          </a:p>
        </p:txBody>
      </p:sp>
      <p:sp>
        <p:nvSpPr>
          <p:cNvPr id="202" name="Google Shape;202;p23"/>
          <p:cNvSpPr txBox="1"/>
          <p:nvPr>
            <p:ph idx="1" type="body"/>
          </p:nvPr>
        </p:nvSpPr>
        <p:spPr>
          <a:xfrm>
            <a:off x="479425" y="1706562"/>
            <a:ext cx="8642350" cy="4827587"/>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chemeClr val="dk1"/>
              </a:buClr>
              <a:buSzPts val="2600"/>
              <a:buFont typeface="Arial"/>
              <a:buChar char="•"/>
            </a:pPr>
            <a:r>
              <a:rPr b="1" i="0" lang="en-US" sz="2600" u="none" cap="none" strike="noStrike">
                <a:solidFill>
                  <a:schemeClr val="dk1"/>
                </a:solidFill>
                <a:latin typeface="Arial"/>
                <a:ea typeface="Arial"/>
                <a:cs typeface="Arial"/>
                <a:sym typeface="Arial"/>
              </a:rPr>
              <a:t>Compare the three depreciation methods, using  the following data for a small delivery truck purchased by Barb’s Florists on January 1, 2005.</a:t>
            </a:r>
            <a:endParaRPr/>
          </a:p>
        </p:txBody>
      </p:sp>
      <p:sp>
        <p:nvSpPr>
          <p:cNvPr id="203" name="Google Shape;203;p23"/>
          <p:cNvSpPr/>
          <p:nvPr/>
        </p:nvSpPr>
        <p:spPr>
          <a:xfrm>
            <a:off x="762000" y="3505200"/>
            <a:ext cx="7848600" cy="2667000"/>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204" name="Google Shape;204;p23"/>
          <p:cNvPicPr preferRelativeResize="0"/>
          <p:nvPr/>
        </p:nvPicPr>
        <p:blipFill rotWithShape="1">
          <a:blip r:embed="rId3">
            <a:alphaModFix/>
          </a:blip>
          <a:srcRect b="51959" l="0" r="0" t="0"/>
          <a:stretch/>
        </p:blipFill>
        <p:spPr>
          <a:xfrm>
            <a:off x="1371600" y="4114800"/>
            <a:ext cx="6777037" cy="204628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p24"/>
          <p:cNvSpPr txBox="1"/>
          <p:nvPr>
            <p:ph idx="1" type="body"/>
          </p:nvPr>
        </p:nvSpPr>
        <p:spPr>
          <a:xfrm>
            <a:off x="719137" y="1947862"/>
            <a:ext cx="8159750" cy="4910137"/>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3200"/>
              <a:buFont typeface="Times New Roman"/>
              <a:buChar char="•"/>
            </a:pPr>
            <a:r>
              <a:rPr b="1" i="0" lang="en-US" sz="3200" u="none" cap="none" strike="noStrike">
                <a:solidFill>
                  <a:srgbClr val="BC3700"/>
                </a:solidFill>
                <a:latin typeface="Times New Roman"/>
                <a:ea typeface="Times New Roman"/>
                <a:cs typeface="Times New Roman"/>
                <a:sym typeface="Times New Roman"/>
              </a:rPr>
              <a:t>Straight-line method</a:t>
            </a:r>
            <a:endParaRPr/>
          </a:p>
          <a:p>
            <a:pPr indent="-303212" lvl="1" marL="785812"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Depreciation is the same for each year of the asset’s useful life.</a:t>
            </a:r>
            <a:endParaRPr/>
          </a:p>
          <a:p>
            <a:pPr indent="-303212" lvl="1" marL="785812"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It is measured solely by the passage of time.</a:t>
            </a:r>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It is necessary to determine </a:t>
            </a:r>
            <a:r>
              <a:rPr b="1" i="0" lang="en-US" sz="3200" u="none" cap="none" strike="noStrike">
                <a:solidFill>
                  <a:srgbClr val="BC3700"/>
                </a:solidFill>
                <a:latin typeface="Times New Roman"/>
                <a:ea typeface="Times New Roman"/>
                <a:cs typeface="Times New Roman"/>
                <a:sym typeface="Times New Roman"/>
              </a:rPr>
              <a:t>depreciable cost</a:t>
            </a:r>
            <a:r>
              <a:rPr b="1" i="0" lang="en-US" sz="3200" u="none" cap="none" strike="noStrike">
                <a:solidFill>
                  <a:schemeClr val="dk1"/>
                </a:solidFill>
                <a:latin typeface="Times New Roman"/>
                <a:ea typeface="Times New Roman"/>
                <a:cs typeface="Times New Roman"/>
                <a:sym typeface="Times New Roman"/>
              </a:rPr>
              <a:t>.</a:t>
            </a:r>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Depreciable cost</a:t>
            </a:r>
            <a:endParaRPr/>
          </a:p>
          <a:p>
            <a:pPr indent="-303212" lvl="1" marL="785812"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total amount subject to depreciation and is computed as follows:</a:t>
            </a:r>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Cost of asset - salvage value</a:t>
            </a:r>
            <a:endParaRPr/>
          </a:p>
        </p:txBody>
      </p:sp>
      <p:sp>
        <p:nvSpPr>
          <p:cNvPr id="210" name="Google Shape;210;p24"/>
          <p:cNvSpPr txBox="1"/>
          <p:nvPr/>
        </p:nvSpPr>
        <p:spPr>
          <a:xfrm>
            <a:off x="1735137" y="438150"/>
            <a:ext cx="611187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STRAIGHT-LINE</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 calcmode="lin" valueType="num">
                                      <p:cBhvr additive="base">
                                        <p:cTn dur="500"/>
                                        <p:tgtEl>
                                          <p:spTgt spid="20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anim calcmode="lin" valueType="num">
                                      <p:cBhvr additive="base">
                                        <p:cTn dur="500"/>
                                        <p:tgtEl>
                                          <p:spTgt spid="20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anim calcmode="lin" valueType="num">
                                      <p:cBhvr additive="base">
                                        <p:cTn dur="500"/>
                                        <p:tgtEl>
                                          <p:spTgt spid="209">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anim calcmode="lin" valueType="num">
                                      <p:cBhvr additive="base">
                                        <p:cTn dur="500"/>
                                        <p:tgtEl>
                                          <p:spTgt spid="209">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anim calcmode="lin" valueType="num">
                                      <p:cBhvr additive="base">
                                        <p:cTn dur="500"/>
                                        <p:tgtEl>
                                          <p:spTgt spid="209">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9">
                                            <p:txEl>
                                              <p:pRg end="5" st="5"/>
                                            </p:txEl>
                                          </p:spTgt>
                                        </p:tgtEl>
                                        <p:attrNameLst>
                                          <p:attrName>style.visibility</p:attrName>
                                        </p:attrNameLst>
                                      </p:cBhvr>
                                      <p:to>
                                        <p:strVal val="visible"/>
                                      </p:to>
                                    </p:set>
                                    <p:anim calcmode="lin" valueType="num">
                                      <p:cBhvr additive="base">
                                        <p:cTn dur="500"/>
                                        <p:tgtEl>
                                          <p:spTgt spid="209">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9">
                                            <p:txEl>
                                              <p:pRg end="6" st="6"/>
                                            </p:txEl>
                                          </p:spTgt>
                                        </p:tgtEl>
                                        <p:attrNameLst>
                                          <p:attrName>style.visibility</p:attrName>
                                        </p:attrNameLst>
                                      </p:cBhvr>
                                      <p:to>
                                        <p:strVal val="visible"/>
                                      </p:to>
                                    </p:set>
                                    <p:anim calcmode="lin" valueType="num">
                                      <p:cBhvr additive="base">
                                        <p:cTn dur="500"/>
                                        <p:tgtEl>
                                          <p:spTgt spid="209">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p25"/>
          <p:cNvSpPr txBox="1"/>
          <p:nvPr/>
        </p:nvSpPr>
        <p:spPr>
          <a:xfrm>
            <a:off x="858837" y="387350"/>
            <a:ext cx="788352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FORMULA FOR STRAIGHT-LINE METHOD</a:t>
            </a:r>
            <a:endParaRPr/>
          </a:p>
        </p:txBody>
      </p:sp>
      <p:sp>
        <p:nvSpPr>
          <p:cNvPr id="216" name="Google Shape;216;p25"/>
          <p:cNvSpPr txBox="1"/>
          <p:nvPr>
            <p:ph idx="1" type="body"/>
          </p:nvPr>
        </p:nvSpPr>
        <p:spPr>
          <a:xfrm>
            <a:off x="923925" y="1833562"/>
            <a:ext cx="7839075" cy="776287"/>
          </a:xfrm>
          <a:prstGeom prst="rect">
            <a:avLst/>
          </a:prstGeom>
          <a:solidFill>
            <a:srgbClr val="FCD1C1"/>
          </a:solidFill>
          <a:ln>
            <a:noFill/>
          </a:ln>
          <a:effectLst>
            <a:outerShdw blurRad="63500" dir="2700000" dist="35921">
              <a:srgbClr val="808080"/>
            </a:outerShdw>
          </a:effectLst>
        </p:spPr>
        <p:txBody>
          <a:bodyPr anchorCtr="0" anchor="t" bIns="47600" lIns="96800" spcFirstLastPara="1" rIns="96800" wrap="square" tIns="47600">
            <a:noAutofit/>
          </a:bodyPr>
          <a:lstStyle/>
          <a:p>
            <a:pPr indent="-361950" lvl="0" marL="361950" marR="0" rtl="0" algn="ctr">
              <a:lnSpc>
                <a:spcPct val="100000"/>
              </a:lnSpc>
              <a:spcBef>
                <a:spcPts val="0"/>
              </a:spcBef>
              <a:spcAft>
                <a:spcPts val="0"/>
              </a:spcAft>
              <a:buClr>
                <a:schemeClr val="dk1"/>
              </a:buClr>
              <a:buSzPts val="1900"/>
              <a:buFont typeface="Arial"/>
              <a:buNone/>
            </a:pPr>
            <a:r>
              <a:rPr b="1" i="0" lang="en-US" sz="1900" u="none" cap="none" strike="noStrike">
                <a:solidFill>
                  <a:schemeClr val="dk1"/>
                </a:solidFill>
                <a:latin typeface="Arial"/>
                <a:ea typeface="Arial"/>
                <a:cs typeface="Arial"/>
                <a:sym typeface="Arial"/>
              </a:rPr>
              <a:t>The formula for computing annual depreciation expense is:</a:t>
            </a:r>
            <a:endParaRPr/>
          </a:p>
          <a:p>
            <a:pPr indent="-361950" lvl="0" marL="361950" marR="0" rtl="0" algn="ctr">
              <a:lnSpc>
                <a:spcPct val="100000"/>
              </a:lnSpc>
              <a:spcBef>
                <a:spcPts val="380"/>
              </a:spcBef>
              <a:spcAft>
                <a:spcPts val="0"/>
              </a:spcAft>
              <a:buClr>
                <a:srgbClr val="BC3700"/>
              </a:buClr>
              <a:buSzPts val="1900"/>
              <a:buFont typeface="Arial"/>
              <a:buNone/>
            </a:pPr>
            <a:r>
              <a:rPr b="1" i="0" lang="en-US" sz="1900" u="none" cap="none" strike="noStrike">
                <a:solidFill>
                  <a:srgbClr val="BC3700"/>
                </a:solidFill>
                <a:latin typeface="Arial"/>
                <a:ea typeface="Arial"/>
                <a:cs typeface="Arial"/>
                <a:sym typeface="Arial"/>
              </a:rPr>
              <a:t>Depreciable Cost / Useful Life (in years) = Depreciation Expense</a:t>
            </a:r>
            <a:endParaRPr/>
          </a:p>
        </p:txBody>
      </p:sp>
      <p:grpSp>
        <p:nvGrpSpPr>
          <p:cNvPr id="217" name="Google Shape;217;p25"/>
          <p:cNvGrpSpPr/>
          <p:nvPr/>
        </p:nvGrpSpPr>
        <p:grpSpPr>
          <a:xfrm>
            <a:off x="914400" y="2819400"/>
            <a:ext cx="1519237" cy="1203325"/>
            <a:chOff x="563" y="1758"/>
            <a:chExt cx="957" cy="758"/>
          </a:xfrm>
        </p:grpSpPr>
        <p:sp>
          <p:nvSpPr>
            <p:cNvPr id="218" name="Google Shape;218;p25"/>
            <p:cNvSpPr/>
            <p:nvPr/>
          </p:nvSpPr>
          <p:spPr>
            <a:xfrm>
              <a:off x="563" y="1758"/>
              <a:ext cx="957" cy="758"/>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9" name="Google Shape;219;p25"/>
            <p:cNvSpPr txBox="1"/>
            <p:nvPr/>
          </p:nvSpPr>
          <p:spPr>
            <a:xfrm>
              <a:off x="842" y="2021"/>
              <a:ext cx="398" cy="210"/>
            </a:xfrm>
            <a:prstGeom prst="rect">
              <a:avLst/>
            </a:prstGeom>
            <a:solidFill>
              <a:srgbClr val="FFFF99"/>
            </a:solid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Cost</a:t>
              </a:r>
              <a:endParaRPr/>
            </a:p>
          </p:txBody>
        </p:sp>
      </p:grpSp>
      <p:grpSp>
        <p:nvGrpSpPr>
          <p:cNvPr id="220" name="Google Shape;220;p25"/>
          <p:cNvGrpSpPr/>
          <p:nvPr/>
        </p:nvGrpSpPr>
        <p:grpSpPr>
          <a:xfrm>
            <a:off x="4051300" y="2784475"/>
            <a:ext cx="1519237" cy="1203325"/>
            <a:chOff x="2552" y="1754"/>
            <a:chExt cx="957" cy="758"/>
          </a:xfrm>
        </p:grpSpPr>
        <p:sp>
          <p:nvSpPr>
            <p:cNvPr id="221" name="Google Shape;221;p25"/>
            <p:cNvSpPr/>
            <p:nvPr/>
          </p:nvSpPr>
          <p:spPr>
            <a:xfrm>
              <a:off x="2552" y="1754"/>
              <a:ext cx="957" cy="758"/>
            </a:xfrm>
            <a:prstGeom prst="rect">
              <a:avLst/>
            </a:prstGeom>
            <a:solidFill>
              <a:srgbClr val="A2C1FE"/>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2" name="Google Shape;222;p25"/>
            <p:cNvSpPr txBox="1"/>
            <p:nvPr/>
          </p:nvSpPr>
          <p:spPr>
            <a:xfrm>
              <a:off x="2711" y="1941"/>
              <a:ext cx="641" cy="372"/>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Salvage </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Value</a:t>
              </a:r>
              <a:endParaRPr/>
            </a:p>
          </p:txBody>
        </p:sp>
      </p:grpSp>
      <p:grpSp>
        <p:nvGrpSpPr>
          <p:cNvPr id="223" name="Google Shape;223;p25"/>
          <p:cNvGrpSpPr/>
          <p:nvPr/>
        </p:nvGrpSpPr>
        <p:grpSpPr>
          <a:xfrm>
            <a:off x="7185025" y="2800350"/>
            <a:ext cx="1519237" cy="1203325"/>
            <a:chOff x="4526" y="1764"/>
            <a:chExt cx="957" cy="758"/>
          </a:xfrm>
        </p:grpSpPr>
        <p:sp>
          <p:nvSpPr>
            <p:cNvPr id="224" name="Google Shape;224;p25"/>
            <p:cNvSpPr/>
            <p:nvPr/>
          </p:nvSpPr>
          <p:spPr>
            <a:xfrm>
              <a:off x="4526" y="1764"/>
              <a:ext cx="957" cy="758"/>
            </a:xfrm>
            <a:prstGeom prst="rect">
              <a:avLst/>
            </a:prstGeom>
            <a:solidFill>
              <a:srgbClr val="FDE3BA"/>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5" name="Google Shape;225;p25"/>
            <p:cNvSpPr txBox="1"/>
            <p:nvPr/>
          </p:nvSpPr>
          <p:spPr>
            <a:xfrm>
              <a:off x="4575" y="1943"/>
              <a:ext cx="847" cy="372"/>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Depreciable</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Cost</a:t>
              </a:r>
              <a:endParaRPr/>
            </a:p>
          </p:txBody>
        </p:sp>
      </p:grpSp>
      <p:grpSp>
        <p:nvGrpSpPr>
          <p:cNvPr id="226" name="Google Shape;226;p25"/>
          <p:cNvGrpSpPr/>
          <p:nvPr/>
        </p:nvGrpSpPr>
        <p:grpSpPr>
          <a:xfrm>
            <a:off x="4046537" y="5318125"/>
            <a:ext cx="1527175" cy="1203325"/>
            <a:chOff x="2549" y="3350"/>
            <a:chExt cx="962" cy="758"/>
          </a:xfrm>
        </p:grpSpPr>
        <p:sp>
          <p:nvSpPr>
            <p:cNvPr id="227" name="Google Shape;227;p25"/>
            <p:cNvSpPr/>
            <p:nvPr/>
          </p:nvSpPr>
          <p:spPr>
            <a:xfrm>
              <a:off x="2552" y="3350"/>
              <a:ext cx="957" cy="758"/>
            </a:xfrm>
            <a:prstGeom prst="rect">
              <a:avLst/>
            </a:prstGeom>
            <a:solidFill>
              <a:srgbClr val="CCFFCC"/>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8" name="Google Shape;228;p25"/>
            <p:cNvSpPr txBox="1"/>
            <p:nvPr/>
          </p:nvSpPr>
          <p:spPr>
            <a:xfrm>
              <a:off x="2549" y="3539"/>
              <a:ext cx="962" cy="364"/>
            </a:xfrm>
            <a:prstGeom prst="rect">
              <a:avLst/>
            </a:prstGeom>
            <a:solidFill>
              <a:srgbClr val="CCFFCC"/>
            </a:solid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Useful</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Life (in Years)</a:t>
              </a:r>
              <a:endParaRPr/>
            </a:p>
          </p:txBody>
        </p:sp>
      </p:grpSp>
      <p:grpSp>
        <p:nvGrpSpPr>
          <p:cNvPr id="229" name="Google Shape;229;p25"/>
          <p:cNvGrpSpPr/>
          <p:nvPr/>
        </p:nvGrpSpPr>
        <p:grpSpPr>
          <a:xfrm>
            <a:off x="7239000" y="5334000"/>
            <a:ext cx="1525587" cy="1203325"/>
            <a:chOff x="4526" y="3360"/>
            <a:chExt cx="961" cy="758"/>
          </a:xfrm>
        </p:grpSpPr>
        <p:sp>
          <p:nvSpPr>
            <p:cNvPr id="230" name="Google Shape;230;p25"/>
            <p:cNvSpPr/>
            <p:nvPr/>
          </p:nvSpPr>
          <p:spPr>
            <a:xfrm>
              <a:off x="4526" y="3360"/>
              <a:ext cx="957" cy="758"/>
            </a:xfrm>
            <a:prstGeom prst="rect">
              <a:avLst/>
            </a:prstGeom>
            <a:solidFill>
              <a:srgbClr val="8CF4EA"/>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1" name="Google Shape;231;p25"/>
            <p:cNvSpPr txBox="1"/>
            <p:nvPr/>
          </p:nvSpPr>
          <p:spPr>
            <a:xfrm>
              <a:off x="4545" y="3539"/>
              <a:ext cx="942" cy="518"/>
            </a:xfrm>
            <a:prstGeom prst="rect">
              <a:avLst/>
            </a:prstGeom>
            <a:solidFill>
              <a:srgbClr val="8CF4EA"/>
            </a:solid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Annual Depreciation Expense</a:t>
              </a:r>
              <a:endParaRPr/>
            </a:p>
          </p:txBody>
        </p:sp>
      </p:grpSp>
      <p:cxnSp>
        <p:nvCxnSpPr>
          <p:cNvPr id="232" name="Google Shape;232;p25"/>
          <p:cNvCxnSpPr/>
          <p:nvPr/>
        </p:nvCxnSpPr>
        <p:spPr>
          <a:xfrm>
            <a:off x="2844800" y="3392487"/>
            <a:ext cx="787400" cy="0"/>
          </a:xfrm>
          <a:prstGeom prst="straightConnector1">
            <a:avLst/>
          </a:prstGeom>
          <a:noFill/>
          <a:ln cap="flat" cmpd="sng" w="50800">
            <a:solidFill>
              <a:schemeClr val="dk1"/>
            </a:solidFill>
            <a:prstDash val="solid"/>
            <a:miter lim="800000"/>
            <a:headEnd len="med" w="med" type="none"/>
            <a:tailEnd len="med" w="med" type="none"/>
          </a:ln>
        </p:spPr>
      </p:cxnSp>
      <p:grpSp>
        <p:nvGrpSpPr>
          <p:cNvPr id="233" name="Google Shape;233;p25"/>
          <p:cNvGrpSpPr/>
          <p:nvPr/>
        </p:nvGrpSpPr>
        <p:grpSpPr>
          <a:xfrm>
            <a:off x="5969000" y="3316287"/>
            <a:ext cx="787400" cy="152400"/>
            <a:chOff x="3760" y="2088"/>
            <a:chExt cx="496" cy="96"/>
          </a:xfrm>
        </p:grpSpPr>
        <p:cxnSp>
          <p:nvCxnSpPr>
            <p:cNvPr id="234" name="Google Shape;234;p25"/>
            <p:cNvCxnSpPr/>
            <p:nvPr/>
          </p:nvCxnSpPr>
          <p:spPr>
            <a:xfrm>
              <a:off x="3760" y="2088"/>
              <a:ext cx="496" cy="0"/>
            </a:xfrm>
            <a:prstGeom prst="straightConnector1">
              <a:avLst/>
            </a:prstGeom>
            <a:noFill/>
            <a:ln cap="flat" cmpd="sng" w="50800">
              <a:solidFill>
                <a:schemeClr val="dk1"/>
              </a:solidFill>
              <a:prstDash val="solid"/>
              <a:miter lim="800000"/>
              <a:headEnd len="med" w="med" type="none"/>
              <a:tailEnd len="med" w="med" type="none"/>
            </a:ln>
          </p:spPr>
        </p:cxnSp>
        <p:cxnSp>
          <p:nvCxnSpPr>
            <p:cNvPr id="235" name="Google Shape;235;p25"/>
            <p:cNvCxnSpPr/>
            <p:nvPr/>
          </p:nvCxnSpPr>
          <p:spPr>
            <a:xfrm>
              <a:off x="3760" y="2184"/>
              <a:ext cx="496" cy="0"/>
            </a:xfrm>
            <a:prstGeom prst="straightConnector1">
              <a:avLst/>
            </a:prstGeom>
            <a:noFill/>
            <a:ln cap="flat" cmpd="sng" w="50800">
              <a:solidFill>
                <a:schemeClr val="dk1"/>
              </a:solidFill>
              <a:prstDash val="solid"/>
              <a:miter lim="800000"/>
              <a:headEnd len="med" w="med" type="none"/>
              <a:tailEnd len="med" w="med" type="none"/>
            </a:ln>
          </p:spPr>
        </p:cxnSp>
      </p:grpSp>
      <p:grpSp>
        <p:nvGrpSpPr>
          <p:cNvPr id="236" name="Google Shape;236;p25"/>
          <p:cNvGrpSpPr/>
          <p:nvPr/>
        </p:nvGrpSpPr>
        <p:grpSpPr>
          <a:xfrm>
            <a:off x="5969000" y="5848350"/>
            <a:ext cx="787400" cy="152400"/>
            <a:chOff x="3760" y="3684"/>
            <a:chExt cx="496" cy="96"/>
          </a:xfrm>
        </p:grpSpPr>
        <p:cxnSp>
          <p:nvCxnSpPr>
            <p:cNvPr id="237" name="Google Shape;237;p25"/>
            <p:cNvCxnSpPr/>
            <p:nvPr/>
          </p:nvCxnSpPr>
          <p:spPr>
            <a:xfrm>
              <a:off x="3760" y="3684"/>
              <a:ext cx="496" cy="0"/>
            </a:xfrm>
            <a:prstGeom prst="straightConnector1">
              <a:avLst/>
            </a:prstGeom>
            <a:noFill/>
            <a:ln cap="flat" cmpd="sng" w="50800">
              <a:solidFill>
                <a:schemeClr val="dk1"/>
              </a:solidFill>
              <a:prstDash val="solid"/>
              <a:miter lim="800000"/>
              <a:headEnd len="med" w="med" type="none"/>
              <a:tailEnd len="med" w="med" type="none"/>
            </a:ln>
          </p:spPr>
        </p:cxnSp>
        <p:cxnSp>
          <p:nvCxnSpPr>
            <p:cNvPr id="238" name="Google Shape;238;p25"/>
            <p:cNvCxnSpPr/>
            <p:nvPr/>
          </p:nvCxnSpPr>
          <p:spPr>
            <a:xfrm>
              <a:off x="3760" y="3780"/>
              <a:ext cx="496" cy="0"/>
            </a:xfrm>
            <a:prstGeom prst="straightConnector1">
              <a:avLst/>
            </a:prstGeom>
            <a:noFill/>
            <a:ln cap="flat" cmpd="sng" w="50800">
              <a:solidFill>
                <a:schemeClr val="dk1"/>
              </a:solidFill>
              <a:prstDash val="solid"/>
              <a:miter lim="800000"/>
              <a:headEnd len="med" w="med" type="none"/>
              <a:tailEnd len="med" w="med" type="none"/>
            </a:ln>
          </p:spPr>
        </p:cxnSp>
      </p:grpSp>
      <p:grpSp>
        <p:nvGrpSpPr>
          <p:cNvPr id="239" name="Google Shape;239;p25"/>
          <p:cNvGrpSpPr/>
          <p:nvPr/>
        </p:nvGrpSpPr>
        <p:grpSpPr>
          <a:xfrm>
            <a:off x="893762" y="5324475"/>
            <a:ext cx="1519237" cy="1203325"/>
            <a:chOff x="563" y="3354"/>
            <a:chExt cx="957" cy="758"/>
          </a:xfrm>
        </p:grpSpPr>
        <p:sp>
          <p:nvSpPr>
            <p:cNvPr id="240" name="Google Shape;240;p25"/>
            <p:cNvSpPr/>
            <p:nvPr/>
          </p:nvSpPr>
          <p:spPr>
            <a:xfrm>
              <a:off x="563" y="3354"/>
              <a:ext cx="957" cy="758"/>
            </a:xfrm>
            <a:prstGeom prst="rect">
              <a:avLst/>
            </a:prstGeom>
            <a:solidFill>
              <a:srgbClr val="FDE3BA"/>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1" name="Google Shape;241;p25"/>
            <p:cNvSpPr txBox="1"/>
            <p:nvPr/>
          </p:nvSpPr>
          <p:spPr>
            <a:xfrm>
              <a:off x="615" y="3539"/>
              <a:ext cx="847" cy="372"/>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Depreciable</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Cost</a:t>
              </a:r>
              <a:endParaRPr/>
            </a:p>
          </p:txBody>
        </p:sp>
      </p:grpSp>
      <p:grpSp>
        <p:nvGrpSpPr>
          <p:cNvPr id="242" name="Google Shape;242;p25"/>
          <p:cNvGrpSpPr/>
          <p:nvPr/>
        </p:nvGrpSpPr>
        <p:grpSpPr>
          <a:xfrm>
            <a:off x="2844800" y="5638800"/>
            <a:ext cx="787400" cy="565150"/>
            <a:chOff x="1792" y="3552"/>
            <a:chExt cx="496" cy="356"/>
          </a:xfrm>
        </p:grpSpPr>
        <p:cxnSp>
          <p:nvCxnSpPr>
            <p:cNvPr id="243" name="Google Shape;243;p25"/>
            <p:cNvCxnSpPr/>
            <p:nvPr/>
          </p:nvCxnSpPr>
          <p:spPr>
            <a:xfrm>
              <a:off x="1792" y="3732"/>
              <a:ext cx="496" cy="0"/>
            </a:xfrm>
            <a:prstGeom prst="straightConnector1">
              <a:avLst/>
            </a:prstGeom>
            <a:noFill/>
            <a:ln cap="flat" cmpd="sng" w="50800">
              <a:solidFill>
                <a:schemeClr val="dk1"/>
              </a:solidFill>
              <a:prstDash val="solid"/>
              <a:miter lim="800000"/>
              <a:headEnd len="med" w="med" type="none"/>
              <a:tailEnd len="med" w="med" type="none"/>
            </a:ln>
          </p:spPr>
        </p:cxnSp>
        <p:pic>
          <p:nvPicPr>
            <p:cNvPr id="244" name="Google Shape;244;p25"/>
            <p:cNvPicPr preferRelativeResize="0"/>
            <p:nvPr/>
          </p:nvPicPr>
          <p:blipFill rotWithShape="1">
            <a:blip r:embed="rId3">
              <a:alphaModFix/>
            </a:blip>
            <a:srcRect b="0" l="0" r="97590" t="0"/>
            <a:stretch/>
          </p:blipFill>
          <p:spPr>
            <a:xfrm>
              <a:off x="1944" y="3552"/>
              <a:ext cx="192" cy="176"/>
            </a:xfrm>
            <a:prstGeom prst="rect">
              <a:avLst/>
            </a:prstGeom>
            <a:noFill/>
            <a:ln>
              <a:noFill/>
            </a:ln>
          </p:spPr>
        </p:pic>
        <p:pic>
          <p:nvPicPr>
            <p:cNvPr id="245" name="Google Shape;245;p25"/>
            <p:cNvPicPr preferRelativeResize="0"/>
            <p:nvPr/>
          </p:nvPicPr>
          <p:blipFill rotWithShape="1">
            <a:blip r:embed="rId3">
              <a:alphaModFix/>
            </a:blip>
            <a:srcRect b="0" l="0" r="97590" t="0"/>
            <a:stretch/>
          </p:blipFill>
          <p:spPr>
            <a:xfrm>
              <a:off x="1944" y="3732"/>
              <a:ext cx="192" cy="176"/>
            </a:xfrm>
            <a:prstGeom prst="rect">
              <a:avLst/>
            </a:prstGeom>
            <a:noFill/>
            <a:ln>
              <a:noFill/>
            </a:ln>
          </p:spPr>
        </p:pic>
      </p:grpSp>
      <p:sp>
        <p:nvSpPr>
          <p:cNvPr id="246" name="Google Shape;246;p25"/>
          <p:cNvSpPr txBox="1"/>
          <p:nvPr/>
        </p:nvSpPr>
        <p:spPr>
          <a:xfrm>
            <a:off x="795337" y="4071937"/>
            <a:ext cx="8048625" cy="650875"/>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$13,000     -      $1,000     =     $12,000</a:t>
            </a:r>
            <a:endParaRPr/>
          </a:p>
        </p:txBody>
      </p:sp>
      <p:sp>
        <p:nvSpPr>
          <p:cNvPr id="247" name="Google Shape;247;p25"/>
          <p:cNvSpPr txBox="1"/>
          <p:nvPr/>
        </p:nvSpPr>
        <p:spPr>
          <a:xfrm>
            <a:off x="795337" y="6586537"/>
            <a:ext cx="8048625" cy="650875"/>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$12,000     ÷          5          =      $2,400</a:t>
            </a:r>
            <a:endParaRPr/>
          </a:p>
        </p:txBody>
      </p:sp>
      <p:grpSp>
        <p:nvGrpSpPr>
          <p:cNvPr id="248" name="Google Shape;248;p25"/>
          <p:cNvGrpSpPr/>
          <p:nvPr/>
        </p:nvGrpSpPr>
        <p:grpSpPr>
          <a:xfrm>
            <a:off x="1631950" y="4673600"/>
            <a:ext cx="6261100" cy="577850"/>
            <a:chOff x="1028" y="2944"/>
            <a:chExt cx="3944" cy="364"/>
          </a:xfrm>
        </p:grpSpPr>
        <p:cxnSp>
          <p:nvCxnSpPr>
            <p:cNvPr id="249" name="Google Shape;249;p25"/>
            <p:cNvCxnSpPr/>
            <p:nvPr/>
          </p:nvCxnSpPr>
          <p:spPr>
            <a:xfrm>
              <a:off x="4944" y="2944"/>
              <a:ext cx="0" cy="88"/>
            </a:xfrm>
            <a:prstGeom prst="straightConnector1">
              <a:avLst/>
            </a:prstGeom>
            <a:noFill/>
            <a:ln cap="flat" cmpd="sng" w="50800">
              <a:solidFill>
                <a:srgbClr val="BC3700"/>
              </a:solidFill>
              <a:prstDash val="solid"/>
              <a:miter lim="800000"/>
              <a:headEnd len="med" w="med" type="none"/>
              <a:tailEnd len="med" w="med" type="none"/>
            </a:ln>
          </p:spPr>
        </p:cxnSp>
        <p:cxnSp>
          <p:nvCxnSpPr>
            <p:cNvPr id="250" name="Google Shape;250;p25"/>
            <p:cNvCxnSpPr/>
            <p:nvPr/>
          </p:nvCxnSpPr>
          <p:spPr>
            <a:xfrm>
              <a:off x="1044" y="3040"/>
              <a:ext cx="0" cy="268"/>
            </a:xfrm>
            <a:prstGeom prst="straightConnector1">
              <a:avLst/>
            </a:prstGeom>
            <a:noFill/>
            <a:ln cap="flat" cmpd="sng" w="50800">
              <a:solidFill>
                <a:srgbClr val="BC3700"/>
              </a:solidFill>
              <a:prstDash val="solid"/>
              <a:miter lim="800000"/>
              <a:headEnd len="med" w="med" type="none"/>
              <a:tailEnd len="med" w="med" type="triangle"/>
            </a:ln>
          </p:spPr>
        </p:cxnSp>
        <p:cxnSp>
          <p:nvCxnSpPr>
            <p:cNvPr id="251" name="Google Shape;251;p25"/>
            <p:cNvCxnSpPr/>
            <p:nvPr/>
          </p:nvCxnSpPr>
          <p:spPr>
            <a:xfrm rot="10800000">
              <a:off x="1028" y="3036"/>
              <a:ext cx="3944" cy="0"/>
            </a:xfrm>
            <a:prstGeom prst="straightConnector1">
              <a:avLst/>
            </a:prstGeom>
            <a:noFill/>
            <a:ln cap="flat" cmpd="sng" w="50800">
              <a:solidFill>
                <a:srgbClr val="BC3700"/>
              </a:solidFill>
              <a:prstDash val="solid"/>
              <a:miter lim="800000"/>
              <a:headEnd len="med" w="med" type="none"/>
              <a:tailEnd len="med" w="med" type="none"/>
            </a:ln>
          </p:spPr>
        </p:cxn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anim calcmode="lin" valueType="num">
                                      <p:cBhvr additive="base">
                                        <p:cTn dur="500"/>
                                        <p:tgtEl>
                                          <p:spTgt spid="21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anim calcmode="lin" valueType="num">
                                      <p:cBhvr additive="base">
                                        <p:cTn dur="500"/>
                                        <p:tgtEl>
                                          <p:spTgt spid="21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 name="Shape 255"/>
        <p:cNvGrpSpPr/>
        <p:nvPr/>
      </p:nvGrpSpPr>
      <p:grpSpPr>
        <a:xfrm>
          <a:off x="0" y="0"/>
          <a:ext cx="0" cy="0"/>
          <a:chOff x="0" y="0"/>
          <a:chExt cx="0" cy="0"/>
        </a:xfrm>
      </p:grpSpPr>
      <p:sp>
        <p:nvSpPr>
          <p:cNvPr id="256" name="Google Shape;256;p26"/>
          <p:cNvSpPr txBox="1"/>
          <p:nvPr>
            <p:ph idx="1" type="body"/>
          </p:nvPr>
        </p:nvSpPr>
        <p:spPr>
          <a:xfrm>
            <a:off x="720725" y="1773237"/>
            <a:ext cx="8159750" cy="5294312"/>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Useful life = total units of production or total expected use expressed in hours, miles, etc.</a:t>
            </a:r>
            <a:endParaRPr/>
          </a:p>
          <a:p>
            <a:pPr indent="-361950" lvl="0" marL="361950"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accent2"/>
                </a:solidFill>
                <a:latin typeface="Times New Roman"/>
                <a:ea typeface="Times New Roman"/>
                <a:cs typeface="Times New Roman"/>
                <a:sym typeface="Times New Roman"/>
              </a:rPr>
              <a:t>Depreciable Cost</a:t>
            </a:r>
            <a:r>
              <a:rPr b="1" i="0" lang="en-US" sz="2800" u="none" cap="none" strike="noStrike">
                <a:solidFill>
                  <a:schemeClr val="dk1"/>
                </a:solidFill>
                <a:latin typeface="Times New Roman"/>
                <a:ea typeface="Times New Roman"/>
                <a:cs typeface="Times New Roman"/>
                <a:sym typeface="Times New Roman"/>
              </a:rPr>
              <a:t> ÷ Total Units of Activity = Depreciation Cost per Unit</a:t>
            </a:r>
            <a:endParaRPr/>
          </a:p>
          <a:p>
            <a:pPr indent="-361950" lvl="0" marL="361950"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Depreciation Cost per Unit X Units of Activity During the Year = Annual Depreciation Expense</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It is often difficult to make a reasonable estimate of total activity.</a:t>
            </a:r>
            <a:endParaRPr/>
          </a:p>
          <a:p>
            <a:pPr indent="-361950" lvl="0" marL="361950"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When productivity varies from one period to another, this method results in the best matching of expenses with revenues.</a:t>
            </a:r>
            <a:endParaRPr/>
          </a:p>
        </p:txBody>
      </p:sp>
      <p:sp>
        <p:nvSpPr>
          <p:cNvPr id="257" name="Google Shape;257;p26"/>
          <p:cNvSpPr txBox="1"/>
          <p:nvPr/>
        </p:nvSpPr>
        <p:spPr>
          <a:xfrm>
            <a:off x="877887" y="438150"/>
            <a:ext cx="784542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UNITS-OF-ACTIVITY</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 calcmode="lin" valueType="num">
                                      <p:cBhvr additive="base">
                                        <p:cTn dur="500"/>
                                        <p:tgtEl>
                                          <p:spTgt spid="25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 calcmode="lin" valueType="num">
                                      <p:cBhvr additive="base">
                                        <p:cTn dur="500"/>
                                        <p:tgtEl>
                                          <p:spTgt spid="25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 calcmode="lin" valueType="num">
                                      <p:cBhvr additive="base">
                                        <p:cTn dur="500"/>
                                        <p:tgtEl>
                                          <p:spTgt spid="25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 calcmode="lin" valueType="num">
                                      <p:cBhvr additive="base">
                                        <p:cTn dur="500"/>
                                        <p:tgtEl>
                                          <p:spTgt spid="256">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 calcmode="lin" valueType="num">
                                      <p:cBhvr additive="base">
                                        <p:cTn dur="500"/>
                                        <p:tgtEl>
                                          <p:spTgt spid="256">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1" name="Shape 261"/>
        <p:cNvGrpSpPr/>
        <p:nvPr/>
      </p:nvGrpSpPr>
      <p:grpSpPr>
        <a:xfrm>
          <a:off x="0" y="0"/>
          <a:ext cx="0" cy="0"/>
          <a:chOff x="0" y="0"/>
          <a:chExt cx="0" cy="0"/>
        </a:xfrm>
      </p:grpSpPr>
      <p:sp>
        <p:nvSpPr>
          <p:cNvPr id="262" name="Google Shape;262;p27"/>
          <p:cNvSpPr txBox="1"/>
          <p:nvPr/>
        </p:nvSpPr>
        <p:spPr>
          <a:xfrm>
            <a:off x="935037" y="234950"/>
            <a:ext cx="7881937"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FORMULA FOR UNITS-OF-ACTIVITY METHOD</a:t>
            </a:r>
            <a:endParaRPr/>
          </a:p>
        </p:txBody>
      </p:sp>
      <p:sp>
        <p:nvSpPr>
          <p:cNvPr id="263" name="Google Shape;263;p27"/>
          <p:cNvSpPr txBox="1"/>
          <p:nvPr>
            <p:ph idx="1" type="body"/>
          </p:nvPr>
        </p:nvSpPr>
        <p:spPr>
          <a:xfrm>
            <a:off x="200025" y="1524000"/>
            <a:ext cx="9020175" cy="1600200"/>
          </a:xfrm>
          <a:prstGeom prst="rect">
            <a:avLst/>
          </a:prstGeom>
          <a:solidFill>
            <a:srgbClr val="FCD1C1"/>
          </a:solidFill>
          <a:ln>
            <a:noFill/>
          </a:ln>
          <a:effectLst>
            <a:outerShdw blurRad="63500" dir="2700000" dist="35921">
              <a:srgbClr val="808080"/>
            </a:outerShdw>
          </a:effectLst>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chemeClr val="dk1"/>
              </a:buClr>
              <a:buSzPts val="2200"/>
              <a:buFont typeface="Times New Roman"/>
              <a:buNone/>
            </a:pPr>
            <a:r>
              <a:rPr b="1" i="0" lang="en-US" sz="2200" u="none" cap="none" strike="noStrike">
                <a:solidFill>
                  <a:schemeClr val="dk1"/>
                </a:solidFill>
                <a:latin typeface="Times New Roman"/>
                <a:ea typeface="Times New Roman"/>
                <a:cs typeface="Times New Roman"/>
                <a:sym typeface="Times New Roman"/>
              </a:rPr>
              <a:t>To use the </a:t>
            </a:r>
            <a:r>
              <a:rPr b="1" i="0" lang="en-US" sz="2200" u="none" cap="none" strike="noStrike">
                <a:solidFill>
                  <a:srgbClr val="BC3700"/>
                </a:solidFill>
                <a:latin typeface="Times New Roman"/>
                <a:ea typeface="Times New Roman"/>
                <a:cs typeface="Times New Roman"/>
                <a:sym typeface="Times New Roman"/>
              </a:rPr>
              <a:t>units-of-activity method</a:t>
            </a:r>
            <a:r>
              <a:rPr b="1" i="0" lang="en-US" sz="2200" u="none" cap="none" strike="noStrike">
                <a:solidFill>
                  <a:schemeClr val="dk1"/>
                </a:solidFill>
                <a:latin typeface="Times New Roman"/>
                <a:ea typeface="Times New Roman"/>
                <a:cs typeface="Times New Roman"/>
                <a:sym typeface="Times New Roman"/>
              </a:rPr>
              <a:t>, </a:t>
            </a:r>
            <a:r>
              <a:rPr b="1" i="0" lang="en-US" sz="2200" u="none" cap="none" strike="noStrike">
                <a:solidFill>
                  <a:srgbClr val="BC3700"/>
                </a:solidFill>
                <a:latin typeface="Arial"/>
                <a:ea typeface="Arial"/>
                <a:cs typeface="Arial"/>
                <a:sym typeface="Arial"/>
              </a:rPr>
              <a:t>1)</a:t>
            </a:r>
            <a:r>
              <a:rPr b="1" i="0" lang="en-US" sz="2200" u="none" cap="none" strike="noStrike">
                <a:solidFill>
                  <a:schemeClr val="dk1"/>
                </a:solidFill>
                <a:latin typeface="Times New Roman"/>
                <a:ea typeface="Times New Roman"/>
                <a:cs typeface="Times New Roman"/>
                <a:sym typeface="Times New Roman"/>
              </a:rPr>
              <a:t> the total units of activity for the entire useful life are estimated, </a:t>
            </a:r>
            <a:r>
              <a:rPr b="1" i="0" lang="en-US" sz="2200" u="none" cap="none" strike="noStrike">
                <a:solidFill>
                  <a:srgbClr val="BC3700"/>
                </a:solidFill>
                <a:latin typeface="Arial"/>
                <a:ea typeface="Arial"/>
                <a:cs typeface="Arial"/>
                <a:sym typeface="Arial"/>
              </a:rPr>
              <a:t>2)</a:t>
            </a:r>
            <a:r>
              <a:rPr b="1" i="0" lang="en-US" sz="2200" u="none" cap="none" strike="noStrike">
                <a:solidFill>
                  <a:schemeClr val="dk1"/>
                </a:solidFill>
                <a:latin typeface="Times New Roman"/>
                <a:ea typeface="Times New Roman"/>
                <a:cs typeface="Times New Roman"/>
                <a:sym typeface="Times New Roman"/>
              </a:rPr>
              <a:t> the amount is divided into depreciable cost to determine the depreciation cost per unit, and </a:t>
            </a:r>
            <a:r>
              <a:rPr b="1" i="0" lang="en-US" sz="2200" u="none" cap="none" strike="noStrike">
                <a:solidFill>
                  <a:srgbClr val="BC3700"/>
                </a:solidFill>
                <a:latin typeface="Arial"/>
                <a:ea typeface="Arial"/>
                <a:cs typeface="Arial"/>
                <a:sym typeface="Arial"/>
              </a:rPr>
              <a:t>3)</a:t>
            </a:r>
            <a:r>
              <a:rPr b="1" i="0" lang="en-US" sz="2200" u="none" cap="none" strike="noStrike">
                <a:solidFill>
                  <a:schemeClr val="dk1"/>
                </a:solidFill>
                <a:latin typeface="Times New Roman"/>
                <a:ea typeface="Times New Roman"/>
                <a:cs typeface="Times New Roman"/>
                <a:sym typeface="Times New Roman"/>
              </a:rPr>
              <a:t> the depreciation cost per unit is then applied to the units of activity during the year to determine the annual depreciation.</a:t>
            </a:r>
            <a:endParaRPr/>
          </a:p>
        </p:txBody>
      </p:sp>
      <p:grpSp>
        <p:nvGrpSpPr>
          <p:cNvPr id="264" name="Google Shape;264;p27"/>
          <p:cNvGrpSpPr/>
          <p:nvPr/>
        </p:nvGrpSpPr>
        <p:grpSpPr>
          <a:xfrm>
            <a:off x="879475" y="3206750"/>
            <a:ext cx="1519237" cy="1203325"/>
            <a:chOff x="563" y="1998"/>
            <a:chExt cx="957" cy="758"/>
          </a:xfrm>
        </p:grpSpPr>
        <p:sp>
          <p:nvSpPr>
            <p:cNvPr id="265" name="Google Shape;265;p27"/>
            <p:cNvSpPr txBox="1"/>
            <p:nvPr/>
          </p:nvSpPr>
          <p:spPr>
            <a:xfrm>
              <a:off x="563" y="1998"/>
              <a:ext cx="957" cy="758"/>
            </a:xfrm>
            <a:prstGeom prst="rect">
              <a:avLst/>
            </a:prstGeom>
            <a:solidFill>
              <a:srgbClr val="CCFFCC"/>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 name="Google Shape;266;p27"/>
            <p:cNvSpPr txBox="1"/>
            <p:nvPr/>
          </p:nvSpPr>
          <p:spPr>
            <a:xfrm>
              <a:off x="625" y="2177"/>
              <a:ext cx="854" cy="364"/>
            </a:xfrm>
            <a:prstGeom prst="rect">
              <a:avLst/>
            </a:prstGeom>
            <a:solidFill>
              <a:srgbClr val="CCFFCC"/>
            </a:solid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Depreciable Cost</a:t>
              </a:r>
              <a:endParaRPr/>
            </a:p>
          </p:txBody>
        </p:sp>
      </p:grpSp>
      <p:grpSp>
        <p:nvGrpSpPr>
          <p:cNvPr id="267" name="Google Shape;267;p27"/>
          <p:cNvGrpSpPr/>
          <p:nvPr/>
        </p:nvGrpSpPr>
        <p:grpSpPr>
          <a:xfrm>
            <a:off x="4037012" y="3200400"/>
            <a:ext cx="1535112" cy="1203325"/>
            <a:chOff x="2552" y="1994"/>
            <a:chExt cx="967" cy="758"/>
          </a:xfrm>
        </p:grpSpPr>
        <p:sp>
          <p:nvSpPr>
            <p:cNvPr id="268" name="Google Shape;268;p27"/>
            <p:cNvSpPr/>
            <p:nvPr/>
          </p:nvSpPr>
          <p:spPr>
            <a:xfrm>
              <a:off x="2552" y="1994"/>
              <a:ext cx="957" cy="758"/>
            </a:xfrm>
            <a:prstGeom prst="rect">
              <a:avLst/>
            </a:prstGeom>
            <a:solidFill>
              <a:srgbClr val="A2C1FE"/>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9" name="Google Shape;269;p27"/>
            <p:cNvSpPr txBox="1"/>
            <p:nvPr/>
          </p:nvSpPr>
          <p:spPr>
            <a:xfrm>
              <a:off x="2568" y="2181"/>
              <a:ext cx="951" cy="364"/>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Total Units of </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Activity</a:t>
              </a:r>
              <a:endParaRPr/>
            </a:p>
          </p:txBody>
        </p:sp>
      </p:grpSp>
      <p:grpSp>
        <p:nvGrpSpPr>
          <p:cNvPr id="270" name="Google Shape;270;p27"/>
          <p:cNvGrpSpPr/>
          <p:nvPr/>
        </p:nvGrpSpPr>
        <p:grpSpPr>
          <a:xfrm>
            <a:off x="7170737" y="3216275"/>
            <a:ext cx="1519237" cy="1203325"/>
            <a:chOff x="4526" y="2004"/>
            <a:chExt cx="957" cy="758"/>
          </a:xfrm>
        </p:grpSpPr>
        <p:sp>
          <p:nvSpPr>
            <p:cNvPr id="271" name="Google Shape;271;p27"/>
            <p:cNvSpPr/>
            <p:nvPr/>
          </p:nvSpPr>
          <p:spPr>
            <a:xfrm>
              <a:off x="4526" y="2004"/>
              <a:ext cx="957" cy="758"/>
            </a:xfrm>
            <a:prstGeom prst="rect">
              <a:avLst/>
            </a:prstGeom>
            <a:solidFill>
              <a:srgbClr val="FDE3BA"/>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2" name="Google Shape;272;p27"/>
            <p:cNvSpPr txBox="1"/>
            <p:nvPr/>
          </p:nvSpPr>
          <p:spPr>
            <a:xfrm>
              <a:off x="4539" y="2183"/>
              <a:ext cx="918" cy="364"/>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Depreciable</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Cost per Unit</a:t>
              </a:r>
              <a:endParaRPr/>
            </a:p>
          </p:txBody>
        </p:sp>
      </p:grpSp>
      <p:grpSp>
        <p:nvGrpSpPr>
          <p:cNvPr id="273" name="Google Shape;273;p27"/>
          <p:cNvGrpSpPr/>
          <p:nvPr/>
        </p:nvGrpSpPr>
        <p:grpSpPr>
          <a:xfrm>
            <a:off x="5954712" y="3730625"/>
            <a:ext cx="787400" cy="152400"/>
            <a:chOff x="3760" y="2328"/>
            <a:chExt cx="496" cy="96"/>
          </a:xfrm>
        </p:grpSpPr>
        <p:cxnSp>
          <p:nvCxnSpPr>
            <p:cNvPr id="274" name="Google Shape;274;p27"/>
            <p:cNvCxnSpPr/>
            <p:nvPr/>
          </p:nvCxnSpPr>
          <p:spPr>
            <a:xfrm>
              <a:off x="3760" y="2328"/>
              <a:ext cx="496" cy="0"/>
            </a:xfrm>
            <a:prstGeom prst="straightConnector1">
              <a:avLst/>
            </a:prstGeom>
            <a:noFill/>
            <a:ln cap="flat" cmpd="sng" w="50800">
              <a:solidFill>
                <a:schemeClr val="dk1"/>
              </a:solidFill>
              <a:prstDash val="solid"/>
              <a:miter lim="800000"/>
              <a:headEnd len="med" w="med" type="none"/>
              <a:tailEnd len="med" w="med" type="none"/>
            </a:ln>
          </p:spPr>
        </p:cxnSp>
        <p:cxnSp>
          <p:nvCxnSpPr>
            <p:cNvPr id="275" name="Google Shape;275;p27"/>
            <p:cNvCxnSpPr/>
            <p:nvPr/>
          </p:nvCxnSpPr>
          <p:spPr>
            <a:xfrm>
              <a:off x="3760" y="2424"/>
              <a:ext cx="496" cy="0"/>
            </a:xfrm>
            <a:prstGeom prst="straightConnector1">
              <a:avLst/>
            </a:prstGeom>
            <a:noFill/>
            <a:ln cap="flat" cmpd="sng" w="50800">
              <a:solidFill>
                <a:schemeClr val="dk1"/>
              </a:solidFill>
              <a:prstDash val="solid"/>
              <a:miter lim="800000"/>
              <a:headEnd len="med" w="med" type="none"/>
              <a:tailEnd len="med" w="med" type="none"/>
            </a:ln>
          </p:spPr>
        </p:cxnSp>
      </p:grpSp>
      <p:sp>
        <p:nvSpPr>
          <p:cNvPr id="276" name="Google Shape;276;p27"/>
          <p:cNvSpPr txBox="1"/>
          <p:nvPr/>
        </p:nvSpPr>
        <p:spPr>
          <a:xfrm>
            <a:off x="762000" y="4343400"/>
            <a:ext cx="8048625" cy="638175"/>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$12,000    ÷  100,000 miles   =   $0.12</a:t>
            </a:r>
            <a:endParaRPr/>
          </a:p>
        </p:txBody>
      </p:sp>
      <p:grpSp>
        <p:nvGrpSpPr>
          <p:cNvPr id="277" name="Google Shape;277;p27"/>
          <p:cNvGrpSpPr/>
          <p:nvPr/>
        </p:nvGrpSpPr>
        <p:grpSpPr>
          <a:xfrm>
            <a:off x="2830512" y="3502025"/>
            <a:ext cx="787400" cy="565150"/>
            <a:chOff x="1792" y="2184"/>
            <a:chExt cx="496" cy="356"/>
          </a:xfrm>
        </p:grpSpPr>
        <p:cxnSp>
          <p:nvCxnSpPr>
            <p:cNvPr id="278" name="Google Shape;278;p27"/>
            <p:cNvCxnSpPr/>
            <p:nvPr/>
          </p:nvCxnSpPr>
          <p:spPr>
            <a:xfrm>
              <a:off x="1792" y="2364"/>
              <a:ext cx="496" cy="0"/>
            </a:xfrm>
            <a:prstGeom prst="straightConnector1">
              <a:avLst/>
            </a:prstGeom>
            <a:noFill/>
            <a:ln cap="flat" cmpd="sng" w="50800">
              <a:solidFill>
                <a:schemeClr val="dk1"/>
              </a:solidFill>
              <a:prstDash val="solid"/>
              <a:miter lim="800000"/>
              <a:headEnd len="med" w="med" type="none"/>
              <a:tailEnd len="med" w="med" type="none"/>
            </a:ln>
          </p:spPr>
        </p:cxnSp>
        <p:pic>
          <p:nvPicPr>
            <p:cNvPr id="279" name="Google Shape;279;p27"/>
            <p:cNvPicPr preferRelativeResize="0"/>
            <p:nvPr/>
          </p:nvPicPr>
          <p:blipFill rotWithShape="1">
            <a:blip r:embed="rId3">
              <a:alphaModFix/>
            </a:blip>
            <a:srcRect b="0" l="0" r="97590" t="0"/>
            <a:stretch/>
          </p:blipFill>
          <p:spPr>
            <a:xfrm>
              <a:off x="1944" y="2184"/>
              <a:ext cx="192" cy="176"/>
            </a:xfrm>
            <a:prstGeom prst="rect">
              <a:avLst/>
            </a:prstGeom>
            <a:noFill/>
            <a:ln>
              <a:noFill/>
            </a:ln>
          </p:spPr>
        </p:pic>
        <p:pic>
          <p:nvPicPr>
            <p:cNvPr id="280" name="Google Shape;280;p27"/>
            <p:cNvPicPr preferRelativeResize="0"/>
            <p:nvPr/>
          </p:nvPicPr>
          <p:blipFill rotWithShape="1">
            <a:blip r:embed="rId3">
              <a:alphaModFix/>
            </a:blip>
            <a:srcRect b="0" l="0" r="97590" t="0"/>
            <a:stretch/>
          </p:blipFill>
          <p:spPr>
            <a:xfrm>
              <a:off x="1944" y="2364"/>
              <a:ext cx="192" cy="176"/>
            </a:xfrm>
            <a:prstGeom prst="rect">
              <a:avLst/>
            </a:prstGeom>
            <a:noFill/>
            <a:ln>
              <a:noFill/>
            </a:ln>
          </p:spPr>
        </p:pic>
      </p:grpSp>
      <p:grpSp>
        <p:nvGrpSpPr>
          <p:cNvPr id="281" name="Google Shape;281;p27"/>
          <p:cNvGrpSpPr/>
          <p:nvPr/>
        </p:nvGrpSpPr>
        <p:grpSpPr>
          <a:xfrm>
            <a:off x="762000" y="5440362"/>
            <a:ext cx="8048625" cy="1862137"/>
            <a:chOff x="501" y="3422"/>
            <a:chExt cx="5070" cy="1173"/>
          </a:xfrm>
        </p:grpSpPr>
        <p:grpSp>
          <p:nvGrpSpPr>
            <p:cNvPr id="282" name="Google Shape;282;p27"/>
            <p:cNvGrpSpPr/>
            <p:nvPr/>
          </p:nvGrpSpPr>
          <p:grpSpPr>
            <a:xfrm>
              <a:off x="563" y="3422"/>
              <a:ext cx="4924" cy="770"/>
              <a:chOff x="563" y="3422"/>
              <a:chExt cx="4924" cy="770"/>
            </a:xfrm>
          </p:grpSpPr>
          <p:grpSp>
            <p:nvGrpSpPr>
              <p:cNvPr id="283" name="Google Shape;283;p27"/>
              <p:cNvGrpSpPr/>
              <p:nvPr/>
            </p:nvGrpSpPr>
            <p:grpSpPr>
              <a:xfrm>
                <a:off x="2503" y="3434"/>
                <a:ext cx="1076" cy="758"/>
                <a:chOff x="2503" y="3434"/>
                <a:chExt cx="1076" cy="758"/>
              </a:xfrm>
            </p:grpSpPr>
            <p:sp>
              <p:nvSpPr>
                <p:cNvPr id="284" name="Google Shape;284;p27"/>
                <p:cNvSpPr/>
                <p:nvPr/>
              </p:nvSpPr>
              <p:spPr>
                <a:xfrm>
                  <a:off x="2552" y="3434"/>
                  <a:ext cx="957" cy="758"/>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5" name="Google Shape;285;p27"/>
                <p:cNvSpPr txBox="1"/>
                <p:nvPr/>
              </p:nvSpPr>
              <p:spPr>
                <a:xfrm>
                  <a:off x="2503" y="3535"/>
                  <a:ext cx="1076" cy="518"/>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Units of</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Activity during the Year</a:t>
                  </a:r>
                  <a:endParaRPr/>
                </a:p>
              </p:txBody>
            </p:sp>
          </p:grpSp>
          <p:grpSp>
            <p:nvGrpSpPr>
              <p:cNvPr id="286" name="Google Shape;286;p27"/>
              <p:cNvGrpSpPr/>
              <p:nvPr/>
            </p:nvGrpSpPr>
            <p:grpSpPr>
              <a:xfrm>
                <a:off x="4526" y="3428"/>
                <a:ext cx="961" cy="758"/>
                <a:chOff x="4526" y="3428"/>
                <a:chExt cx="961" cy="758"/>
              </a:xfrm>
            </p:grpSpPr>
            <p:sp>
              <p:nvSpPr>
                <p:cNvPr id="287" name="Google Shape;287;p27"/>
                <p:cNvSpPr/>
                <p:nvPr/>
              </p:nvSpPr>
              <p:spPr>
                <a:xfrm>
                  <a:off x="4526" y="3428"/>
                  <a:ext cx="957" cy="758"/>
                </a:xfrm>
                <a:prstGeom prst="rect">
                  <a:avLst/>
                </a:prstGeom>
                <a:solidFill>
                  <a:srgbClr val="8CF4EA"/>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8" name="Google Shape;288;p27"/>
                <p:cNvSpPr txBox="1"/>
                <p:nvPr/>
              </p:nvSpPr>
              <p:spPr>
                <a:xfrm>
                  <a:off x="4545" y="3607"/>
                  <a:ext cx="942" cy="518"/>
                </a:xfrm>
                <a:prstGeom prst="rect">
                  <a:avLst/>
                </a:prstGeom>
                <a:solidFill>
                  <a:srgbClr val="8CF4EA"/>
                </a:solid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Annual Depreciation Expense</a:t>
                  </a:r>
                  <a:endParaRPr/>
                </a:p>
              </p:txBody>
            </p:sp>
          </p:grpSp>
          <p:grpSp>
            <p:nvGrpSpPr>
              <p:cNvPr id="289" name="Google Shape;289;p27"/>
              <p:cNvGrpSpPr/>
              <p:nvPr/>
            </p:nvGrpSpPr>
            <p:grpSpPr>
              <a:xfrm>
                <a:off x="3760" y="3752"/>
                <a:ext cx="496" cy="96"/>
                <a:chOff x="3760" y="3752"/>
                <a:chExt cx="496" cy="96"/>
              </a:xfrm>
            </p:grpSpPr>
            <p:cxnSp>
              <p:nvCxnSpPr>
                <p:cNvPr id="290" name="Google Shape;290;p27"/>
                <p:cNvCxnSpPr/>
                <p:nvPr/>
              </p:nvCxnSpPr>
              <p:spPr>
                <a:xfrm>
                  <a:off x="3760" y="3752"/>
                  <a:ext cx="496" cy="0"/>
                </a:xfrm>
                <a:prstGeom prst="straightConnector1">
                  <a:avLst/>
                </a:prstGeom>
                <a:noFill/>
                <a:ln cap="flat" cmpd="sng" w="50800">
                  <a:solidFill>
                    <a:schemeClr val="dk1"/>
                  </a:solidFill>
                  <a:prstDash val="solid"/>
                  <a:miter lim="800000"/>
                  <a:headEnd len="med" w="med" type="none"/>
                  <a:tailEnd len="med" w="med" type="none"/>
                </a:ln>
              </p:spPr>
            </p:cxnSp>
            <p:cxnSp>
              <p:nvCxnSpPr>
                <p:cNvPr id="291" name="Google Shape;291;p27"/>
                <p:cNvCxnSpPr/>
                <p:nvPr/>
              </p:nvCxnSpPr>
              <p:spPr>
                <a:xfrm>
                  <a:off x="3760" y="3848"/>
                  <a:ext cx="496" cy="0"/>
                </a:xfrm>
                <a:prstGeom prst="straightConnector1">
                  <a:avLst/>
                </a:prstGeom>
                <a:noFill/>
                <a:ln cap="flat" cmpd="sng" w="50800">
                  <a:solidFill>
                    <a:schemeClr val="dk1"/>
                  </a:solidFill>
                  <a:prstDash val="solid"/>
                  <a:miter lim="800000"/>
                  <a:headEnd len="med" w="med" type="none"/>
                  <a:tailEnd len="med" w="med" type="none"/>
                </a:ln>
              </p:spPr>
            </p:cxnSp>
          </p:grpSp>
          <p:grpSp>
            <p:nvGrpSpPr>
              <p:cNvPr id="292" name="Google Shape;292;p27"/>
              <p:cNvGrpSpPr/>
              <p:nvPr/>
            </p:nvGrpSpPr>
            <p:grpSpPr>
              <a:xfrm>
                <a:off x="563" y="3422"/>
                <a:ext cx="957" cy="758"/>
                <a:chOff x="563" y="3422"/>
                <a:chExt cx="957" cy="758"/>
              </a:xfrm>
            </p:grpSpPr>
            <p:sp>
              <p:nvSpPr>
                <p:cNvPr id="293" name="Google Shape;293;p27"/>
                <p:cNvSpPr/>
                <p:nvPr/>
              </p:nvSpPr>
              <p:spPr>
                <a:xfrm>
                  <a:off x="563" y="3422"/>
                  <a:ext cx="957" cy="758"/>
                </a:xfrm>
                <a:prstGeom prst="rect">
                  <a:avLst/>
                </a:prstGeom>
                <a:solidFill>
                  <a:srgbClr val="FDE3BA"/>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4" name="Google Shape;294;p27"/>
                <p:cNvSpPr txBox="1"/>
                <p:nvPr/>
              </p:nvSpPr>
              <p:spPr>
                <a:xfrm>
                  <a:off x="579" y="3607"/>
                  <a:ext cx="918" cy="364"/>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Depreciable</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Cost per Unit</a:t>
                  </a:r>
                  <a:endParaRPr/>
                </a:p>
              </p:txBody>
            </p:sp>
          </p:grpSp>
          <p:grpSp>
            <p:nvGrpSpPr>
              <p:cNvPr id="295" name="Google Shape;295;p27"/>
              <p:cNvGrpSpPr/>
              <p:nvPr/>
            </p:nvGrpSpPr>
            <p:grpSpPr>
              <a:xfrm>
                <a:off x="1942" y="3668"/>
                <a:ext cx="184" cy="240"/>
                <a:chOff x="1942" y="3668"/>
                <a:chExt cx="184" cy="240"/>
              </a:xfrm>
            </p:grpSpPr>
            <p:cxnSp>
              <p:nvCxnSpPr>
                <p:cNvPr id="296" name="Google Shape;296;p27"/>
                <p:cNvCxnSpPr/>
                <p:nvPr/>
              </p:nvCxnSpPr>
              <p:spPr>
                <a:xfrm flipH="1" rot="10800000">
                  <a:off x="1942" y="3668"/>
                  <a:ext cx="184" cy="240"/>
                </a:xfrm>
                <a:prstGeom prst="straightConnector1">
                  <a:avLst/>
                </a:prstGeom>
                <a:noFill/>
                <a:ln cap="flat" cmpd="sng" w="50800">
                  <a:solidFill>
                    <a:schemeClr val="dk1"/>
                  </a:solidFill>
                  <a:prstDash val="solid"/>
                  <a:miter lim="800000"/>
                  <a:headEnd len="med" w="med" type="none"/>
                  <a:tailEnd len="med" w="med" type="none"/>
                </a:ln>
              </p:spPr>
            </p:cxnSp>
            <p:cxnSp>
              <p:nvCxnSpPr>
                <p:cNvPr id="297" name="Google Shape;297;p27"/>
                <p:cNvCxnSpPr/>
                <p:nvPr/>
              </p:nvCxnSpPr>
              <p:spPr>
                <a:xfrm>
                  <a:off x="1956" y="3687"/>
                  <a:ext cx="156" cy="202"/>
                </a:xfrm>
                <a:prstGeom prst="straightConnector1">
                  <a:avLst/>
                </a:prstGeom>
                <a:noFill/>
                <a:ln cap="flat" cmpd="sng" w="50800">
                  <a:solidFill>
                    <a:schemeClr val="dk1"/>
                  </a:solidFill>
                  <a:prstDash val="solid"/>
                  <a:miter lim="800000"/>
                  <a:headEnd len="med" w="med" type="none"/>
                  <a:tailEnd len="med" w="med" type="none"/>
                </a:ln>
              </p:spPr>
            </p:cxnSp>
          </p:grpSp>
        </p:grpSp>
        <p:sp>
          <p:nvSpPr>
            <p:cNvPr id="298" name="Google Shape;298;p27"/>
            <p:cNvSpPr txBox="1"/>
            <p:nvPr/>
          </p:nvSpPr>
          <p:spPr>
            <a:xfrm>
              <a:off x="501" y="4193"/>
              <a:ext cx="5070" cy="402"/>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$0.12     x     15,000 miles   =   $1,800</a:t>
              </a:r>
              <a:endParaRPr/>
            </a:p>
          </p:txBody>
        </p:sp>
      </p:grpSp>
      <p:grpSp>
        <p:nvGrpSpPr>
          <p:cNvPr id="299" name="Google Shape;299;p27"/>
          <p:cNvGrpSpPr/>
          <p:nvPr/>
        </p:nvGrpSpPr>
        <p:grpSpPr>
          <a:xfrm>
            <a:off x="1676400" y="4921250"/>
            <a:ext cx="6464300" cy="793750"/>
            <a:chOff x="1028" y="3100"/>
            <a:chExt cx="4100" cy="316"/>
          </a:xfrm>
        </p:grpSpPr>
        <p:cxnSp>
          <p:nvCxnSpPr>
            <p:cNvPr id="300" name="Google Shape;300;p27"/>
            <p:cNvCxnSpPr/>
            <p:nvPr/>
          </p:nvCxnSpPr>
          <p:spPr>
            <a:xfrm>
              <a:off x="5100" y="3100"/>
              <a:ext cx="0" cy="40"/>
            </a:xfrm>
            <a:prstGeom prst="straightConnector1">
              <a:avLst/>
            </a:prstGeom>
            <a:noFill/>
            <a:ln cap="flat" cmpd="sng" w="50800">
              <a:solidFill>
                <a:srgbClr val="BC3700"/>
              </a:solidFill>
              <a:prstDash val="solid"/>
              <a:miter lim="800000"/>
              <a:headEnd len="med" w="med" type="none"/>
              <a:tailEnd len="med" w="med" type="none"/>
            </a:ln>
          </p:spPr>
        </p:cxnSp>
        <p:cxnSp>
          <p:nvCxnSpPr>
            <p:cNvPr id="301" name="Google Shape;301;p27"/>
            <p:cNvCxnSpPr/>
            <p:nvPr/>
          </p:nvCxnSpPr>
          <p:spPr>
            <a:xfrm>
              <a:off x="1056" y="3196"/>
              <a:ext cx="0" cy="220"/>
            </a:xfrm>
            <a:prstGeom prst="straightConnector1">
              <a:avLst/>
            </a:prstGeom>
            <a:noFill/>
            <a:ln cap="flat" cmpd="sng" w="50800">
              <a:solidFill>
                <a:srgbClr val="BC3700"/>
              </a:solidFill>
              <a:prstDash val="solid"/>
              <a:miter lim="800000"/>
              <a:headEnd len="med" w="med" type="none"/>
              <a:tailEnd len="med" w="med" type="triangle"/>
            </a:ln>
          </p:spPr>
        </p:cxnSp>
        <p:cxnSp>
          <p:nvCxnSpPr>
            <p:cNvPr id="302" name="Google Shape;302;p27"/>
            <p:cNvCxnSpPr/>
            <p:nvPr/>
          </p:nvCxnSpPr>
          <p:spPr>
            <a:xfrm rot="10800000">
              <a:off x="1028" y="3180"/>
              <a:ext cx="4100" cy="0"/>
            </a:xfrm>
            <a:prstGeom prst="straightConnector1">
              <a:avLst/>
            </a:prstGeom>
            <a:noFill/>
            <a:ln cap="flat" cmpd="sng" w="50800">
              <a:solidFill>
                <a:srgbClr val="BC3700"/>
              </a:solidFill>
              <a:prstDash val="solid"/>
              <a:miter lim="800000"/>
              <a:headEnd len="med" w="med" type="none"/>
              <a:tailEnd len="med" w="med" type="none"/>
            </a:ln>
          </p:spPr>
        </p:cxn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 calcmode="lin" valueType="num">
                                      <p:cBhvr additive="base">
                                        <p:cTn dur="500"/>
                                        <p:tgtEl>
                                          <p:spTgt spid="26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6" name="Shape 306"/>
        <p:cNvGrpSpPr/>
        <p:nvPr/>
      </p:nvGrpSpPr>
      <p:grpSpPr>
        <a:xfrm>
          <a:off x="0" y="0"/>
          <a:ext cx="0" cy="0"/>
          <a:chOff x="0" y="0"/>
          <a:chExt cx="0" cy="0"/>
        </a:xfrm>
      </p:grpSpPr>
      <p:sp>
        <p:nvSpPr>
          <p:cNvPr id="307" name="Google Shape;307;p28"/>
          <p:cNvSpPr txBox="1"/>
          <p:nvPr/>
        </p:nvSpPr>
        <p:spPr>
          <a:xfrm>
            <a:off x="858837" y="438150"/>
            <a:ext cx="786447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DECLINING-BALANCE</a:t>
            </a:r>
            <a:endParaRPr/>
          </a:p>
        </p:txBody>
      </p:sp>
      <p:sp>
        <p:nvSpPr>
          <p:cNvPr id="308" name="Google Shape;308;p28"/>
          <p:cNvSpPr txBox="1"/>
          <p:nvPr>
            <p:ph idx="1" type="body"/>
          </p:nvPr>
        </p:nvSpPr>
        <p:spPr>
          <a:xfrm>
            <a:off x="781050" y="1719262"/>
            <a:ext cx="8191500" cy="5462587"/>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 Decreasing annual depreciation expense 	over the 	asset’s useful life</a:t>
            </a:r>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 Periodic depreciation is based on a 	*</a:t>
            </a:r>
            <a:r>
              <a:rPr b="1" i="0" lang="en-US" sz="3200" u="none" cap="none" strike="noStrike">
                <a:solidFill>
                  <a:srgbClr val="BC3700"/>
                </a:solidFill>
                <a:latin typeface="Times New Roman"/>
                <a:ea typeface="Times New Roman"/>
                <a:cs typeface="Times New Roman"/>
                <a:sym typeface="Times New Roman"/>
              </a:rPr>
              <a:t>declining book value</a:t>
            </a:r>
            <a:r>
              <a:rPr b="1" i="0" lang="en-US" sz="3200" u="none" cap="none" strike="noStrike">
                <a:solidFill>
                  <a:schemeClr val="dk1"/>
                </a:solidFill>
                <a:latin typeface="Times New Roman"/>
                <a:ea typeface="Times New Roman"/>
                <a:cs typeface="Times New Roman"/>
                <a:sym typeface="Times New Roman"/>
              </a:rPr>
              <a:t> 	</a:t>
            </a:r>
            <a:endParaRPr/>
          </a:p>
          <a:p>
            <a:pPr indent="-303212" lvl="1" marL="785812"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(cost - accumulated depreciation)</a:t>
            </a:r>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  To compute annual depreciation expense</a:t>
            </a:r>
            <a:endParaRPr/>
          </a:p>
          <a:p>
            <a:pPr indent="-303212" lvl="1" marL="785812"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Multiply the </a:t>
            </a:r>
            <a:r>
              <a:rPr b="1" i="0" lang="en-US" sz="2800" u="none" cap="none" strike="noStrike">
                <a:solidFill>
                  <a:srgbClr val="BC3700"/>
                </a:solidFill>
                <a:latin typeface="Times New Roman"/>
                <a:ea typeface="Times New Roman"/>
                <a:cs typeface="Times New Roman"/>
                <a:sym typeface="Times New Roman"/>
              </a:rPr>
              <a:t>book value at the beginning of the year</a:t>
            </a:r>
            <a:r>
              <a:rPr b="1" i="0" lang="en-US" sz="2800" u="none" cap="none" strike="noStrike">
                <a:solidFill>
                  <a:schemeClr val="dk1"/>
                </a:solidFill>
                <a:latin typeface="Times New Roman"/>
                <a:ea typeface="Times New Roman"/>
                <a:cs typeface="Times New Roman"/>
                <a:sym typeface="Times New Roman"/>
              </a:rPr>
              <a:t> by the </a:t>
            </a:r>
            <a:r>
              <a:rPr b="1" i="0" lang="en-US" sz="2800" u="none" cap="none" strike="noStrike">
                <a:solidFill>
                  <a:srgbClr val="BC3700"/>
                </a:solidFill>
                <a:latin typeface="Times New Roman"/>
                <a:ea typeface="Times New Roman"/>
                <a:cs typeface="Times New Roman"/>
                <a:sym typeface="Times New Roman"/>
              </a:rPr>
              <a:t>declining-balance depreciation rate</a:t>
            </a:r>
            <a:endParaRPr b="1" i="0" sz="2800" u="none" cap="none" strike="noStrike">
              <a:solidFill>
                <a:schemeClr val="dk1"/>
              </a:solidFill>
              <a:latin typeface="Times New Roman"/>
              <a:ea typeface="Times New Roman"/>
              <a:cs typeface="Times New Roman"/>
              <a:sym typeface="Times New Roman"/>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 Depreciation rate remains constant from 	year to year</a:t>
            </a:r>
            <a:endParaRPr/>
          </a:p>
          <a:p>
            <a:pPr indent="-303212" lvl="1" marL="785812"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book value declines each year</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 calcmode="lin" valueType="num">
                                      <p:cBhvr additive="base">
                                        <p:cTn dur="500"/>
                                        <p:tgtEl>
                                          <p:spTgt spid="30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anim calcmode="lin" valueType="num">
                                      <p:cBhvr additive="base">
                                        <p:cTn dur="500"/>
                                        <p:tgtEl>
                                          <p:spTgt spid="30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anim calcmode="lin" valueType="num">
                                      <p:cBhvr additive="base">
                                        <p:cTn dur="500"/>
                                        <p:tgtEl>
                                          <p:spTgt spid="30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anim calcmode="lin" valueType="num">
                                      <p:cBhvr additive="base">
                                        <p:cTn dur="500"/>
                                        <p:tgtEl>
                                          <p:spTgt spid="30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anim calcmode="lin" valueType="num">
                                      <p:cBhvr additive="base">
                                        <p:cTn dur="500"/>
                                        <p:tgtEl>
                                          <p:spTgt spid="308">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anim calcmode="lin" valueType="num">
                                      <p:cBhvr additive="base">
                                        <p:cTn dur="500"/>
                                        <p:tgtEl>
                                          <p:spTgt spid="308">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8">
                                            <p:txEl>
                                              <p:pRg end="6" st="6"/>
                                            </p:txEl>
                                          </p:spTgt>
                                        </p:tgtEl>
                                        <p:attrNameLst>
                                          <p:attrName>style.visibility</p:attrName>
                                        </p:attrNameLst>
                                      </p:cBhvr>
                                      <p:to>
                                        <p:strVal val="visible"/>
                                      </p:to>
                                    </p:set>
                                    <p:anim calcmode="lin" valueType="num">
                                      <p:cBhvr additive="base">
                                        <p:cTn dur="500"/>
                                        <p:tgtEl>
                                          <p:spTgt spid="308">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p29"/>
          <p:cNvSpPr txBox="1"/>
          <p:nvPr>
            <p:ph idx="1" type="body"/>
          </p:nvPr>
        </p:nvSpPr>
        <p:spPr>
          <a:xfrm>
            <a:off x="682625" y="1941512"/>
            <a:ext cx="8289925" cy="4992687"/>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Book value for the first year is the cost of the asset. </a:t>
            </a:r>
            <a:endParaRPr/>
          </a:p>
          <a:p>
            <a:pPr indent="-303212" lvl="1" marL="785812" marR="0" rtl="0" algn="l">
              <a:lnSpc>
                <a:spcPct val="90000"/>
              </a:lnSpc>
              <a:spcBef>
                <a:spcPts val="400"/>
              </a:spcBef>
              <a:spcAft>
                <a:spcPts val="0"/>
              </a:spcAft>
              <a:buClr>
                <a:srgbClr val="BC3700"/>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Balance in accumulated depreciation at the beginning of the asset’s useful life is zero</a:t>
            </a:r>
            <a:endParaRPr/>
          </a:p>
          <a:p>
            <a:pPr indent="-361950" lvl="0" marL="361950" marR="0" rtl="0" algn="l">
              <a:lnSpc>
                <a:spcPct val="9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In subsequent years, book value is the difference between cost and accumulated depreciation at the beginning of the year.</a:t>
            </a:r>
            <a:endParaRPr/>
          </a:p>
          <a:p>
            <a:pPr indent="-361950" lvl="0" marL="361950"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Formula for computing depreciation expense:</a:t>
            </a:r>
            <a:endParaRPr/>
          </a:p>
          <a:p>
            <a:pPr indent="-361950" lvl="0" marL="361950" marR="0" rtl="0" algn="l">
              <a:lnSpc>
                <a:spcPct val="90000"/>
              </a:lnSpc>
              <a:spcBef>
                <a:spcPts val="500"/>
              </a:spcBef>
              <a:spcAft>
                <a:spcPts val="0"/>
              </a:spcAft>
              <a:buClr>
                <a:srgbClr val="BC3700"/>
              </a:buClr>
              <a:buSzPts val="2500"/>
              <a:buFont typeface="Times New Roman"/>
              <a:buChar char="•"/>
            </a:pPr>
            <a:r>
              <a:rPr b="1" i="0" lang="en-US" sz="2500" u="none" cap="none" strike="noStrike">
                <a:solidFill>
                  <a:srgbClr val="BC3700"/>
                </a:solidFill>
                <a:latin typeface="Times New Roman"/>
                <a:ea typeface="Times New Roman"/>
                <a:cs typeface="Times New Roman"/>
                <a:sym typeface="Times New Roman"/>
              </a:rPr>
              <a:t>Book Value at Beginning of Year x Declining Balance Rate = Annual Depreciation Expense</a:t>
            </a:r>
            <a:endParaRPr/>
          </a:p>
          <a:p>
            <a:pPr indent="-361950" lvl="0" marL="361950" marR="0" rtl="0" algn="l">
              <a:lnSpc>
                <a:spcPct val="9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Method compatible with the matching principle </a:t>
            </a:r>
            <a:endParaRPr/>
          </a:p>
          <a:p>
            <a:pPr indent="-303212" lvl="1" marL="785812" marR="0" rtl="0" algn="l">
              <a:lnSpc>
                <a:spcPct val="90000"/>
              </a:lnSpc>
              <a:spcBef>
                <a:spcPts val="400"/>
              </a:spcBef>
              <a:spcAft>
                <a:spcPts val="0"/>
              </a:spcAft>
              <a:buClr>
                <a:srgbClr val="BC3700"/>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the higher depreciation in early years is matched with the higher benefits received in these years.</a:t>
            </a:r>
            <a:endParaRPr/>
          </a:p>
        </p:txBody>
      </p:sp>
      <p:sp>
        <p:nvSpPr>
          <p:cNvPr id="314" name="Google Shape;314;p29"/>
          <p:cNvSpPr txBox="1"/>
          <p:nvPr/>
        </p:nvSpPr>
        <p:spPr>
          <a:xfrm>
            <a:off x="858837" y="438150"/>
            <a:ext cx="786447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DECLINING-BALANCE</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anim calcmode="lin" valueType="num">
                                      <p:cBhvr additive="base">
                                        <p:cTn dur="500"/>
                                        <p:tgtEl>
                                          <p:spTgt spid="31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anim calcmode="lin" valueType="num">
                                      <p:cBhvr additive="base">
                                        <p:cTn dur="500"/>
                                        <p:tgtEl>
                                          <p:spTgt spid="31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anim calcmode="lin" valueType="num">
                                      <p:cBhvr additive="base">
                                        <p:cTn dur="500"/>
                                        <p:tgtEl>
                                          <p:spTgt spid="31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anim calcmode="lin" valueType="num">
                                      <p:cBhvr additive="base">
                                        <p:cTn dur="500"/>
                                        <p:tgtEl>
                                          <p:spTgt spid="313">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3">
                                            <p:txEl>
                                              <p:pRg end="4" st="4"/>
                                            </p:txEl>
                                          </p:spTgt>
                                        </p:tgtEl>
                                        <p:attrNameLst>
                                          <p:attrName>style.visibility</p:attrName>
                                        </p:attrNameLst>
                                      </p:cBhvr>
                                      <p:to>
                                        <p:strVal val="visible"/>
                                      </p:to>
                                    </p:set>
                                    <p:anim calcmode="lin" valueType="num">
                                      <p:cBhvr additive="base">
                                        <p:cTn dur="500"/>
                                        <p:tgtEl>
                                          <p:spTgt spid="313">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3">
                                            <p:txEl>
                                              <p:pRg end="5" st="5"/>
                                            </p:txEl>
                                          </p:spTgt>
                                        </p:tgtEl>
                                        <p:attrNameLst>
                                          <p:attrName>style.visibility</p:attrName>
                                        </p:attrNameLst>
                                      </p:cBhvr>
                                      <p:to>
                                        <p:strVal val="visible"/>
                                      </p:to>
                                    </p:set>
                                    <p:anim calcmode="lin" valueType="num">
                                      <p:cBhvr additive="base">
                                        <p:cTn dur="500"/>
                                        <p:tgtEl>
                                          <p:spTgt spid="313">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3">
                                            <p:txEl>
                                              <p:pRg end="6" st="6"/>
                                            </p:txEl>
                                          </p:spTgt>
                                        </p:tgtEl>
                                        <p:attrNameLst>
                                          <p:attrName>style.visibility</p:attrName>
                                        </p:attrNameLst>
                                      </p:cBhvr>
                                      <p:to>
                                        <p:strVal val="visible"/>
                                      </p:to>
                                    </p:set>
                                    <p:anim calcmode="lin" valueType="num">
                                      <p:cBhvr additive="base">
                                        <p:cTn dur="500"/>
                                        <p:tgtEl>
                                          <p:spTgt spid="313">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8" name="Shape 318"/>
        <p:cNvGrpSpPr/>
        <p:nvPr/>
      </p:nvGrpSpPr>
      <p:grpSpPr>
        <a:xfrm>
          <a:off x="0" y="0"/>
          <a:ext cx="0" cy="0"/>
          <a:chOff x="0" y="0"/>
          <a:chExt cx="0" cy="0"/>
        </a:xfrm>
      </p:grpSpPr>
      <p:sp>
        <p:nvSpPr>
          <p:cNvPr id="319" name="Google Shape;319;p30"/>
          <p:cNvSpPr txBox="1"/>
          <p:nvPr/>
        </p:nvSpPr>
        <p:spPr>
          <a:xfrm>
            <a:off x="858837" y="406400"/>
            <a:ext cx="788352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FORMULA FOR DECLINING-BALANCE METHOD</a:t>
            </a:r>
            <a:endParaRPr/>
          </a:p>
        </p:txBody>
      </p:sp>
      <p:sp>
        <p:nvSpPr>
          <p:cNvPr id="320" name="Google Shape;320;p30"/>
          <p:cNvSpPr txBox="1"/>
          <p:nvPr>
            <p:ph idx="1" type="body"/>
          </p:nvPr>
        </p:nvSpPr>
        <p:spPr>
          <a:xfrm>
            <a:off x="857250" y="1833562"/>
            <a:ext cx="8210550" cy="3195637"/>
          </a:xfrm>
          <a:prstGeom prst="rect">
            <a:avLst/>
          </a:prstGeom>
          <a:solidFill>
            <a:srgbClr val="FCD1C1"/>
          </a:solidFill>
          <a:ln>
            <a:noFill/>
          </a:ln>
          <a:effectLst>
            <a:outerShdw blurRad="63500" dir="2700000" dist="35921">
              <a:srgbClr val="808080"/>
            </a:outerShdw>
          </a:effectLst>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Unlike the other depreciation methods, salvage value is ignored in determining the amount to which the declining balance rate is applied.  </a:t>
            </a:r>
            <a:endParaRPr/>
          </a:p>
          <a:p>
            <a:pPr indent="-361950" lvl="0" marL="361950" marR="0" rtl="0" algn="l">
              <a:lnSpc>
                <a:spcPct val="100000"/>
              </a:lnSpc>
              <a:spcBef>
                <a:spcPts val="44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A common application of the declining-balance method is the </a:t>
            </a:r>
            <a:r>
              <a:rPr b="1" i="0" lang="en-US" sz="2200" u="none" cap="none" strike="noStrike">
                <a:solidFill>
                  <a:srgbClr val="BC3700"/>
                </a:solidFill>
                <a:latin typeface="Arial"/>
                <a:ea typeface="Arial"/>
                <a:cs typeface="Arial"/>
                <a:sym typeface="Arial"/>
              </a:rPr>
              <a:t>double-declining-balance method</a:t>
            </a:r>
            <a:r>
              <a:rPr b="1" i="0" lang="en-US" sz="2200" u="none" cap="none" strike="noStrike">
                <a:solidFill>
                  <a:schemeClr val="dk1"/>
                </a:solidFill>
                <a:latin typeface="Arial"/>
                <a:ea typeface="Arial"/>
                <a:cs typeface="Arial"/>
                <a:sym typeface="Arial"/>
              </a:rPr>
              <a:t>, in which the declining-balance rate is </a:t>
            </a:r>
            <a:r>
              <a:rPr b="1" i="0" lang="en-US" sz="2200" u="none" cap="none" strike="noStrike">
                <a:solidFill>
                  <a:srgbClr val="BC3700"/>
                </a:solidFill>
                <a:latin typeface="Arial"/>
                <a:ea typeface="Arial"/>
                <a:cs typeface="Arial"/>
                <a:sym typeface="Arial"/>
              </a:rPr>
              <a:t>double the straight-line rate</a:t>
            </a:r>
            <a:r>
              <a:rPr b="1" i="0" lang="en-US" sz="2200" u="none" cap="none" strike="noStrike">
                <a:solidFill>
                  <a:schemeClr val="dk1"/>
                </a:solidFill>
                <a:latin typeface="Arial"/>
                <a:ea typeface="Arial"/>
                <a:cs typeface="Arial"/>
                <a:sym typeface="Arial"/>
              </a:rPr>
              <a:t>. </a:t>
            </a:r>
            <a:endParaRPr/>
          </a:p>
          <a:p>
            <a:pPr indent="-361950" lvl="0" marL="361950" marR="0" rtl="0" algn="l">
              <a:lnSpc>
                <a:spcPct val="100000"/>
              </a:lnSpc>
              <a:spcBef>
                <a:spcPts val="44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If Barb’s Florists uses the double-declining-balance method, the depreciation is 40% (2 X the straight-line rate of 20%). </a:t>
            </a:r>
            <a:endParaRPr/>
          </a:p>
        </p:txBody>
      </p:sp>
      <p:grpSp>
        <p:nvGrpSpPr>
          <p:cNvPr id="321" name="Google Shape;321;p30"/>
          <p:cNvGrpSpPr/>
          <p:nvPr/>
        </p:nvGrpSpPr>
        <p:grpSpPr>
          <a:xfrm>
            <a:off x="3973512" y="5146675"/>
            <a:ext cx="1708150" cy="1203325"/>
            <a:chOff x="2503" y="3242"/>
            <a:chExt cx="1076" cy="758"/>
          </a:xfrm>
        </p:grpSpPr>
        <p:sp>
          <p:nvSpPr>
            <p:cNvPr id="322" name="Google Shape;322;p30"/>
            <p:cNvSpPr/>
            <p:nvPr/>
          </p:nvSpPr>
          <p:spPr>
            <a:xfrm>
              <a:off x="2552" y="3242"/>
              <a:ext cx="957" cy="758"/>
            </a:xfrm>
            <a:prstGeom prst="rect">
              <a:avLst/>
            </a:prstGeom>
            <a:solidFill>
              <a:srgbClr val="CCFFCC"/>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3" name="Google Shape;323;p30"/>
            <p:cNvSpPr txBox="1"/>
            <p:nvPr/>
          </p:nvSpPr>
          <p:spPr>
            <a:xfrm>
              <a:off x="2503" y="3343"/>
              <a:ext cx="1076" cy="526"/>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Units of</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Activity during the Year</a:t>
              </a:r>
              <a:endParaRPr/>
            </a:p>
          </p:txBody>
        </p:sp>
      </p:grpSp>
      <p:grpSp>
        <p:nvGrpSpPr>
          <p:cNvPr id="324" name="Google Shape;324;p30"/>
          <p:cNvGrpSpPr/>
          <p:nvPr/>
        </p:nvGrpSpPr>
        <p:grpSpPr>
          <a:xfrm>
            <a:off x="7185025" y="5137150"/>
            <a:ext cx="1525587" cy="1203325"/>
            <a:chOff x="4526" y="3236"/>
            <a:chExt cx="961" cy="758"/>
          </a:xfrm>
        </p:grpSpPr>
        <p:sp>
          <p:nvSpPr>
            <p:cNvPr id="325" name="Google Shape;325;p30"/>
            <p:cNvSpPr/>
            <p:nvPr/>
          </p:nvSpPr>
          <p:spPr>
            <a:xfrm>
              <a:off x="4526" y="3236"/>
              <a:ext cx="957" cy="758"/>
            </a:xfrm>
            <a:prstGeom prst="rect">
              <a:avLst/>
            </a:prstGeom>
            <a:solidFill>
              <a:srgbClr val="8CF4EA"/>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6" name="Google Shape;326;p30"/>
            <p:cNvSpPr txBox="1"/>
            <p:nvPr/>
          </p:nvSpPr>
          <p:spPr>
            <a:xfrm>
              <a:off x="4545" y="3415"/>
              <a:ext cx="942" cy="518"/>
            </a:xfrm>
            <a:prstGeom prst="rect">
              <a:avLst/>
            </a:prstGeom>
            <a:solidFill>
              <a:srgbClr val="8CF4EA"/>
            </a:solid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Annual Depreciation Expense</a:t>
              </a:r>
              <a:endParaRPr/>
            </a:p>
          </p:txBody>
        </p:sp>
      </p:grpSp>
      <p:grpSp>
        <p:nvGrpSpPr>
          <p:cNvPr id="327" name="Google Shape;327;p30"/>
          <p:cNvGrpSpPr/>
          <p:nvPr/>
        </p:nvGrpSpPr>
        <p:grpSpPr>
          <a:xfrm>
            <a:off x="914400" y="5105400"/>
            <a:ext cx="1519237" cy="1203325"/>
            <a:chOff x="563" y="3230"/>
            <a:chExt cx="957" cy="758"/>
          </a:xfrm>
        </p:grpSpPr>
        <p:sp>
          <p:nvSpPr>
            <p:cNvPr id="328" name="Google Shape;328;p30"/>
            <p:cNvSpPr/>
            <p:nvPr/>
          </p:nvSpPr>
          <p:spPr>
            <a:xfrm>
              <a:off x="563" y="3230"/>
              <a:ext cx="957" cy="758"/>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9" name="Google Shape;329;p30"/>
            <p:cNvSpPr txBox="1"/>
            <p:nvPr/>
          </p:nvSpPr>
          <p:spPr>
            <a:xfrm>
              <a:off x="579" y="3415"/>
              <a:ext cx="918" cy="364"/>
            </a:xfrm>
            <a:prstGeom prst="rect">
              <a:avLst/>
            </a:prstGeom>
            <a:solidFill>
              <a:srgbClr val="FFFF99"/>
            </a:solid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Depreciable</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Cost per Unit</a:t>
              </a:r>
              <a:endParaRPr/>
            </a:p>
          </p:txBody>
        </p:sp>
      </p:grpSp>
      <p:grpSp>
        <p:nvGrpSpPr>
          <p:cNvPr id="330" name="Google Shape;330;p30"/>
          <p:cNvGrpSpPr/>
          <p:nvPr/>
        </p:nvGrpSpPr>
        <p:grpSpPr>
          <a:xfrm>
            <a:off x="3082925" y="5518150"/>
            <a:ext cx="292100" cy="381000"/>
            <a:chOff x="1942" y="3476"/>
            <a:chExt cx="184" cy="240"/>
          </a:xfrm>
        </p:grpSpPr>
        <p:cxnSp>
          <p:nvCxnSpPr>
            <p:cNvPr id="331" name="Google Shape;331;p30"/>
            <p:cNvCxnSpPr/>
            <p:nvPr/>
          </p:nvCxnSpPr>
          <p:spPr>
            <a:xfrm flipH="1" rot="10800000">
              <a:off x="1942" y="3476"/>
              <a:ext cx="184" cy="240"/>
            </a:xfrm>
            <a:prstGeom prst="straightConnector1">
              <a:avLst/>
            </a:prstGeom>
            <a:noFill/>
            <a:ln cap="flat" cmpd="sng" w="50800">
              <a:solidFill>
                <a:schemeClr val="dk1"/>
              </a:solidFill>
              <a:prstDash val="solid"/>
              <a:miter lim="800000"/>
              <a:headEnd len="med" w="med" type="none"/>
              <a:tailEnd len="med" w="med" type="none"/>
            </a:ln>
          </p:spPr>
        </p:cxnSp>
        <p:cxnSp>
          <p:nvCxnSpPr>
            <p:cNvPr id="332" name="Google Shape;332;p30"/>
            <p:cNvCxnSpPr/>
            <p:nvPr/>
          </p:nvCxnSpPr>
          <p:spPr>
            <a:xfrm>
              <a:off x="1956" y="3495"/>
              <a:ext cx="156" cy="202"/>
            </a:xfrm>
            <a:prstGeom prst="straightConnector1">
              <a:avLst/>
            </a:prstGeom>
            <a:noFill/>
            <a:ln cap="flat" cmpd="sng" w="50800">
              <a:solidFill>
                <a:schemeClr val="dk1"/>
              </a:solidFill>
              <a:prstDash val="solid"/>
              <a:miter lim="800000"/>
              <a:headEnd len="med" w="med" type="none"/>
              <a:tailEnd len="med" w="med" type="none"/>
            </a:ln>
          </p:spPr>
        </p:cxnSp>
      </p:grpSp>
      <p:sp>
        <p:nvSpPr>
          <p:cNvPr id="333" name="Google Shape;333;p30"/>
          <p:cNvSpPr txBox="1"/>
          <p:nvPr/>
        </p:nvSpPr>
        <p:spPr>
          <a:xfrm>
            <a:off x="719137" y="6427787"/>
            <a:ext cx="8201025" cy="638175"/>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$13,000  x        40%         =      $5,200</a:t>
            </a:r>
            <a:endParaRPr/>
          </a:p>
        </p:txBody>
      </p:sp>
      <p:sp>
        <p:nvSpPr>
          <p:cNvPr id="334" name="Google Shape;334;p30"/>
          <p:cNvSpPr txBox="1"/>
          <p:nvPr/>
        </p:nvSpPr>
        <p:spPr>
          <a:xfrm>
            <a:off x="6172200" y="5638800"/>
            <a:ext cx="381000" cy="454025"/>
          </a:xfrm>
          <a:prstGeom prst="rect">
            <a:avLst/>
          </a:prstGeom>
          <a:noFill/>
          <a:ln>
            <a:noFill/>
          </a:ln>
          <a:effectLst>
            <a:outerShdw blurRad="63500" dir="2700000" dist="17960">
              <a:schemeClr val="lt2"/>
            </a:outerShdw>
          </a:effectLst>
        </p:spPr>
        <p:txBody>
          <a:bodyPr anchorCtr="0" anchor="t" bIns="44425" lIns="90475" spcFirstLastPara="1" rIns="90475" wrap="square" tIns="44425">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0">
                                            <p:txEl>
                                              <p:pRg end="0" st="0"/>
                                            </p:txEl>
                                          </p:spTgt>
                                        </p:tgtEl>
                                        <p:attrNameLst>
                                          <p:attrName>style.visibility</p:attrName>
                                        </p:attrNameLst>
                                      </p:cBhvr>
                                      <p:to>
                                        <p:strVal val="visible"/>
                                      </p:to>
                                    </p:set>
                                    <p:anim calcmode="lin" valueType="num">
                                      <p:cBhvr additive="base">
                                        <p:cTn dur="500"/>
                                        <p:tgtEl>
                                          <p:spTgt spid="32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0">
                                            <p:txEl>
                                              <p:pRg end="1" st="1"/>
                                            </p:txEl>
                                          </p:spTgt>
                                        </p:tgtEl>
                                        <p:attrNameLst>
                                          <p:attrName>style.visibility</p:attrName>
                                        </p:attrNameLst>
                                      </p:cBhvr>
                                      <p:to>
                                        <p:strVal val="visible"/>
                                      </p:to>
                                    </p:set>
                                    <p:anim calcmode="lin" valueType="num">
                                      <p:cBhvr additive="base">
                                        <p:cTn dur="500"/>
                                        <p:tgtEl>
                                          <p:spTgt spid="32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0">
                                            <p:txEl>
                                              <p:pRg end="2" st="2"/>
                                            </p:txEl>
                                          </p:spTgt>
                                        </p:tgtEl>
                                        <p:attrNameLst>
                                          <p:attrName>style.visibility</p:attrName>
                                        </p:attrNameLst>
                                      </p:cBhvr>
                                      <p:to>
                                        <p:strVal val="visible"/>
                                      </p:to>
                                    </p:set>
                                    <p:anim calcmode="lin" valueType="num">
                                      <p:cBhvr additive="base">
                                        <p:cTn dur="500"/>
                                        <p:tgtEl>
                                          <p:spTgt spid="32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8" name="Shape 338"/>
        <p:cNvGrpSpPr/>
        <p:nvPr/>
      </p:nvGrpSpPr>
      <p:grpSpPr>
        <a:xfrm>
          <a:off x="0" y="0"/>
          <a:ext cx="0" cy="0"/>
          <a:chOff x="0" y="0"/>
          <a:chExt cx="0" cy="0"/>
        </a:xfrm>
      </p:grpSpPr>
      <p:pic>
        <p:nvPicPr>
          <p:cNvPr id="339" name="Google Shape;339;p31"/>
          <p:cNvPicPr preferRelativeResize="0"/>
          <p:nvPr/>
        </p:nvPicPr>
        <p:blipFill rotWithShape="1">
          <a:blip r:embed="rId3">
            <a:alphaModFix/>
          </a:blip>
          <a:srcRect b="0" l="0" r="0" t="0"/>
          <a:stretch/>
        </p:blipFill>
        <p:spPr>
          <a:xfrm>
            <a:off x="1752600" y="2514600"/>
            <a:ext cx="6096000" cy="3429000"/>
          </a:xfrm>
          <a:prstGeom prst="rect">
            <a:avLst/>
          </a:prstGeom>
          <a:noFill/>
          <a:ln>
            <a:noFill/>
          </a:ln>
        </p:spPr>
      </p:pic>
      <p:sp>
        <p:nvSpPr>
          <p:cNvPr id="340" name="Google Shape;340;p31"/>
          <p:cNvSpPr txBox="1"/>
          <p:nvPr/>
        </p:nvSpPr>
        <p:spPr>
          <a:xfrm>
            <a:off x="858837" y="406400"/>
            <a:ext cx="788352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PATTERNS OF DEPRECIATION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32"/>
          <p:cNvSpPr txBox="1"/>
          <p:nvPr>
            <p:ph idx="1" type="body"/>
          </p:nvPr>
        </p:nvSpPr>
        <p:spPr>
          <a:xfrm>
            <a:off x="228600" y="1606550"/>
            <a:ext cx="9296400" cy="5175250"/>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Changes should be made </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Excessive wear and tear or obsolescence indicate that annual depreciation estimates are inadequate.</a:t>
            </a:r>
            <a:endParaRPr/>
          </a:p>
          <a:p>
            <a:pPr indent="-361950" lvl="0" marL="361950"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When a change is made</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No correction of previously recorded depreciation expense</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Depreciation expense for current and future years is revised</a:t>
            </a:r>
            <a:endParaRPr/>
          </a:p>
          <a:p>
            <a:pPr indent="-361950" lvl="0" marL="361950"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To determine the new annual depreciation 					expense</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The depreciable cost at the time of the revision is divided by the</a:t>
            </a:r>
            <a:endParaRPr/>
          </a:p>
          <a:p>
            <a:pPr indent="-303212" lvl="1" marL="785812" marR="0" rtl="0" algn="l">
              <a:lnSpc>
                <a:spcPct val="100000"/>
              </a:lnSpc>
              <a:spcBef>
                <a:spcPts val="48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     remaining useful life.</a:t>
            </a:r>
            <a:endParaRPr/>
          </a:p>
        </p:txBody>
      </p:sp>
      <p:sp>
        <p:nvSpPr>
          <p:cNvPr id="346" name="Google Shape;346;p32"/>
          <p:cNvSpPr txBox="1"/>
          <p:nvPr/>
        </p:nvSpPr>
        <p:spPr>
          <a:xfrm>
            <a:off x="1943100" y="0"/>
            <a:ext cx="5713412" cy="172085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3600"/>
              <a:buFont typeface="Arial Black"/>
              <a:buNone/>
            </a:pPr>
            <a:r>
              <a:rPr b="1" i="0" lang="en-US" sz="3600" u="none">
                <a:solidFill>
                  <a:srgbClr val="000099"/>
                </a:solidFill>
                <a:latin typeface="Arial Black"/>
                <a:ea typeface="Arial Black"/>
                <a:cs typeface="Arial Black"/>
                <a:sym typeface="Arial Black"/>
              </a:rPr>
              <a:t>REVISING PERIODIC DEPRECIATION</a:t>
            </a:r>
            <a:r>
              <a:rPr b="1" i="0" lang="en-US" sz="4400" u="none">
                <a:solidFill>
                  <a:schemeClr val="dk1"/>
                </a:solidFill>
                <a:latin typeface="Arial"/>
                <a:ea typeface="Arial"/>
                <a:cs typeface="Arial"/>
                <a:sym typeface="Arial"/>
              </a:rPr>
              <a:t> </a:t>
            </a:r>
            <a:endParaRPr/>
          </a:p>
          <a:p>
            <a:pPr indent="0" lvl="0" marL="0" marR="0" rtl="0" algn="ctr">
              <a:lnSpc>
                <a:spcPct val="100000"/>
              </a:lnSpc>
              <a:spcBef>
                <a:spcPts val="90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STUDY OBJECTIVE</a:t>
            </a:r>
            <a:r>
              <a:rPr b="1" i="0" lang="en-US" sz="1800" u="none">
                <a:solidFill>
                  <a:srgbClr val="790015"/>
                </a:solidFill>
                <a:latin typeface="Arial"/>
                <a:ea typeface="Arial"/>
                <a:cs typeface="Arial"/>
                <a:sym typeface="Arial"/>
              </a:rPr>
              <a:t> </a:t>
            </a:r>
            <a:r>
              <a:rPr b="1" i="0" lang="en-US" sz="1800" u="none">
                <a:solidFill>
                  <a:srgbClr val="971008"/>
                </a:solidFill>
                <a:latin typeface="Arial"/>
                <a:ea typeface="Arial"/>
                <a:cs typeface="Arial"/>
                <a:sym typeface="Arial"/>
              </a:rPr>
              <a:t>4</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anim calcmode="lin" valueType="num">
                                      <p:cBhvr additive="base">
                                        <p:cTn dur="500"/>
                                        <p:tgtEl>
                                          <p:spTgt spid="34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anim calcmode="lin" valueType="num">
                                      <p:cBhvr additive="base">
                                        <p:cTn dur="500"/>
                                        <p:tgtEl>
                                          <p:spTgt spid="34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anim calcmode="lin" valueType="num">
                                      <p:cBhvr additive="base">
                                        <p:cTn dur="500"/>
                                        <p:tgtEl>
                                          <p:spTgt spid="34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
                                            <p:txEl>
                                              <p:pRg end="3" st="3"/>
                                            </p:txEl>
                                          </p:spTgt>
                                        </p:tgtEl>
                                        <p:attrNameLst>
                                          <p:attrName>style.visibility</p:attrName>
                                        </p:attrNameLst>
                                      </p:cBhvr>
                                      <p:to>
                                        <p:strVal val="visible"/>
                                      </p:to>
                                    </p:set>
                                    <p:anim calcmode="lin" valueType="num">
                                      <p:cBhvr additive="base">
                                        <p:cTn dur="500"/>
                                        <p:tgtEl>
                                          <p:spTgt spid="34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
                                            <p:txEl>
                                              <p:pRg end="4" st="4"/>
                                            </p:txEl>
                                          </p:spTgt>
                                        </p:tgtEl>
                                        <p:attrNameLst>
                                          <p:attrName>style.visibility</p:attrName>
                                        </p:attrNameLst>
                                      </p:cBhvr>
                                      <p:to>
                                        <p:strVal val="visible"/>
                                      </p:to>
                                    </p:set>
                                    <p:anim calcmode="lin" valueType="num">
                                      <p:cBhvr additive="base">
                                        <p:cTn dur="500"/>
                                        <p:tgtEl>
                                          <p:spTgt spid="345">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
                                            <p:txEl>
                                              <p:pRg end="5" st="5"/>
                                            </p:txEl>
                                          </p:spTgt>
                                        </p:tgtEl>
                                        <p:attrNameLst>
                                          <p:attrName>style.visibility</p:attrName>
                                        </p:attrNameLst>
                                      </p:cBhvr>
                                      <p:to>
                                        <p:strVal val="visible"/>
                                      </p:to>
                                    </p:set>
                                    <p:anim calcmode="lin" valueType="num">
                                      <p:cBhvr additive="base">
                                        <p:cTn dur="500"/>
                                        <p:tgtEl>
                                          <p:spTgt spid="345">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
                                            <p:txEl>
                                              <p:pRg end="6" st="6"/>
                                            </p:txEl>
                                          </p:spTgt>
                                        </p:tgtEl>
                                        <p:attrNameLst>
                                          <p:attrName>style.visibility</p:attrName>
                                        </p:attrNameLst>
                                      </p:cBhvr>
                                      <p:to>
                                        <p:strVal val="visible"/>
                                      </p:to>
                                    </p:set>
                                    <p:anim calcmode="lin" valueType="num">
                                      <p:cBhvr additive="base">
                                        <p:cTn dur="500"/>
                                        <p:tgtEl>
                                          <p:spTgt spid="345">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
                                            <p:txEl>
                                              <p:pRg end="7" st="7"/>
                                            </p:txEl>
                                          </p:spTgt>
                                        </p:tgtEl>
                                        <p:attrNameLst>
                                          <p:attrName>style.visibility</p:attrName>
                                        </p:attrNameLst>
                                      </p:cBhvr>
                                      <p:to>
                                        <p:strVal val="visible"/>
                                      </p:to>
                                    </p:set>
                                    <p:anim calcmode="lin" valueType="num">
                                      <p:cBhvr additive="base">
                                        <p:cTn dur="500"/>
                                        <p:tgtEl>
                                          <p:spTgt spid="345">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0" name="Shape 350"/>
        <p:cNvGrpSpPr/>
        <p:nvPr/>
      </p:nvGrpSpPr>
      <p:grpSpPr>
        <a:xfrm>
          <a:off x="0" y="0"/>
          <a:ext cx="0" cy="0"/>
          <a:chOff x="0" y="0"/>
          <a:chExt cx="0" cy="0"/>
        </a:xfrm>
      </p:grpSpPr>
      <p:sp>
        <p:nvSpPr>
          <p:cNvPr id="351" name="Google Shape;351;p33"/>
          <p:cNvSpPr txBox="1"/>
          <p:nvPr/>
        </p:nvSpPr>
        <p:spPr>
          <a:xfrm>
            <a:off x="858837" y="387350"/>
            <a:ext cx="788352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REVISED DEPRECIATION COMPUTATION</a:t>
            </a:r>
            <a:endParaRPr/>
          </a:p>
        </p:txBody>
      </p:sp>
      <p:sp>
        <p:nvSpPr>
          <p:cNvPr id="352" name="Google Shape;352;p33"/>
          <p:cNvSpPr txBox="1"/>
          <p:nvPr>
            <p:ph idx="1" type="body"/>
          </p:nvPr>
        </p:nvSpPr>
        <p:spPr>
          <a:xfrm>
            <a:off x="857250" y="1947862"/>
            <a:ext cx="7867650" cy="2300287"/>
          </a:xfrm>
          <a:prstGeom prst="rect">
            <a:avLst/>
          </a:prstGeom>
          <a:solidFill>
            <a:srgbClr val="FCD1C1"/>
          </a:solidFill>
          <a:ln>
            <a:noFill/>
          </a:ln>
          <a:effectLst>
            <a:outerShdw blurRad="63500" dir="2700000" dist="35921">
              <a:srgbClr val="808080"/>
            </a:outerShdw>
          </a:effectLst>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Barb’s Florists decides on January 1, 2008, to extend the useful life of the truck one year because of its excellent condition.  The company has used the straight-line method to depreciate the asset to date, and book value is $5,800 ($13,000 - $7,200).  The new annual depreciation is $1,600, calculated as follows: </a:t>
            </a:r>
            <a:endParaRPr/>
          </a:p>
        </p:txBody>
      </p:sp>
      <p:sp>
        <p:nvSpPr>
          <p:cNvPr id="353" name="Google Shape;353;p33"/>
          <p:cNvSpPr/>
          <p:nvPr/>
        </p:nvSpPr>
        <p:spPr>
          <a:xfrm>
            <a:off x="838200" y="4419600"/>
            <a:ext cx="7886700" cy="2535237"/>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4" name="Google Shape;354;p33"/>
          <p:cNvSpPr txBox="1"/>
          <p:nvPr/>
        </p:nvSpPr>
        <p:spPr>
          <a:xfrm>
            <a:off x="863600" y="4614862"/>
            <a:ext cx="2381250" cy="3937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Book value, 1/1/08</a:t>
            </a:r>
            <a:endParaRPr/>
          </a:p>
        </p:txBody>
      </p:sp>
      <p:sp>
        <p:nvSpPr>
          <p:cNvPr id="355" name="Google Shape;355;p33"/>
          <p:cNvSpPr txBox="1"/>
          <p:nvPr/>
        </p:nvSpPr>
        <p:spPr>
          <a:xfrm>
            <a:off x="6105525" y="4614862"/>
            <a:ext cx="957262" cy="3937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$5,800</a:t>
            </a:r>
            <a:endParaRPr/>
          </a:p>
        </p:txBody>
      </p:sp>
      <p:sp>
        <p:nvSpPr>
          <p:cNvPr id="356" name="Google Shape;356;p33"/>
          <p:cNvSpPr txBox="1"/>
          <p:nvPr/>
        </p:nvSpPr>
        <p:spPr>
          <a:xfrm>
            <a:off x="863600" y="4913312"/>
            <a:ext cx="2676525" cy="4064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Less:  Salvage value</a:t>
            </a:r>
            <a:endParaRPr/>
          </a:p>
        </p:txBody>
      </p:sp>
      <p:sp>
        <p:nvSpPr>
          <p:cNvPr id="357" name="Google Shape;357;p33"/>
          <p:cNvSpPr txBox="1"/>
          <p:nvPr/>
        </p:nvSpPr>
        <p:spPr>
          <a:xfrm>
            <a:off x="6096000" y="4953000"/>
            <a:ext cx="968375" cy="3937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sng">
                <a:solidFill>
                  <a:srgbClr val="000000"/>
                </a:solidFill>
                <a:latin typeface="Arial"/>
                <a:ea typeface="Arial"/>
                <a:cs typeface="Arial"/>
                <a:sym typeface="Arial"/>
              </a:rPr>
              <a:t>  1,000</a:t>
            </a:r>
            <a:endParaRPr/>
          </a:p>
        </p:txBody>
      </p:sp>
      <p:sp>
        <p:nvSpPr>
          <p:cNvPr id="358" name="Google Shape;358;p33"/>
          <p:cNvSpPr/>
          <p:nvPr/>
        </p:nvSpPr>
        <p:spPr>
          <a:xfrm>
            <a:off x="5973762" y="5253037"/>
            <a:ext cx="1116012" cy="7937"/>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9" name="Google Shape;359;p33"/>
          <p:cNvSpPr txBox="1"/>
          <p:nvPr/>
        </p:nvSpPr>
        <p:spPr>
          <a:xfrm>
            <a:off x="863600" y="5229225"/>
            <a:ext cx="2225675" cy="4064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Depreciable cost</a:t>
            </a:r>
            <a:endParaRPr/>
          </a:p>
        </p:txBody>
      </p:sp>
      <p:sp>
        <p:nvSpPr>
          <p:cNvPr id="360" name="Google Shape;360;p33"/>
          <p:cNvSpPr txBox="1"/>
          <p:nvPr/>
        </p:nvSpPr>
        <p:spPr>
          <a:xfrm>
            <a:off x="6105525" y="5229225"/>
            <a:ext cx="1096962" cy="3937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$4,800  </a:t>
            </a:r>
            <a:endParaRPr/>
          </a:p>
        </p:txBody>
      </p:sp>
      <p:sp>
        <p:nvSpPr>
          <p:cNvPr id="361" name="Google Shape;361;p33"/>
          <p:cNvSpPr/>
          <p:nvPr/>
        </p:nvSpPr>
        <p:spPr>
          <a:xfrm>
            <a:off x="6022975" y="5592762"/>
            <a:ext cx="1038225" cy="9525"/>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2" name="Google Shape;362;p33"/>
          <p:cNvSpPr/>
          <p:nvPr/>
        </p:nvSpPr>
        <p:spPr>
          <a:xfrm>
            <a:off x="6022975" y="5629275"/>
            <a:ext cx="1038225" cy="7937"/>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3" name="Google Shape;363;p33"/>
          <p:cNvSpPr txBox="1"/>
          <p:nvPr/>
        </p:nvSpPr>
        <p:spPr>
          <a:xfrm>
            <a:off x="863600" y="5902325"/>
            <a:ext cx="2744787" cy="4064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Remaining useful life</a:t>
            </a:r>
            <a:endParaRPr/>
          </a:p>
        </p:txBody>
      </p:sp>
      <p:sp>
        <p:nvSpPr>
          <p:cNvPr id="364" name="Google Shape;364;p33"/>
          <p:cNvSpPr txBox="1"/>
          <p:nvPr/>
        </p:nvSpPr>
        <p:spPr>
          <a:xfrm>
            <a:off x="6081712" y="5902325"/>
            <a:ext cx="1069975" cy="4064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3 years</a:t>
            </a:r>
            <a:endParaRPr/>
          </a:p>
        </p:txBody>
      </p:sp>
      <p:sp>
        <p:nvSpPr>
          <p:cNvPr id="365" name="Google Shape;365;p33"/>
          <p:cNvSpPr txBox="1"/>
          <p:nvPr/>
        </p:nvSpPr>
        <p:spPr>
          <a:xfrm>
            <a:off x="7196137" y="5902325"/>
            <a:ext cx="1563687" cy="3937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(2008-2010)</a:t>
            </a:r>
            <a:endParaRPr/>
          </a:p>
        </p:txBody>
      </p:sp>
      <p:sp>
        <p:nvSpPr>
          <p:cNvPr id="366" name="Google Shape;366;p33"/>
          <p:cNvSpPr txBox="1"/>
          <p:nvPr/>
        </p:nvSpPr>
        <p:spPr>
          <a:xfrm>
            <a:off x="863600" y="6499225"/>
            <a:ext cx="5072062" cy="4064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800000"/>
              </a:buClr>
              <a:buSzPts val="2000"/>
              <a:buFont typeface="Arial"/>
              <a:buNone/>
            </a:pPr>
            <a:r>
              <a:rPr b="1" i="0" lang="en-US" sz="2000" u="none">
                <a:solidFill>
                  <a:srgbClr val="800000"/>
                </a:solidFill>
                <a:latin typeface="Arial"/>
                <a:ea typeface="Arial"/>
                <a:cs typeface="Arial"/>
                <a:sym typeface="Arial"/>
              </a:rPr>
              <a:t>Revised annual depreciation ($4,800 ÷ 3)</a:t>
            </a:r>
            <a:endParaRPr/>
          </a:p>
        </p:txBody>
      </p:sp>
      <p:sp>
        <p:nvSpPr>
          <p:cNvPr id="367" name="Google Shape;367;p33"/>
          <p:cNvSpPr txBox="1"/>
          <p:nvPr/>
        </p:nvSpPr>
        <p:spPr>
          <a:xfrm>
            <a:off x="6105525" y="6499225"/>
            <a:ext cx="957262" cy="3937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800000"/>
              </a:buClr>
              <a:buSzPts val="2000"/>
              <a:buFont typeface="Arial"/>
              <a:buNone/>
            </a:pPr>
            <a:r>
              <a:rPr b="1" i="0" lang="en-US" sz="2000" u="none">
                <a:solidFill>
                  <a:srgbClr val="800000"/>
                </a:solidFill>
                <a:latin typeface="Arial"/>
                <a:ea typeface="Arial"/>
                <a:cs typeface="Arial"/>
                <a:sym typeface="Arial"/>
              </a:rPr>
              <a:t>$1,600</a:t>
            </a:r>
            <a:endParaRPr/>
          </a:p>
        </p:txBody>
      </p:sp>
      <p:sp>
        <p:nvSpPr>
          <p:cNvPr id="368" name="Google Shape;368;p33"/>
          <p:cNvSpPr/>
          <p:nvPr/>
        </p:nvSpPr>
        <p:spPr>
          <a:xfrm>
            <a:off x="6022975" y="6862762"/>
            <a:ext cx="1038225" cy="9525"/>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 name="Google Shape;369;p33"/>
          <p:cNvSpPr/>
          <p:nvPr/>
        </p:nvSpPr>
        <p:spPr>
          <a:xfrm>
            <a:off x="6022975" y="6899275"/>
            <a:ext cx="1038225" cy="7937"/>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2">
                                            <p:txEl>
                                              <p:pRg end="0" st="0"/>
                                            </p:txEl>
                                          </p:spTgt>
                                        </p:tgtEl>
                                        <p:attrNameLst>
                                          <p:attrName>style.visibility</p:attrName>
                                        </p:attrNameLst>
                                      </p:cBhvr>
                                      <p:to>
                                        <p:strVal val="visible"/>
                                      </p:to>
                                    </p:set>
                                    <p:anim calcmode="lin" valueType="num">
                                      <p:cBhvr additive="base">
                                        <p:cTn dur="500"/>
                                        <p:tgtEl>
                                          <p:spTgt spid="35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3" name="Shape 373"/>
        <p:cNvGrpSpPr/>
        <p:nvPr/>
      </p:nvGrpSpPr>
      <p:grpSpPr>
        <a:xfrm>
          <a:off x="0" y="0"/>
          <a:ext cx="0" cy="0"/>
          <a:chOff x="0" y="0"/>
          <a:chExt cx="0" cy="0"/>
        </a:xfrm>
      </p:grpSpPr>
      <p:sp>
        <p:nvSpPr>
          <p:cNvPr id="374" name="Google Shape;374;p34"/>
          <p:cNvSpPr txBox="1"/>
          <p:nvPr>
            <p:ph idx="1" type="body"/>
          </p:nvPr>
        </p:nvSpPr>
        <p:spPr>
          <a:xfrm>
            <a:off x="457200" y="1684337"/>
            <a:ext cx="8305800" cy="5535612"/>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3200"/>
              <a:buFont typeface="Times New Roman"/>
              <a:buChar char="•"/>
            </a:pPr>
            <a:r>
              <a:rPr b="1" i="0" lang="en-US" sz="3200" u="none" cap="none" strike="noStrike">
                <a:solidFill>
                  <a:srgbClr val="BC3700"/>
                </a:solidFill>
                <a:latin typeface="Times New Roman"/>
                <a:ea typeface="Times New Roman"/>
                <a:cs typeface="Times New Roman"/>
                <a:sym typeface="Times New Roman"/>
              </a:rPr>
              <a:t>Ordinary repairs</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expenditures to </a:t>
            </a:r>
            <a:r>
              <a:rPr b="1" i="0" lang="en-US" sz="2800" u="none" cap="none" strike="noStrike">
                <a:solidFill>
                  <a:srgbClr val="BC3700"/>
                </a:solidFill>
                <a:latin typeface="Times New Roman"/>
                <a:ea typeface="Times New Roman"/>
                <a:cs typeface="Times New Roman"/>
                <a:sym typeface="Times New Roman"/>
              </a:rPr>
              <a:t>maintain</a:t>
            </a:r>
            <a:r>
              <a:rPr b="1" i="0" lang="en-US" sz="2800" u="none" cap="none" strike="noStrike">
                <a:solidFill>
                  <a:schemeClr val="dk1"/>
                </a:solidFill>
                <a:latin typeface="Times New Roman"/>
                <a:ea typeface="Times New Roman"/>
                <a:cs typeface="Times New Roman"/>
                <a:sym typeface="Times New Roman"/>
              </a:rPr>
              <a:t> the operating</a:t>
            </a:r>
            <a:endParaRPr/>
          </a:p>
          <a:p>
            <a:pPr indent="-303212" lvl="1" marL="785812" marR="0" rtl="0" algn="l">
              <a:lnSpc>
                <a:spcPct val="10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efficiency and productive life of the unit</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such repairs are debited to </a:t>
            </a:r>
            <a:r>
              <a:rPr b="1" i="0" lang="en-US" sz="2800" u="none" cap="none" strike="noStrike">
                <a:solidFill>
                  <a:srgbClr val="BC3700"/>
                </a:solidFill>
                <a:latin typeface="Times New Roman"/>
                <a:ea typeface="Times New Roman"/>
                <a:cs typeface="Times New Roman"/>
                <a:sym typeface="Times New Roman"/>
              </a:rPr>
              <a:t>Repairs Expense</a:t>
            </a:r>
            <a:r>
              <a:rPr b="1" i="0" lang="en-US" sz="2800" u="none" cap="none" strike="noStrike">
                <a:solidFill>
                  <a:schemeClr val="accent2"/>
                </a:solidFill>
                <a:latin typeface="Times New Roman"/>
                <a:ea typeface="Times New Roman"/>
                <a:cs typeface="Times New Roman"/>
                <a:sym typeface="Times New Roman"/>
              </a:rPr>
              <a:t> </a:t>
            </a:r>
            <a:r>
              <a:rPr b="1" i="0" lang="en-US" sz="2800" u="none" cap="none" strike="noStrike">
                <a:solidFill>
                  <a:schemeClr val="dk1"/>
                </a:solidFill>
                <a:latin typeface="Times New Roman"/>
                <a:ea typeface="Times New Roman"/>
                <a:cs typeface="Times New Roman"/>
                <a:sym typeface="Times New Roman"/>
              </a:rPr>
              <a:t>as</a:t>
            </a:r>
            <a:endParaRPr/>
          </a:p>
          <a:p>
            <a:pPr indent="-303212" lvl="1" marL="785812" marR="0" rtl="0" algn="l">
              <a:lnSpc>
                <a:spcPct val="10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incurred and are often referred to as </a:t>
            </a:r>
            <a:r>
              <a:rPr b="1" i="0" lang="en-US" sz="2800" u="none" cap="none" strike="noStrike">
                <a:solidFill>
                  <a:srgbClr val="BC3700"/>
                </a:solidFill>
                <a:latin typeface="Times New Roman"/>
                <a:ea typeface="Times New Roman"/>
                <a:cs typeface="Times New Roman"/>
                <a:sym typeface="Times New Roman"/>
              </a:rPr>
              <a:t>revenue</a:t>
            </a:r>
            <a:endParaRPr/>
          </a:p>
          <a:p>
            <a:pPr indent="-303212" lvl="1" marL="785812" marR="0" rtl="0" algn="l">
              <a:lnSpc>
                <a:spcPct val="100000"/>
              </a:lnSpc>
              <a:spcBef>
                <a:spcPts val="560"/>
              </a:spcBef>
              <a:spcAft>
                <a:spcPts val="0"/>
              </a:spcAft>
              <a:buClr>
                <a:srgbClr val="BC3700"/>
              </a:buClr>
              <a:buSzPts val="2800"/>
              <a:buFont typeface="Times New Roman"/>
              <a:buNone/>
            </a:pPr>
            <a:r>
              <a:rPr b="1" i="0" lang="en-US" sz="2800" u="none" cap="none" strike="noStrike">
                <a:solidFill>
                  <a:srgbClr val="BC3700"/>
                </a:solidFill>
                <a:latin typeface="Times New Roman"/>
                <a:ea typeface="Times New Roman"/>
                <a:cs typeface="Times New Roman"/>
                <a:sym typeface="Times New Roman"/>
              </a:rPr>
              <a:t>  expenditures</a:t>
            </a:r>
            <a:r>
              <a:rPr b="1" i="0" lang="en-US" sz="2800" u="none" cap="none" strike="noStrike">
                <a:solidFill>
                  <a:schemeClr val="dk1"/>
                </a:solidFill>
                <a:latin typeface="Times New Roman"/>
                <a:ea typeface="Times New Roman"/>
                <a:cs typeface="Times New Roman"/>
                <a:sym typeface="Times New Roman"/>
              </a:rPr>
              <a:t>.</a:t>
            </a:r>
            <a:endParaRPr/>
          </a:p>
        </p:txBody>
      </p:sp>
      <p:sp>
        <p:nvSpPr>
          <p:cNvPr id="375" name="Google Shape;375;p34"/>
          <p:cNvSpPr txBox="1"/>
          <p:nvPr/>
        </p:nvSpPr>
        <p:spPr>
          <a:xfrm>
            <a:off x="1277937" y="192087"/>
            <a:ext cx="7045325" cy="240665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EXPENDITURES DURING USEFUL LIFE</a:t>
            </a:r>
            <a:endParaRPr/>
          </a:p>
          <a:p>
            <a:pPr indent="0" lvl="0" marL="0" marR="0" rtl="0" algn="ctr">
              <a:lnSpc>
                <a:spcPct val="100000"/>
              </a:lnSpc>
              <a:spcBef>
                <a:spcPts val="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STUDY OBJECTIVE</a:t>
            </a:r>
            <a:r>
              <a:rPr b="1" i="0" lang="en-US" sz="1800" u="none">
                <a:solidFill>
                  <a:srgbClr val="790015"/>
                </a:solidFill>
                <a:latin typeface="Arial"/>
                <a:ea typeface="Arial"/>
                <a:cs typeface="Arial"/>
                <a:sym typeface="Arial"/>
              </a:rPr>
              <a:t> </a:t>
            </a:r>
            <a:r>
              <a:rPr b="1" i="0" lang="en-US" sz="1800" u="none">
                <a:solidFill>
                  <a:srgbClr val="971008"/>
                </a:solidFill>
                <a:latin typeface="Arial"/>
                <a:ea typeface="Arial"/>
                <a:cs typeface="Arial"/>
                <a:sym typeface="Arial"/>
              </a:rPr>
              <a:t>5</a:t>
            </a:r>
            <a:endParaRPr/>
          </a:p>
          <a:p>
            <a:pPr indent="0" lvl="0" marL="0" marR="0" rtl="0" algn="l">
              <a:lnSpc>
                <a:spcPct val="100000"/>
              </a:lnSpc>
              <a:spcBef>
                <a:spcPts val="0"/>
              </a:spcBef>
              <a:spcAft>
                <a:spcPts val="0"/>
              </a:spcAft>
              <a:buNone/>
            </a:pPr>
            <a:r>
              <a:t/>
            </a:r>
            <a:endParaRPr b="1" i="0" sz="1800" u="none">
              <a:solidFill>
                <a:srgbClr val="971008"/>
              </a:solidFill>
              <a:latin typeface="Arial"/>
              <a:ea typeface="Arial"/>
              <a:cs typeface="Arial"/>
              <a:sym typeface="Arial"/>
            </a:endParaRPr>
          </a:p>
        </p:txBody>
      </p:sp>
      <p:pic>
        <p:nvPicPr>
          <p:cNvPr id="376" name="Google Shape;376;p34"/>
          <p:cNvPicPr preferRelativeResize="0"/>
          <p:nvPr/>
        </p:nvPicPr>
        <p:blipFill rotWithShape="1">
          <a:blip r:embed="rId3">
            <a:alphaModFix/>
          </a:blip>
          <a:srcRect b="0" l="0" r="0" t="0"/>
          <a:stretch/>
        </p:blipFill>
        <p:spPr>
          <a:xfrm>
            <a:off x="8153400" y="6019800"/>
            <a:ext cx="539750" cy="658812"/>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4">
                                            <p:txEl>
                                              <p:pRg end="0" st="0"/>
                                            </p:txEl>
                                          </p:spTgt>
                                        </p:tgtEl>
                                        <p:attrNameLst>
                                          <p:attrName>style.visibility</p:attrName>
                                        </p:attrNameLst>
                                      </p:cBhvr>
                                      <p:to>
                                        <p:strVal val="visible"/>
                                      </p:to>
                                    </p:set>
                                    <p:anim calcmode="lin" valueType="num">
                                      <p:cBhvr additive="base">
                                        <p:cTn dur="500"/>
                                        <p:tgtEl>
                                          <p:spTgt spid="37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4">
                                            <p:txEl>
                                              <p:pRg end="1" st="1"/>
                                            </p:txEl>
                                          </p:spTgt>
                                        </p:tgtEl>
                                        <p:attrNameLst>
                                          <p:attrName>style.visibility</p:attrName>
                                        </p:attrNameLst>
                                      </p:cBhvr>
                                      <p:to>
                                        <p:strVal val="visible"/>
                                      </p:to>
                                    </p:set>
                                    <p:anim calcmode="lin" valueType="num">
                                      <p:cBhvr additive="base">
                                        <p:cTn dur="500"/>
                                        <p:tgtEl>
                                          <p:spTgt spid="374">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4">
                                            <p:txEl>
                                              <p:pRg end="2" st="2"/>
                                            </p:txEl>
                                          </p:spTgt>
                                        </p:tgtEl>
                                        <p:attrNameLst>
                                          <p:attrName>style.visibility</p:attrName>
                                        </p:attrNameLst>
                                      </p:cBhvr>
                                      <p:to>
                                        <p:strVal val="visible"/>
                                      </p:to>
                                    </p:set>
                                    <p:anim calcmode="lin" valueType="num">
                                      <p:cBhvr additive="base">
                                        <p:cTn dur="500"/>
                                        <p:tgtEl>
                                          <p:spTgt spid="374">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4">
                                            <p:txEl>
                                              <p:pRg end="3" st="3"/>
                                            </p:txEl>
                                          </p:spTgt>
                                        </p:tgtEl>
                                        <p:attrNameLst>
                                          <p:attrName>style.visibility</p:attrName>
                                        </p:attrNameLst>
                                      </p:cBhvr>
                                      <p:to>
                                        <p:strVal val="visible"/>
                                      </p:to>
                                    </p:set>
                                    <p:anim calcmode="lin" valueType="num">
                                      <p:cBhvr additive="base">
                                        <p:cTn dur="500"/>
                                        <p:tgtEl>
                                          <p:spTgt spid="374">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4">
                                            <p:txEl>
                                              <p:pRg end="4" st="4"/>
                                            </p:txEl>
                                          </p:spTgt>
                                        </p:tgtEl>
                                        <p:attrNameLst>
                                          <p:attrName>style.visibility</p:attrName>
                                        </p:attrNameLst>
                                      </p:cBhvr>
                                      <p:to>
                                        <p:strVal val="visible"/>
                                      </p:to>
                                    </p:set>
                                    <p:anim calcmode="lin" valueType="num">
                                      <p:cBhvr additive="base">
                                        <p:cTn dur="500"/>
                                        <p:tgtEl>
                                          <p:spTgt spid="374">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4">
                                            <p:txEl>
                                              <p:pRg end="5" st="5"/>
                                            </p:txEl>
                                          </p:spTgt>
                                        </p:tgtEl>
                                        <p:attrNameLst>
                                          <p:attrName>style.visibility</p:attrName>
                                        </p:attrNameLst>
                                      </p:cBhvr>
                                      <p:to>
                                        <p:strVal val="visible"/>
                                      </p:to>
                                    </p:set>
                                    <p:anim calcmode="lin" valueType="num">
                                      <p:cBhvr additive="base">
                                        <p:cTn dur="500"/>
                                        <p:tgtEl>
                                          <p:spTgt spid="374">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0" name="Shape 380"/>
        <p:cNvGrpSpPr/>
        <p:nvPr/>
      </p:nvGrpSpPr>
      <p:grpSpPr>
        <a:xfrm>
          <a:off x="0" y="0"/>
          <a:ext cx="0" cy="0"/>
          <a:chOff x="0" y="0"/>
          <a:chExt cx="0" cy="0"/>
        </a:xfrm>
      </p:grpSpPr>
      <p:sp>
        <p:nvSpPr>
          <p:cNvPr id="381" name="Google Shape;381;p35"/>
          <p:cNvSpPr txBox="1"/>
          <p:nvPr>
            <p:ph idx="1" type="body"/>
          </p:nvPr>
        </p:nvSpPr>
        <p:spPr>
          <a:xfrm>
            <a:off x="457200" y="1684337"/>
            <a:ext cx="8305800" cy="5535612"/>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3700"/>
              <a:buFont typeface="Times New Roman"/>
              <a:buChar char="•"/>
            </a:pPr>
            <a:r>
              <a:rPr b="1" i="0" lang="en-US" sz="3700" u="none" cap="none" strike="noStrike">
                <a:solidFill>
                  <a:srgbClr val="BC3700"/>
                </a:solidFill>
                <a:latin typeface="Times New Roman"/>
                <a:ea typeface="Times New Roman"/>
                <a:cs typeface="Times New Roman"/>
                <a:sym typeface="Times New Roman"/>
              </a:rPr>
              <a:t>Capital expenditures</a:t>
            </a:r>
            <a:endParaRPr/>
          </a:p>
          <a:p>
            <a:pPr indent="-361950" lvl="0" marL="361950" marR="0" rtl="0" algn="l">
              <a:lnSpc>
                <a:spcPct val="100000"/>
              </a:lnSpc>
              <a:spcBef>
                <a:spcPts val="64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a:t>
            </a:r>
            <a:r>
              <a:rPr b="1" i="0" lang="en-US" sz="3200" u="none" cap="none" strike="noStrike">
                <a:solidFill>
                  <a:schemeClr val="dk1"/>
                </a:solidFill>
                <a:latin typeface="Times New Roman"/>
                <a:ea typeface="Times New Roman"/>
                <a:cs typeface="Times New Roman"/>
                <a:sym typeface="Times New Roman"/>
              </a:rPr>
              <a:t>Additions and improvements </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increase the operating efficiency, 	productive 	capacity, or useful life of a plant asset</a:t>
            </a:r>
            <a:endParaRPr/>
          </a:p>
          <a:p>
            <a:pPr indent="-361950" lvl="0" marL="361950" marR="0" rtl="0" algn="l">
              <a:lnSpc>
                <a:spcPct val="100000"/>
              </a:lnSpc>
              <a:spcBef>
                <a:spcPts val="640"/>
              </a:spcBef>
              <a:spcAft>
                <a:spcPts val="0"/>
              </a:spcAft>
              <a:buClr>
                <a:srgbClr val="BC3700"/>
              </a:buClr>
              <a:buSzPts val="3200"/>
              <a:buFont typeface="Arial"/>
              <a:buNone/>
            </a:pPr>
            <a:r>
              <a:rPr b="1" i="0" lang="en-US" sz="3200" u="none" cap="none" strike="noStrike">
                <a:solidFill>
                  <a:srgbClr val="BC3700"/>
                </a:solidFill>
                <a:latin typeface="Arial"/>
                <a:ea typeface="Arial"/>
                <a:cs typeface="Arial"/>
                <a:sym typeface="Arial"/>
              </a:rPr>
              <a:t>	1</a:t>
            </a:r>
            <a:r>
              <a:rPr b="1" i="0" lang="en-US" sz="3200" u="none" cap="none" strike="noStrike">
                <a:solidFill>
                  <a:schemeClr val="dk1"/>
                </a:solidFill>
                <a:latin typeface="Times New Roman"/>
                <a:ea typeface="Times New Roman"/>
                <a:cs typeface="Times New Roman"/>
                <a:sym typeface="Times New Roman"/>
              </a:rPr>
              <a:t> Usually material in amount and occur </a:t>
            </a:r>
            <a:endParaRPr/>
          </a:p>
          <a:p>
            <a:pPr indent="-361950" lvl="0" marL="361950" marR="0" rtl="0" algn="l">
              <a:lnSpc>
                <a:spcPct val="100000"/>
              </a:lnSpc>
              <a:spcBef>
                <a:spcPts val="64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  	    infrequently.</a:t>
            </a:r>
            <a:endParaRPr/>
          </a:p>
          <a:p>
            <a:pPr indent="-303212" lvl="1" marL="785812" marR="0" rtl="0" algn="l">
              <a:lnSpc>
                <a:spcPct val="100000"/>
              </a:lnSpc>
              <a:spcBef>
                <a:spcPts val="660"/>
              </a:spcBef>
              <a:spcAft>
                <a:spcPts val="0"/>
              </a:spcAft>
              <a:buClr>
                <a:srgbClr val="BC3700"/>
              </a:buClr>
              <a:buSzPts val="3300"/>
              <a:buFont typeface="Arial"/>
              <a:buNone/>
            </a:pPr>
            <a:r>
              <a:rPr b="1" i="0" lang="en-US" sz="3300" u="none" cap="none" strike="noStrike">
                <a:solidFill>
                  <a:srgbClr val="BC3700"/>
                </a:solidFill>
                <a:latin typeface="Arial"/>
                <a:ea typeface="Arial"/>
                <a:cs typeface="Arial"/>
                <a:sym typeface="Arial"/>
              </a:rPr>
              <a:t>	2</a:t>
            </a:r>
            <a:r>
              <a:rPr b="1" i="0" lang="en-US" sz="3300" u="none" cap="none" strike="noStrike">
                <a:solidFill>
                  <a:schemeClr val="dk1"/>
                </a:solidFill>
                <a:latin typeface="Times New Roman"/>
                <a:ea typeface="Times New Roman"/>
                <a:cs typeface="Times New Roman"/>
                <a:sym typeface="Times New Roman"/>
              </a:rPr>
              <a:t> I</a:t>
            </a:r>
            <a:r>
              <a:rPr b="1" i="0" lang="en-US" sz="3200" u="none" cap="none" strike="noStrike">
                <a:solidFill>
                  <a:schemeClr val="dk1"/>
                </a:solidFill>
                <a:latin typeface="Times New Roman"/>
                <a:ea typeface="Times New Roman"/>
                <a:cs typeface="Times New Roman"/>
                <a:sym typeface="Times New Roman"/>
              </a:rPr>
              <a:t>ncrease the company’s investment in 	</a:t>
            </a:r>
            <a:endParaRPr/>
          </a:p>
          <a:p>
            <a:pPr indent="-303212" lvl="1" marL="785812" marR="0" rtl="0" algn="l">
              <a:lnSpc>
                <a:spcPct val="100000"/>
              </a:lnSpc>
              <a:spcBef>
                <a:spcPts val="64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   	productive facilities.</a:t>
            </a:r>
            <a:endParaRPr/>
          </a:p>
          <a:p>
            <a:pPr indent="-303212" lvl="1" marL="785812" marR="0" rtl="0" algn="l">
              <a:lnSpc>
                <a:spcPct val="100000"/>
              </a:lnSpc>
              <a:spcBef>
                <a:spcPts val="66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    </a:t>
            </a:r>
            <a:r>
              <a:rPr b="1" i="0" lang="en-US" sz="3300" u="none" cap="none" strike="noStrike">
                <a:solidFill>
                  <a:srgbClr val="CC3300"/>
                </a:solidFill>
                <a:latin typeface="Arial"/>
                <a:ea typeface="Arial"/>
                <a:cs typeface="Arial"/>
                <a:sym typeface="Arial"/>
              </a:rPr>
              <a:t> </a:t>
            </a:r>
            <a:r>
              <a:rPr b="1" i="0" lang="en-US" sz="3200" u="none" cap="none" strike="noStrike">
                <a:solidFill>
                  <a:schemeClr val="dk1"/>
                </a:solidFill>
                <a:latin typeface="Times New Roman"/>
                <a:ea typeface="Times New Roman"/>
                <a:cs typeface="Times New Roman"/>
                <a:sym typeface="Times New Roman"/>
              </a:rPr>
              <a:t>Debit the plant asset affected.</a:t>
            </a:r>
            <a:endParaRPr/>
          </a:p>
        </p:txBody>
      </p:sp>
      <p:sp>
        <p:nvSpPr>
          <p:cNvPr id="382" name="Google Shape;382;p35"/>
          <p:cNvSpPr txBox="1"/>
          <p:nvPr/>
        </p:nvSpPr>
        <p:spPr>
          <a:xfrm>
            <a:off x="1277937" y="228600"/>
            <a:ext cx="7256462"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EXPENDITURES DURING USEFUL LIFE</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1">
                                            <p:txEl>
                                              <p:pRg end="0" st="0"/>
                                            </p:txEl>
                                          </p:spTgt>
                                        </p:tgtEl>
                                        <p:attrNameLst>
                                          <p:attrName>style.visibility</p:attrName>
                                        </p:attrNameLst>
                                      </p:cBhvr>
                                      <p:to>
                                        <p:strVal val="visible"/>
                                      </p:to>
                                    </p:set>
                                    <p:anim calcmode="lin" valueType="num">
                                      <p:cBhvr additive="base">
                                        <p:cTn dur="500"/>
                                        <p:tgtEl>
                                          <p:spTgt spid="38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1">
                                            <p:txEl>
                                              <p:pRg end="1" st="1"/>
                                            </p:txEl>
                                          </p:spTgt>
                                        </p:tgtEl>
                                        <p:attrNameLst>
                                          <p:attrName>style.visibility</p:attrName>
                                        </p:attrNameLst>
                                      </p:cBhvr>
                                      <p:to>
                                        <p:strVal val="visible"/>
                                      </p:to>
                                    </p:set>
                                    <p:anim calcmode="lin" valueType="num">
                                      <p:cBhvr additive="base">
                                        <p:cTn dur="500"/>
                                        <p:tgtEl>
                                          <p:spTgt spid="38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1">
                                            <p:txEl>
                                              <p:pRg end="2" st="2"/>
                                            </p:txEl>
                                          </p:spTgt>
                                        </p:tgtEl>
                                        <p:attrNameLst>
                                          <p:attrName>style.visibility</p:attrName>
                                        </p:attrNameLst>
                                      </p:cBhvr>
                                      <p:to>
                                        <p:strVal val="visible"/>
                                      </p:to>
                                    </p:set>
                                    <p:anim calcmode="lin" valueType="num">
                                      <p:cBhvr additive="base">
                                        <p:cTn dur="500"/>
                                        <p:tgtEl>
                                          <p:spTgt spid="381">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1">
                                            <p:txEl>
                                              <p:pRg end="3" st="3"/>
                                            </p:txEl>
                                          </p:spTgt>
                                        </p:tgtEl>
                                        <p:attrNameLst>
                                          <p:attrName>style.visibility</p:attrName>
                                        </p:attrNameLst>
                                      </p:cBhvr>
                                      <p:to>
                                        <p:strVal val="visible"/>
                                      </p:to>
                                    </p:set>
                                    <p:anim calcmode="lin" valueType="num">
                                      <p:cBhvr additive="base">
                                        <p:cTn dur="500"/>
                                        <p:tgtEl>
                                          <p:spTgt spid="381">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1">
                                            <p:txEl>
                                              <p:pRg end="4" st="4"/>
                                            </p:txEl>
                                          </p:spTgt>
                                        </p:tgtEl>
                                        <p:attrNameLst>
                                          <p:attrName>style.visibility</p:attrName>
                                        </p:attrNameLst>
                                      </p:cBhvr>
                                      <p:to>
                                        <p:strVal val="visible"/>
                                      </p:to>
                                    </p:set>
                                    <p:anim calcmode="lin" valueType="num">
                                      <p:cBhvr additive="base">
                                        <p:cTn dur="500"/>
                                        <p:tgtEl>
                                          <p:spTgt spid="381">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1">
                                            <p:txEl>
                                              <p:pRg end="5" st="5"/>
                                            </p:txEl>
                                          </p:spTgt>
                                        </p:tgtEl>
                                        <p:attrNameLst>
                                          <p:attrName>style.visibility</p:attrName>
                                        </p:attrNameLst>
                                      </p:cBhvr>
                                      <p:to>
                                        <p:strVal val="visible"/>
                                      </p:to>
                                    </p:set>
                                    <p:anim calcmode="lin" valueType="num">
                                      <p:cBhvr additive="base">
                                        <p:cTn dur="500"/>
                                        <p:tgtEl>
                                          <p:spTgt spid="381">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1">
                                            <p:txEl>
                                              <p:pRg end="6" st="6"/>
                                            </p:txEl>
                                          </p:spTgt>
                                        </p:tgtEl>
                                        <p:attrNameLst>
                                          <p:attrName>style.visibility</p:attrName>
                                        </p:attrNameLst>
                                      </p:cBhvr>
                                      <p:to>
                                        <p:strVal val="visible"/>
                                      </p:to>
                                    </p:set>
                                    <p:anim calcmode="lin" valueType="num">
                                      <p:cBhvr additive="base">
                                        <p:cTn dur="500"/>
                                        <p:tgtEl>
                                          <p:spTgt spid="381">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1">
                                            <p:txEl>
                                              <p:pRg end="7" st="7"/>
                                            </p:txEl>
                                          </p:spTgt>
                                        </p:tgtEl>
                                        <p:attrNameLst>
                                          <p:attrName>style.visibility</p:attrName>
                                        </p:attrNameLst>
                                      </p:cBhvr>
                                      <p:to>
                                        <p:strVal val="visible"/>
                                      </p:to>
                                    </p:set>
                                    <p:anim calcmode="lin" valueType="num">
                                      <p:cBhvr additive="base">
                                        <p:cTn dur="500"/>
                                        <p:tgtEl>
                                          <p:spTgt spid="381">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6" name="Shape 386"/>
        <p:cNvGrpSpPr/>
        <p:nvPr/>
      </p:nvGrpSpPr>
      <p:grpSpPr>
        <a:xfrm>
          <a:off x="0" y="0"/>
          <a:ext cx="0" cy="0"/>
          <a:chOff x="0" y="0"/>
          <a:chExt cx="0" cy="0"/>
        </a:xfrm>
      </p:grpSpPr>
      <p:sp>
        <p:nvSpPr>
          <p:cNvPr id="387" name="Google Shape;387;p36"/>
          <p:cNvSpPr txBox="1"/>
          <p:nvPr>
            <p:ph idx="1" type="body"/>
          </p:nvPr>
        </p:nvSpPr>
        <p:spPr>
          <a:xfrm>
            <a:off x="720725" y="1792287"/>
            <a:ext cx="8159750" cy="5389562"/>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Retirement</a:t>
            </a:r>
            <a:endParaRPr/>
          </a:p>
          <a:p>
            <a:pPr indent="-303212" lvl="1" marL="785812" marR="0" rtl="0" algn="l">
              <a:lnSpc>
                <a:spcPct val="100000"/>
              </a:lnSpc>
              <a:spcBef>
                <a:spcPts val="420"/>
              </a:spcBef>
              <a:spcAft>
                <a:spcPts val="0"/>
              </a:spcAft>
              <a:buClr>
                <a:srgbClr val="BC3700"/>
              </a:buClr>
              <a:buSzPts val="2100"/>
              <a:buFont typeface="Times New Roman"/>
              <a:buChar char="–"/>
            </a:pPr>
            <a:r>
              <a:rPr b="1" i="0" lang="en-US" sz="2100" u="none" cap="none" strike="noStrike">
                <a:solidFill>
                  <a:schemeClr val="dk1"/>
                </a:solidFill>
                <a:latin typeface="Times New Roman"/>
                <a:ea typeface="Times New Roman"/>
                <a:cs typeface="Times New Roman"/>
                <a:sym typeface="Times New Roman"/>
              </a:rPr>
              <a:t>Plant asset is scrapped or discarded. </a:t>
            </a:r>
            <a:endParaRPr/>
          </a:p>
          <a:p>
            <a:pPr indent="-303212" lvl="1" marL="785812" marR="0" rtl="0" algn="l">
              <a:lnSpc>
                <a:spcPct val="100000"/>
              </a:lnSpc>
              <a:spcBef>
                <a:spcPts val="420"/>
              </a:spcBef>
              <a:spcAft>
                <a:spcPts val="0"/>
              </a:spcAft>
              <a:buClr>
                <a:srgbClr val="BC3700"/>
              </a:buClr>
              <a:buSzPts val="2100"/>
              <a:buFont typeface="Times New Roman"/>
              <a:buChar char="–"/>
            </a:pPr>
            <a:r>
              <a:rPr b="1" i="0" lang="en-US" sz="2100" u="none" cap="none" strike="noStrike">
                <a:solidFill>
                  <a:schemeClr val="dk1"/>
                </a:solidFill>
                <a:latin typeface="Times New Roman"/>
                <a:ea typeface="Times New Roman"/>
                <a:cs typeface="Times New Roman"/>
                <a:sym typeface="Times New Roman"/>
              </a:rPr>
              <a:t>Eliminate the book value of the plant asset at the date of sale by debiting Accumulated Depreciation and crediting the asset account for its cost.</a:t>
            </a:r>
            <a:endParaRPr/>
          </a:p>
          <a:p>
            <a:pPr indent="-303212" lvl="1" marL="785812" marR="0" rtl="0" algn="l">
              <a:lnSpc>
                <a:spcPct val="100000"/>
              </a:lnSpc>
              <a:spcBef>
                <a:spcPts val="420"/>
              </a:spcBef>
              <a:spcAft>
                <a:spcPts val="0"/>
              </a:spcAft>
              <a:buClr>
                <a:srgbClr val="BC3700"/>
              </a:buClr>
              <a:buSzPts val="2100"/>
              <a:buFont typeface="Times New Roman"/>
              <a:buChar char="–"/>
            </a:pPr>
            <a:r>
              <a:rPr b="1" i="0" lang="en-US" sz="2100" u="none" cap="none" strike="noStrike">
                <a:solidFill>
                  <a:schemeClr val="dk1"/>
                </a:solidFill>
                <a:latin typeface="Times New Roman"/>
                <a:ea typeface="Times New Roman"/>
                <a:cs typeface="Times New Roman"/>
                <a:sym typeface="Times New Roman"/>
              </a:rPr>
              <a:t>Debit Cash to record the cash proceeds from the sale.</a:t>
            </a:r>
            <a:endParaRPr/>
          </a:p>
          <a:p>
            <a:pPr indent="-303212" lvl="1" marL="785812" marR="0" rtl="0" algn="l">
              <a:lnSpc>
                <a:spcPct val="100000"/>
              </a:lnSpc>
              <a:spcBef>
                <a:spcPts val="420"/>
              </a:spcBef>
              <a:spcAft>
                <a:spcPts val="0"/>
              </a:spcAft>
              <a:buClr>
                <a:srgbClr val="BC3700"/>
              </a:buClr>
              <a:buSzPts val="2100"/>
              <a:buFont typeface="Times New Roman"/>
              <a:buChar char="–"/>
            </a:pPr>
            <a:r>
              <a:rPr b="1" i="0" lang="en-US" sz="2100" u="none" cap="none" strike="noStrike">
                <a:solidFill>
                  <a:schemeClr val="dk1"/>
                </a:solidFill>
                <a:latin typeface="Times New Roman"/>
                <a:ea typeface="Times New Roman"/>
                <a:cs typeface="Times New Roman"/>
                <a:sym typeface="Times New Roman"/>
              </a:rPr>
              <a:t>Compute gain or loss.</a:t>
            </a:r>
            <a:endParaRPr/>
          </a:p>
          <a:p>
            <a:pPr indent="-361950" lvl="0" marL="361950" marR="0" rtl="0" algn="l">
              <a:lnSpc>
                <a:spcPct val="10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If the cash proceeds &gt; the book value</a:t>
            </a:r>
            <a:endParaRPr/>
          </a:p>
          <a:p>
            <a:pPr indent="-303212" lvl="1" marL="785812" marR="0" rtl="0" algn="l">
              <a:lnSpc>
                <a:spcPct val="100000"/>
              </a:lnSpc>
              <a:spcBef>
                <a:spcPts val="420"/>
              </a:spcBef>
              <a:spcAft>
                <a:spcPts val="0"/>
              </a:spcAft>
              <a:buClr>
                <a:srgbClr val="BC3700"/>
              </a:buClr>
              <a:buSzPts val="2100"/>
              <a:buFont typeface="Times New Roman"/>
              <a:buChar char="–"/>
            </a:pPr>
            <a:r>
              <a:rPr b="1" i="0" lang="en-US" sz="2100" u="none" cap="none" strike="noStrike">
                <a:solidFill>
                  <a:schemeClr val="dk1"/>
                </a:solidFill>
                <a:latin typeface="Times New Roman"/>
                <a:ea typeface="Times New Roman"/>
                <a:cs typeface="Times New Roman"/>
                <a:sym typeface="Times New Roman"/>
              </a:rPr>
              <a:t>recognize a gain by crediting Gain on Disposal for the difference.</a:t>
            </a:r>
            <a:endParaRPr/>
          </a:p>
          <a:p>
            <a:pPr indent="-361950" lvl="0" marL="361950" marR="0" rtl="0" algn="l">
              <a:lnSpc>
                <a:spcPct val="10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If the cash proceeds are &lt; the book value</a:t>
            </a:r>
            <a:endParaRPr/>
          </a:p>
          <a:p>
            <a:pPr indent="-303212" lvl="1" marL="785812" marR="0" rtl="0" algn="l">
              <a:lnSpc>
                <a:spcPct val="100000"/>
              </a:lnSpc>
              <a:spcBef>
                <a:spcPts val="420"/>
              </a:spcBef>
              <a:spcAft>
                <a:spcPts val="0"/>
              </a:spcAft>
              <a:buClr>
                <a:srgbClr val="BC3700"/>
              </a:buClr>
              <a:buSzPts val="2100"/>
              <a:buFont typeface="Times New Roman"/>
              <a:buChar char="–"/>
            </a:pPr>
            <a:r>
              <a:rPr b="1" i="0" lang="en-US" sz="2100" u="none" cap="none" strike="noStrike">
                <a:solidFill>
                  <a:schemeClr val="dk1"/>
                </a:solidFill>
                <a:latin typeface="Times New Roman"/>
                <a:ea typeface="Times New Roman"/>
                <a:cs typeface="Times New Roman"/>
                <a:sym typeface="Times New Roman"/>
              </a:rPr>
              <a:t> recognize a loss by debiting Loss on Disposal for the</a:t>
            </a:r>
            <a:endParaRPr/>
          </a:p>
          <a:p>
            <a:pPr indent="-303212" lvl="1" marL="785812" marR="0" rtl="0" algn="l">
              <a:lnSpc>
                <a:spcPct val="100000"/>
              </a:lnSpc>
              <a:spcBef>
                <a:spcPts val="420"/>
              </a:spcBef>
              <a:spcAft>
                <a:spcPts val="0"/>
              </a:spcAft>
              <a:buClr>
                <a:schemeClr val="dk1"/>
              </a:buClr>
              <a:buSzPts val="2100"/>
              <a:buFont typeface="Times New Roman"/>
              <a:buNone/>
            </a:pPr>
            <a:r>
              <a:rPr b="1" i="0" lang="en-US" sz="2100" u="none" cap="none" strike="noStrike">
                <a:solidFill>
                  <a:schemeClr val="dk1"/>
                </a:solidFill>
                <a:latin typeface="Times New Roman"/>
                <a:ea typeface="Times New Roman"/>
                <a:cs typeface="Times New Roman"/>
                <a:sym typeface="Times New Roman"/>
              </a:rPr>
              <a:t>     difference.</a:t>
            </a:r>
            <a:endParaRPr/>
          </a:p>
        </p:txBody>
      </p:sp>
      <p:sp>
        <p:nvSpPr>
          <p:cNvPr id="388" name="Google Shape;388;p36"/>
          <p:cNvSpPr txBox="1"/>
          <p:nvPr/>
        </p:nvSpPr>
        <p:spPr>
          <a:xfrm>
            <a:off x="877887" y="552450"/>
            <a:ext cx="7845425" cy="111125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PLANT ASSET DISPOSALS</a:t>
            </a:r>
            <a:endParaRPr/>
          </a:p>
          <a:p>
            <a:pPr indent="0" lvl="0" marL="0" marR="0" rtl="0" algn="ctr">
              <a:lnSpc>
                <a:spcPct val="100000"/>
              </a:lnSpc>
              <a:spcBef>
                <a:spcPts val="90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STUDY OBJECTIVE</a:t>
            </a:r>
            <a:r>
              <a:rPr b="1" i="0" lang="en-US" sz="1800" u="none">
                <a:solidFill>
                  <a:srgbClr val="790015"/>
                </a:solidFill>
                <a:latin typeface="Arial"/>
                <a:ea typeface="Arial"/>
                <a:cs typeface="Arial"/>
                <a:sym typeface="Arial"/>
              </a:rPr>
              <a:t> </a:t>
            </a:r>
            <a:r>
              <a:rPr b="1" i="0" lang="en-US" sz="1800" u="none">
                <a:solidFill>
                  <a:srgbClr val="FC0128"/>
                </a:solidFill>
                <a:latin typeface="Arial"/>
                <a:ea typeface="Arial"/>
                <a:cs typeface="Arial"/>
                <a:sym typeface="Arial"/>
              </a:rPr>
              <a:t>6</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0" st="0"/>
                                            </p:txEl>
                                          </p:spTgt>
                                        </p:tgtEl>
                                        <p:attrNameLst>
                                          <p:attrName>style.visibility</p:attrName>
                                        </p:attrNameLst>
                                      </p:cBhvr>
                                      <p:to>
                                        <p:strVal val="visible"/>
                                      </p:to>
                                    </p:set>
                                    <p:anim calcmode="lin" valueType="num">
                                      <p:cBhvr additive="base">
                                        <p:cTn dur="500"/>
                                        <p:tgtEl>
                                          <p:spTgt spid="38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1" st="1"/>
                                            </p:txEl>
                                          </p:spTgt>
                                        </p:tgtEl>
                                        <p:attrNameLst>
                                          <p:attrName>style.visibility</p:attrName>
                                        </p:attrNameLst>
                                      </p:cBhvr>
                                      <p:to>
                                        <p:strVal val="visible"/>
                                      </p:to>
                                    </p:set>
                                    <p:anim calcmode="lin" valueType="num">
                                      <p:cBhvr additive="base">
                                        <p:cTn dur="500"/>
                                        <p:tgtEl>
                                          <p:spTgt spid="38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2" st="2"/>
                                            </p:txEl>
                                          </p:spTgt>
                                        </p:tgtEl>
                                        <p:attrNameLst>
                                          <p:attrName>style.visibility</p:attrName>
                                        </p:attrNameLst>
                                      </p:cBhvr>
                                      <p:to>
                                        <p:strVal val="visible"/>
                                      </p:to>
                                    </p:set>
                                    <p:anim calcmode="lin" valueType="num">
                                      <p:cBhvr additive="base">
                                        <p:cTn dur="500"/>
                                        <p:tgtEl>
                                          <p:spTgt spid="387">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3" st="3"/>
                                            </p:txEl>
                                          </p:spTgt>
                                        </p:tgtEl>
                                        <p:attrNameLst>
                                          <p:attrName>style.visibility</p:attrName>
                                        </p:attrNameLst>
                                      </p:cBhvr>
                                      <p:to>
                                        <p:strVal val="visible"/>
                                      </p:to>
                                    </p:set>
                                    <p:anim calcmode="lin" valueType="num">
                                      <p:cBhvr additive="base">
                                        <p:cTn dur="500"/>
                                        <p:tgtEl>
                                          <p:spTgt spid="387">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4" st="4"/>
                                            </p:txEl>
                                          </p:spTgt>
                                        </p:tgtEl>
                                        <p:attrNameLst>
                                          <p:attrName>style.visibility</p:attrName>
                                        </p:attrNameLst>
                                      </p:cBhvr>
                                      <p:to>
                                        <p:strVal val="visible"/>
                                      </p:to>
                                    </p:set>
                                    <p:anim calcmode="lin" valueType="num">
                                      <p:cBhvr additive="base">
                                        <p:cTn dur="500"/>
                                        <p:tgtEl>
                                          <p:spTgt spid="387">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5" st="5"/>
                                            </p:txEl>
                                          </p:spTgt>
                                        </p:tgtEl>
                                        <p:attrNameLst>
                                          <p:attrName>style.visibility</p:attrName>
                                        </p:attrNameLst>
                                      </p:cBhvr>
                                      <p:to>
                                        <p:strVal val="visible"/>
                                      </p:to>
                                    </p:set>
                                    <p:anim calcmode="lin" valueType="num">
                                      <p:cBhvr additive="base">
                                        <p:cTn dur="500"/>
                                        <p:tgtEl>
                                          <p:spTgt spid="387">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6" st="6"/>
                                            </p:txEl>
                                          </p:spTgt>
                                        </p:tgtEl>
                                        <p:attrNameLst>
                                          <p:attrName>style.visibility</p:attrName>
                                        </p:attrNameLst>
                                      </p:cBhvr>
                                      <p:to>
                                        <p:strVal val="visible"/>
                                      </p:to>
                                    </p:set>
                                    <p:anim calcmode="lin" valueType="num">
                                      <p:cBhvr additive="base">
                                        <p:cTn dur="500"/>
                                        <p:tgtEl>
                                          <p:spTgt spid="387">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7" st="7"/>
                                            </p:txEl>
                                          </p:spTgt>
                                        </p:tgtEl>
                                        <p:attrNameLst>
                                          <p:attrName>style.visibility</p:attrName>
                                        </p:attrNameLst>
                                      </p:cBhvr>
                                      <p:to>
                                        <p:strVal val="visible"/>
                                      </p:to>
                                    </p:set>
                                    <p:anim calcmode="lin" valueType="num">
                                      <p:cBhvr additive="base">
                                        <p:cTn dur="500"/>
                                        <p:tgtEl>
                                          <p:spTgt spid="387">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8" st="8"/>
                                            </p:txEl>
                                          </p:spTgt>
                                        </p:tgtEl>
                                        <p:attrNameLst>
                                          <p:attrName>style.visibility</p:attrName>
                                        </p:attrNameLst>
                                      </p:cBhvr>
                                      <p:to>
                                        <p:strVal val="visible"/>
                                      </p:to>
                                    </p:set>
                                    <p:anim calcmode="lin" valueType="num">
                                      <p:cBhvr additive="base">
                                        <p:cTn dur="500"/>
                                        <p:tgtEl>
                                          <p:spTgt spid="387">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
                                            <p:txEl>
                                              <p:pRg end="9" st="9"/>
                                            </p:txEl>
                                          </p:spTgt>
                                        </p:tgtEl>
                                        <p:attrNameLst>
                                          <p:attrName>style.visibility</p:attrName>
                                        </p:attrNameLst>
                                      </p:cBhvr>
                                      <p:to>
                                        <p:strVal val="visible"/>
                                      </p:to>
                                    </p:set>
                                    <p:anim calcmode="lin" valueType="num">
                                      <p:cBhvr additive="base">
                                        <p:cTn dur="500"/>
                                        <p:tgtEl>
                                          <p:spTgt spid="387">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2" name="Shape 392"/>
        <p:cNvGrpSpPr/>
        <p:nvPr/>
      </p:nvGrpSpPr>
      <p:grpSpPr>
        <a:xfrm>
          <a:off x="0" y="0"/>
          <a:ext cx="0" cy="0"/>
          <a:chOff x="0" y="0"/>
          <a:chExt cx="0" cy="0"/>
        </a:xfrm>
      </p:grpSpPr>
      <p:sp>
        <p:nvSpPr>
          <p:cNvPr id="393" name="Google Shape;393;p37"/>
          <p:cNvSpPr txBox="1"/>
          <p:nvPr/>
        </p:nvSpPr>
        <p:spPr>
          <a:xfrm>
            <a:off x="877887" y="552450"/>
            <a:ext cx="7845425" cy="111125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PLANT ASSET DISPOSALS</a:t>
            </a:r>
            <a:endParaRPr/>
          </a:p>
          <a:p>
            <a:pPr indent="0" lvl="0" marL="0" marR="0" rtl="0" algn="l">
              <a:lnSpc>
                <a:spcPct val="100000"/>
              </a:lnSpc>
              <a:spcBef>
                <a:spcPts val="0"/>
              </a:spcBef>
              <a:spcAft>
                <a:spcPts val="0"/>
              </a:spcAft>
              <a:buNone/>
            </a:pPr>
            <a:r>
              <a:t/>
            </a:r>
            <a:endParaRPr b="1" i="0" sz="4000" u="none">
              <a:solidFill>
                <a:srgbClr val="000099"/>
              </a:solidFill>
              <a:latin typeface="Arial Black"/>
              <a:ea typeface="Arial Black"/>
              <a:cs typeface="Arial Black"/>
              <a:sym typeface="Arial Black"/>
            </a:endParaRPr>
          </a:p>
        </p:txBody>
      </p:sp>
      <p:pic>
        <p:nvPicPr>
          <p:cNvPr id="394" name="Google Shape;394;p37"/>
          <p:cNvPicPr preferRelativeResize="0"/>
          <p:nvPr/>
        </p:nvPicPr>
        <p:blipFill rotWithShape="1">
          <a:blip r:embed="rId3">
            <a:alphaModFix/>
          </a:blip>
          <a:srcRect b="0" l="0" r="0" t="0"/>
          <a:stretch/>
        </p:blipFill>
        <p:spPr>
          <a:xfrm>
            <a:off x="457200" y="2590800"/>
            <a:ext cx="8763000" cy="1981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8" name="Shape 398"/>
        <p:cNvGrpSpPr/>
        <p:nvPr/>
      </p:nvGrpSpPr>
      <p:grpSpPr>
        <a:xfrm>
          <a:off x="0" y="0"/>
          <a:ext cx="0" cy="0"/>
          <a:chOff x="0" y="0"/>
          <a:chExt cx="0" cy="0"/>
        </a:xfrm>
      </p:grpSpPr>
      <p:sp>
        <p:nvSpPr>
          <p:cNvPr id="399" name="Google Shape;399;p38"/>
          <p:cNvSpPr/>
          <p:nvPr/>
        </p:nvSpPr>
        <p:spPr>
          <a:xfrm>
            <a:off x="857250" y="5257800"/>
            <a:ext cx="7981950" cy="990600"/>
          </a:xfrm>
          <a:prstGeom prst="rect">
            <a:avLst/>
          </a:prstGeom>
          <a:solidFill>
            <a:srgbClr val="F6BF6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00" name="Google Shape;400;p38"/>
          <p:cNvGrpSpPr/>
          <p:nvPr/>
        </p:nvGrpSpPr>
        <p:grpSpPr>
          <a:xfrm>
            <a:off x="857250" y="1944687"/>
            <a:ext cx="7867650" cy="3008312"/>
            <a:chOff x="540" y="1224"/>
            <a:chExt cx="4956" cy="1896"/>
          </a:xfrm>
        </p:grpSpPr>
        <p:sp>
          <p:nvSpPr>
            <p:cNvPr id="401" name="Google Shape;401;p38"/>
            <p:cNvSpPr/>
            <p:nvPr/>
          </p:nvSpPr>
          <p:spPr>
            <a:xfrm>
              <a:off x="540" y="1224"/>
              <a:ext cx="4956" cy="1896"/>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2" name="Google Shape;402;p38"/>
            <p:cNvSpPr txBox="1"/>
            <p:nvPr/>
          </p:nvSpPr>
          <p:spPr>
            <a:xfrm>
              <a:off x="594" y="1232"/>
              <a:ext cx="4881" cy="1666"/>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On July 1, 2005, Wright Company sells office furniture for $16,000 cash.  Original cost was $60,000 and as of January 1, 2005, had accumulated depreciation of $41,000.  Depreciation for the first 6 months of 2005 is $8,000.  The entry to record depreciation expense and update accumulated depreciation to July 1 is as follows:</a:t>
              </a:r>
              <a:endParaRPr/>
            </a:p>
          </p:txBody>
        </p:sp>
      </p:grpSp>
      <p:sp>
        <p:nvSpPr>
          <p:cNvPr id="403" name="Google Shape;403;p38"/>
          <p:cNvSpPr txBox="1"/>
          <p:nvPr/>
        </p:nvSpPr>
        <p:spPr>
          <a:xfrm>
            <a:off x="1944687" y="552450"/>
            <a:ext cx="569277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GAIN ON DISPOSAL</a:t>
            </a:r>
            <a:endParaRPr/>
          </a:p>
        </p:txBody>
      </p:sp>
      <p:pic>
        <p:nvPicPr>
          <p:cNvPr id="404" name="Google Shape;404;p38"/>
          <p:cNvPicPr preferRelativeResize="0"/>
          <p:nvPr/>
        </p:nvPicPr>
        <p:blipFill rotWithShape="1">
          <a:blip r:embed="rId3">
            <a:alphaModFix/>
          </a:blip>
          <a:srcRect b="0" l="0" r="0" t="0"/>
          <a:stretch/>
        </p:blipFill>
        <p:spPr>
          <a:xfrm>
            <a:off x="838200" y="5257800"/>
            <a:ext cx="8081962" cy="1033462"/>
          </a:xfrm>
          <a:prstGeom prst="rect">
            <a:avLst/>
          </a:prstGeom>
          <a:noFill/>
          <a:ln>
            <a:noFill/>
          </a:ln>
        </p:spPr>
      </p:pic>
    </p:spTree>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8" name="Shape 408"/>
        <p:cNvGrpSpPr/>
        <p:nvPr/>
      </p:nvGrpSpPr>
      <p:grpSpPr>
        <a:xfrm>
          <a:off x="0" y="0"/>
          <a:ext cx="0" cy="0"/>
          <a:chOff x="0" y="0"/>
          <a:chExt cx="0" cy="0"/>
        </a:xfrm>
      </p:grpSpPr>
      <p:sp>
        <p:nvSpPr>
          <p:cNvPr id="409" name="Google Shape;409;p39"/>
          <p:cNvSpPr/>
          <p:nvPr/>
        </p:nvSpPr>
        <p:spPr>
          <a:xfrm>
            <a:off x="990600" y="5449887"/>
            <a:ext cx="7734300" cy="1560512"/>
          </a:xfrm>
          <a:prstGeom prst="rect">
            <a:avLst/>
          </a:prstGeom>
          <a:solidFill>
            <a:srgbClr val="F6BF6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0" name="Google Shape;410;p39"/>
          <p:cNvSpPr txBox="1"/>
          <p:nvPr/>
        </p:nvSpPr>
        <p:spPr>
          <a:xfrm>
            <a:off x="1752600" y="0"/>
            <a:ext cx="6096000" cy="142875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4400"/>
              <a:buFont typeface="Times New Roman"/>
              <a:buNone/>
            </a:pPr>
            <a:r>
              <a:t/>
            </a:r>
            <a:endParaRPr b="1" i="0" sz="4400" u="none">
              <a:solidFill>
                <a:schemeClr val="dk1"/>
              </a:solidFill>
              <a:latin typeface="Arial"/>
              <a:ea typeface="Arial"/>
              <a:cs typeface="Arial"/>
              <a:sym typeface="Arial"/>
            </a:endParaRPr>
          </a:p>
          <a:p>
            <a:pPr indent="0" lvl="0" marL="0" marR="0" rtl="0" algn="ctr">
              <a:lnSpc>
                <a:spcPct val="100000"/>
              </a:lnSpc>
              <a:spcBef>
                <a:spcPts val="40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GAIN ON DISPOSAL</a:t>
            </a:r>
            <a:endParaRPr/>
          </a:p>
        </p:txBody>
      </p:sp>
      <p:grpSp>
        <p:nvGrpSpPr>
          <p:cNvPr id="411" name="Google Shape;411;p39"/>
          <p:cNvGrpSpPr/>
          <p:nvPr/>
        </p:nvGrpSpPr>
        <p:grpSpPr>
          <a:xfrm>
            <a:off x="857250" y="1809750"/>
            <a:ext cx="7867650" cy="762000"/>
            <a:chOff x="540" y="1140"/>
            <a:chExt cx="4956" cy="480"/>
          </a:xfrm>
        </p:grpSpPr>
        <p:sp>
          <p:nvSpPr>
            <p:cNvPr id="412" name="Google Shape;412;p39"/>
            <p:cNvSpPr/>
            <p:nvPr/>
          </p:nvSpPr>
          <p:spPr>
            <a:xfrm>
              <a:off x="540" y="1140"/>
              <a:ext cx="4956" cy="480"/>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3" name="Google Shape;413;p39"/>
            <p:cNvSpPr txBox="1"/>
            <p:nvPr/>
          </p:nvSpPr>
          <p:spPr>
            <a:xfrm>
              <a:off x="1230" y="1160"/>
              <a:ext cx="3741" cy="44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After the accumulated depreciation is updated, a gain on disposal of $5,000 is computed:</a:t>
              </a:r>
              <a:endParaRPr/>
            </a:p>
          </p:txBody>
        </p:sp>
      </p:grpSp>
      <p:grpSp>
        <p:nvGrpSpPr>
          <p:cNvPr id="414" name="Google Shape;414;p39"/>
          <p:cNvGrpSpPr/>
          <p:nvPr/>
        </p:nvGrpSpPr>
        <p:grpSpPr>
          <a:xfrm>
            <a:off x="857250" y="2706687"/>
            <a:ext cx="7886700" cy="1752600"/>
            <a:chOff x="540" y="1704"/>
            <a:chExt cx="4968" cy="1104"/>
          </a:xfrm>
        </p:grpSpPr>
        <p:sp>
          <p:nvSpPr>
            <p:cNvPr id="415" name="Google Shape;415;p39"/>
            <p:cNvSpPr/>
            <p:nvPr/>
          </p:nvSpPr>
          <p:spPr>
            <a:xfrm>
              <a:off x="540" y="1704"/>
              <a:ext cx="4968" cy="1104"/>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16" name="Google Shape;416;p39"/>
            <p:cNvPicPr preferRelativeResize="0"/>
            <p:nvPr/>
          </p:nvPicPr>
          <p:blipFill rotWithShape="1">
            <a:blip r:embed="rId3">
              <a:alphaModFix/>
            </a:blip>
            <a:srcRect b="23782" l="877" r="28667" t="0"/>
            <a:stretch/>
          </p:blipFill>
          <p:spPr>
            <a:xfrm>
              <a:off x="623" y="1728"/>
              <a:ext cx="4815" cy="1080"/>
            </a:xfrm>
            <a:prstGeom prst="rect">
              <a:avLst/>
            </a:prstGeom>
            <a:noFill/>
            <a:ln>
              <a:noFill/>
            </a:ln>
          </p:spPr>
        </p:pic>
      </p:grpSp>
      <p:grpSp>
        <p:nvGrpSpPr>
          <p:cNvPr id="417" name="Google Shape;417;p39"/>
          <p:cNvGrpSpPr/>
          <p:nvPr/>
        </p:nvGrpSpPr>
        <p:grpSpPr>
          <a:xfrm>
            <a:off x="857250" y="4611687"/>
            <a:ext cx="7867650" cy="741362"/>
            <a:chOff x="540" y="2904"/>
            <a:chExt cx="4956" cy="468"/>
          </a:xfrm>
        </p:grpSpPr>
        <p:sp>
          <p:nvSpPr>
            <p:cNvPr id="418" name="Google Shape;418;p39"/>
            <p:cNvSpPr/>
            <p:nvPr/>
          </p:nvSpPr>
          <p:spPr>
            <a:xfrm>
              <a:off x="540" y="2904"/>
              <a:ext cx="4956" cy="444"/>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9" name="Google Shape;419;p39"/>
            <p:cNvSpPr txBox="1"/>
            <p:nvPr/>
          </p:nvSpPr>
          <p:spPr>
            <a:xfrm>
              <a:off x="1689" y="2924"/>
              <a:ext cx="2766" cy="448"/>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The entry to record the sale and the gain on disposal is as follows:</a:t>
              </a:r>
              <a:endParaRPr/>
            </a:p>
          </p:txBody>
        </p:sp>
      </p:grpSp>
      <p:pic>
        <p:nvPicPr>
          <p:cNvPr id="420" name="Google Shape;420;p39"/>
          <p:cNvPicPr preferRelativeResize="0"/>
          <p:nvPr/>
        </p:nvPicPr>
        <p:blipFill rotWithShape="1">
          <a:blip r:embed="rId4">
            <a:alphaModFix/>
          </a:blip>
          <a:srcRect b="0" l="0" r="0" t="0"/>
          <a:stretch/>
        </p:blipFill>
        <p:spPr>
          <a:xfrm>
            <a:off x="914400" y="5410200"/>
            <a:ext cx="7773987" cy="1630362"/>
          </a:xfrm>
          <a:prstGeom prst="rect">
            <a:avLst/>
          </a:prstGeom>
          <a:noFill/>
          <a:ln>
            <a:noFill/>
          </a:ln>
        </p:spPr>
      </p:pic>
    </p:spTree>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4" name="Shape 424"/>
        <p:cNvGrpSpPr/>
        <p:nvPr/>
      </p:nvGrpSpPr>
      <p:grpSpPr>
        <a:xfrm>
          <a:off x="0" y="0"/>
          <a:ext cx="0" cy="0"/>
          <a:chOff x="0" y="0"/>
          <a:chExt cx="0" cy="0"/>
        </a:xfrm>
      </p:grpSpPr>
      <p:sp>
        <p:nvSpPr>
          <p:cNvPr id="425" name="Google Shape;425;p40"/>
          <p:cNvSpPr/>
          <p:nvPr/>
        </p:nvSpPr>
        <p:spPr>
          <a:xfrm>
            <a:off x="876300" y="5449887"/>
            <a:ext cx="7848600" cy="1752600"/>
          </a:xfrm>
          <a:prstGeom prst="rect">
            <a:avLst/>
          </a:prstGeom>
          <a:solidFill>
            <a:srgbClr val="F6BF6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6" name="Google Shape;426;p40"/>
          <p:cNvSpPr txBox="1"/>
          <p:nvPr/>
        </p:nvSpPr>
        <p:spPr>
          <a:xfrm>
            <a:off x="1068387" y="247650"/>
            <a:ext cx="769302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LOSS ON DISPOSAL</a:t>
            </a:r>
            <a:endParaRPr/>
          </a:p>
        </p:txBody>
      </p:sp>
      <p:grpSp>
        <p:nvGrpSpPr>
          <p:cNvPr id="427" name="Google Shape;427;p40"/>
          <p:cNvGrpSpPr/>
          <p:nvPr/>
        </p:nvGrpSpPr>
        <p:grpSpPr>
          <a:xfrm>
            <a:off x="857250" y="1809750"/>
            <a:ext cx="7867650" cy="762000"/>
            <a:chOff x="540" y="1140"/>
            <a:chExt cx="4956" cy="480"/>
          </a:xfrm>
        </p:grpSpPr>
        <p:sp>
          <p:nvSpPr>
            <p:cNvPr id="428" name="Google Shape;428;p40"/>
            <p:cNvSpPr/>
            <p:nvPr/>
          </p:nvSpPr>
          <p:spPr>
            <a:xfrm>
              <a:off x="540" y="1140"/>
              <a:ext cx="4956" cy="480"/>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9" name="Google Shape;429;p40"/>
            <p:cNvSpPr txBox="1"/>
            <p:nvPr/>
          </p:nvSpPr>
          <p:spPr>
            <a:xfrm>
              <a:off x="657" y="1160"/>
              <a:ext cx="4770" cy="44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Instead of the selling the office furniture for $16,000, Wright sells it for $9,000.  In this case, a loss of $2,000 is computed:</a:t>
              </a:r>
              <a:endParaRPr/>
            </a:p>
          </p:txBody>
        </p:sp>
      </p:grpSp>
      <p:grpSp>
        <p:nvGrpSpPr>
          <p:cNvPr id="430" name="Google Shape;430;p40"/>
          <p:cNvGrpSpPr/>
          <p:nvPr/>
        </p:nvGrpSpPr>
        <p:grpSpPr>
          <a:xfrm>
            <a:off x="857250" y="2706687"/>
            <a:ext cx="7886700" cy="1752600"/>
            <a:chOff x="540" y="1704"/>
            <a:chExt cx="4968" cy="1104"/>
          </a:xfrm>
        </p:grpSpPr>
        <p:sp>
          <p:nvSpPr>
            <p:cNvPr id="431" name="Google Shape;431;p40"/>
            <p:cNvSpPr/>
            <p:nvPr/>
          </p:nvSpPr>
          <p:spPr>
            <a:xfrm>
              <a:off x="540" y="1704"/>
              <a:ext cx="4968" cy="1104"/>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32" name="Google Shape;432;p40"/>
            <p:cNvPicPr preferRelativeResize="0"/>
            <p:nvPr/>
          </p:nvPicPr>
          <p:blipFill rotWithShape="1">
            <a:blip r:embed="rId3">
              <a:alphaModFix/>
            </a:blip>
            <a:srcRect b="23782" l="877" r="28663" t="0"/>
            <a:stretch/>
          </p:blipFill>
          <p:spPr>
            <a:xfrm>
              <a:off x="564" y="1728"/>
              <a:ext cx="4889" cy="1080"/>
            </a:xfrm>
            <a:prstGeom prst="rect">
              <a:avLst/>
            </a:prstGeom>
            <a:noFill/>
            <a:ln>
              <a:noFill/>
            </a:ln>
          </p:spPr>
        </p:pic>
      </p:grpSp>
      <p:sp>
        <p:nvSpPr>
          <p:cNvPr id="433" name="Google Shape;433;p40"/>
          <p:cNvSpPr/>
          <p:nvPr/>
        </p:nvSpPr>
        <p:spPr>
          <a:xfrm>
            <a:off x="0" y="4611687"/>
            <a:ext cx="9525000" cy="703262"/>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4" name="Google Shape;434;p40"/>
          <p:cNvSpPr txBox="1"/>
          <p:nvPr/>
        </p:nvSpPr>
        <p:spPr>
          <a:xfrm>
            <a:off x="-4762" y="4794250"/>
            <a:ext cx="9534525" cy="452437"/>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300"/>
              <a:buFont typeface="Arial"/>
              <a:buNone/>
            </a:pPr>
            <a:r>
              <a:rPr b="1" i="0" lang="en-US" sz="2300" u="none">
                <a:solidFill>
                  <a:schemeClr val="dk1"/>
                </a:solidFill>
                <a:latin typeface="Arial"/>
                <a:ea typeface="Arial"/>
                <a:cs typeface="Arial"/>
                <a:sym typeface="Arial"/>
              </a:rPr>
              <a:t>The entry to record the sale and the loss on disposal is as follows:</a:t>
            </a:r>
            <a:endParaRPr/>
          </a:p>
        </p:txBody>
      </p:sp>
      <p:pic>
        <p:nvPicPr>
          <p:cNvPr id="435" name="Google Shape;435;p40"/>
          <p:cNvPicPr preferRelativeResize="0"/>
          <p:nvPr/>
        </p:nvPicPr>
        <p:blipFill rotWithShape="1">
          <a:blip r:embed="rId4">
            <a:alphaModFix/>
          </a:blip>
          <a:srcRect b="0" l="0" r="0" t="0"/>
          <a:stretch/>
        </p:blipFill>
        <p:spPr>
          <a:xfrm>
            <a:off x="833437" y="5478462"/>
            <a:ext cx="7858125" cy="1647825"/>
          </a:xfrm>
          <a:prstGeom prst="rect">
            <a:avLst/>
          </a:prstGeom>
          <a:noFill/>
          <a:ln>
            <a:noFill/>
          </a:ln>
        </p:spPr>
      </p:pic>
    </p:spTree>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9" name="Shape 439"/>
        <p:cNvGrpSpPr/>
        <p:nvPr/>
      </p:nvGrpSpPr>
      <p:grpSpPr>
        <a:xfrm>
          <a:off x="0" y="0"/>
          <a:ext cx="0" cy="0"/>
          <a:chOff x="0" y="0"/>
          <a:chExt cx="0" cy="0"/>
        </a:xfrm>
      </p:grpSpPr>
      <p:sp>
        <p:nvSpPr>
          <p:cNvPr id="440" name="Google Shape;440;p41"/>
          <p:cNvSpPr txBox="1"/>
          <p:nvPr>
            <p:ph idx="1" type="body"/>
          </p:nvPr>
        </p:nvSpPr>
        <p:spPr>
          <a:xfrm>
            <a:off x="261937" y="1749425"/>
            <a:ext cx="8159750" cy="4389437"/>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4000"/>
              <a:buFont typeface="Times New Roman"/>
              <a:buChar char="•"/>
            </a:pPr>
            <a:r>
              <a:rPr b="1" i="0" lang="en-US" sz="4000" u="none" cap="none" strike="noStrike">
                <a:solidFill>
                  <a:srgbClr val="BC3700"/>
                </a:solidFill>
                <a:latin typeface="Times New Roman"/>
                <a:ea typeface="Times New Roman"/>
                <a:cs typeface="Times New Roman"/>
                <a:sym typeface="Times New Roman"/>
              </a:rPr>
              <a:t>Natural resources</a:t>
            </a:r>
            <a:r>
              <a:rPr b="1" i="0" lang="en-US" sz="2800" u="none" cap="none" strike="noStrike">
                <a:solidFill>
                  <a:schemeClr val="accent2"/>
                </a:solidFill>
                <a:latin typeface="Times New Roman"/>
                <a:ea typeface="Times New Roman"/>
                <a:cs typeface="Times New Roman"/>
                <a:sym typeface="Times New Roman"/>
              </a:rPr>
              <a:t> </a:t>
            </a:r>
            <a:endParaRPr/>
          </a:p>
          <a:p>
            <a:pPr indent="-303212" lvl="1" marL="785812" marR="0" rtl="0" algn="l">
              <a:lnSpc>
                <a:spcPct val="10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consists of standing timber and underground deposits                         of oil, gas, and minerals</a:t>
            </a:r>
            <a:endParaRPr/>
          </a:p>
          <a:p>
            <a:pPr indent="-361950" lvl="0" marL="361950"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These long-lived productive assets have two distinguishing characteristics:</a:t>
            </a:r>
            <a:endParaRPr/>
          </a:p>
          <a:p>
            <a:pPr indent="-361950" lvl="0" marL="361950" marR="0" rtl="0" algn="l">
              <a:lnSpc>
                <a:spcPct val="10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BC3700"/>
                </a:solidFill>
                <a:latin typeface="Arial"/>
                <a:ea typeface="Arial"/>
                <a:cs typeface="Arial"/>
                <a:sym typeface="Arial"/>
              </a:rPr>
              <a:t>1</a:t>
            </a:r>
            <a:r>
              <a:rPr b="1" i="0" lang="en-US" sz="2800" u="none" cap="none" strike="noStrike">
                <a:solidFill>
                  <a:schemeClr val="dk1"/>
                </a:solidFill>
                <a:latin typeface="Times New Roman"/>
                <a:ea typeface="Times New Roman"/>
                <a:cs typeface="Times New Roman"/>
                <a:sym typeface="Times New Roman"/>
              </a:rPr>
              <a:t> They are physically extracted in operations.</a:t>
            </a:r>
            <a:endParaRPr/>
          </a:p>
          <a:p>
            <a:pPr indent="-361950" lvl="0" marL="361950" marR="0" rtl="0" algn="l">
              <a:lnSpc>
                <a:spcPct val="100000"/>
              </a:lnSpc>
              <a:spcBef>
                <a:spcPts val="560"/>
              </a:spcBef>
              <a:spcAft>
                <a:spcPts val="0"/>
              </a:spcAft>
              <a:buClr>
                <a:srgbClr val="BC3700"/>
              </a:buClr>
              <a:buSzPts val="2800"/>
              <a:buFont typeface="Arial"/>
              <a:buNone/>
            </a:pPr>
            <a:r>
              <a:rPr b="1" i="0" lang="en-US" sz="2800" u="none" cap="none" strike="noStrike">
                <a:solidFill>
                  <a:srgbClr val="BC3700"/>
                </a:solidFill>
                <a:latin typeface="Arial"/>
                <a:ea typeface="Arial"/>
                <a:cs typeface="Arial"/>
                <a:sym typeface="Arial"/>
              </a:rPr>
              <a:t>	2</a:t>
            </a:r>
            <a:r>
              <a:rPr b="1" i="0" lang="en-US" sz="2800" u="none" cap="none" strike="noStrike">
                <a:solidFill>
                  <a:schemeClr val="dk1"/>
                </a:solidFill>
                <a:latin typeface="Times New Roman"/>
                <a:ea typeface="Times New Roman"/>
                <a:cs typeface="Times New Roman"/>
                <a:sym typeface="Times New Roman"/>
              </a:rPr>
              <a:t> They are replaceable only by an act of nature.</a:t>
            </a:r>
            <a:endParaRPr/>
          </a:p>
        </p:txBody>
      </p:sp>
      <p:pic>
        <p:nvPicPr>
          <p:cNvPr id="441" name="Google Shape;441;p41"/>
          <p:cNvPicPr preferRelativeResize="0"/>
          <p:nvPr/>
        </p:nvPicPr>
        <p:blipFill rotWithShape="1">
          <a:blip r:embed="rId3">
            <a:alphaModFix/>
          </a:blip>
          <a:srcRect b="0" l="0" r="0" t="0"/>
          <a:stretch/>
        </p:blipFill>
        <p:spPr>
          <a:xfrm>
            <a:off x="1271587" y="5105400"/>
            <a:ext cx="3144837" cy="2122487"/>
          </a:xfrm>
          <a:prstGeom prst="rect">
            <a:avLst/>
          </a:prstGeom>
          <a:noFill/>
          <a:ln>
            <a:noFill/>
          </a:ln>
        </p:spPr>
      </p:pic>
      <p:pic>
        <p:nvPicPr>
          <p:cNvPr id="442" name="Google Shape;442;p41"/>
          <p:cNvPicPr preferRelativeResize="0"/>
          <p:nvPr/>
        </p:nvPicPr>
        <p:blipFill rotWithShape="1">
          <a:blip r:embed="rId4">
            <a:alphaModFix/>
          </a:blip>
          <a:srcRect b="0" l="0" r="0" t="0"/>
          <a:stretch/>
        </p:blipFill>
        <p:spPr>
          <a:xfrm>
            <a:off x="6718300" y="4648200"/>
            <a:ext cx="2882900" cy="2667000"/>
          </a:xfrm>
          <a:prstGeom prst="rect">
            <a:avLst/>
          </a:prstGeom>
          <a:noFill/>
          <a:ln>
            <a:noFill/>
          </a:ln>
        </p:spPr>
      </p:pic>
      <p:pic>
        <p:nvPicPr>
          <p:cNvPr id="443" name="Google Shape;443;p41"/>
          <p:cNvPicPr preferRelativeResize="0"/>
          <p:nvPr/>
        </p:nvPicPr>
        <p:blipFill rotWithShape="1">
          <a:blip r:embed="rId5">
            <a:alphaModFix/>
          </a:blip>
          <a:srcRect b="0" l="0" r="0" t="0"/>
          <a:stretch/>
        </p:blipFill>
        <p:spPr>
          <a:xfrm>
            <a:off x="7905750" y="1843087"/>
            <a:ext cx="1663700" cy="2573337"/>
          </a:xfrm>
          <a:prstGeom prst="rect">
            <a:avLst/>
          </a:prstGeom>
          <a:noFill/>
          <a:ln>
            <a:noFill/>
          </a:ln>
        </p:spPr>
      </p:pic>
      <p:sp>
        <p:nvSpPr>
          <p:cNvPr id="444" name="Google Shape;444;p41"/>
          <p:cNvSpPr txBox="1"/>
          <p:nvPr/>
        </p:nvSpPr>
        <p:spPr>
          <a:xfrm>
            <a:off x="992187" y="457200"/>
            <a:ext cx="7540625" cy="111125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NATURAL RESOURCES</a:t>
            </a:r>
            <a:endParaRPr/>
          </a:p>
          <a:p>
            <a:pPr indent="0" lvl="0" marL="0" marR="0" rtl="0" algn="ctr">
              <a:lnSpc>
                <a:spcPct val="100000"/>
              </a:lnSpc>
              <a:spcBef>
                <a:spcPts val="90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STUDY OBJECTIVE</a:t>
            </a:r>
            <a:r>
              <a:rPr b="1" i="0" lang="en-US" sz="1800" u="none">
                <a:solidFill>
                  <a:srgbClr val="790015"/>
                </a:solidFill>
                <a:latin typeface="Arial"/>
                <a:ea typeface="Arial"/>
                <a:cs typeface="Arial"/>
                <a:sym typeface="Arial"/>
              </a:rPr>
              <a:t> </a:t>
            </a:r>
            <a:r>
              <a:rPr b="1" i="0" lang="en-US" sz="1800" u="none">
                <a:solidFill>
                  <a:srgbClr val="FC0128"/>
                </a:solidFill>
                <a:latin typeface="Arial"/>
                <a:ea typeface="Arial"/>
                <a:cs typeface="Arial"/>
                <a:sym typeface="Arial"/>
              </a:rPr>
              <a:t>7</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0">
                                            <p:txEl>
                                              <p:pRg end="0" st="0"/>
                                            </p:txEl>
                                          </p:spTgt>
                                        </p:tgtEl>
                                        <p:attrNameLst>
                                          <p:attrName>style.visibility</p:attrName>
                                        </p:attrNameLst>
                                      </p:cBhvr>
                                      <p:to>
                                        <p:strVal val="visible"/>
                                      </p:to>
                                    </p:set>
                                    <p:anim calcmode="lin" valueType="num">
                                      <p:cBhvr additive="base">
                                        <p:cTn dur="500"/>
                                        <p:tgtEl>
                                          <p:spTgt spid="44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0">
                                            <p:txEl>
                                              <p:pRg end="1" st="1"/>
                                            </p:txEl>
                                          </p:spTgt>
                                        </p:tgtEl>
                                        <p:attrNameLst>
                                          <p:attrName>style.visibility</p:attrName>
                                        </p:attrNameLst>
                                      </p:cBhvr>
                                      <p:to>
                                        <p:strVal val="visible"/>
                                      </p:to>
                                    </p:set>
                                    <p:anim calcmode="lin" valueType="num">
                                      <p:cBhvr additive="base">
                                        <p:cTn dur="500"/>
                                        <p:tgtEl>
                                          <p:spTgt spid="44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0">
                                            <p:txEl>
                                              <p:pRg end="2" st="2"/>
                                            </p:txEl>
                                          </p:spTgt>
                                        </p:tgtEl>
                                        <p:attrNameLst>
                                          <p:attrName>style.visibility</p:attrName>
                                        </p:attrNameLst>
                                      </p:cBhvr>
                                      <p:to>
                                        <p:strVal val="visible"/>
                                      </p:to>
                                    </p:set>
                                    <p:anim calcmode="lin" valueType="num">
                                      <p:cBhvr additive="base">
                                        <p:cTn dur="500"/>
                                        <p:tgtEl>
                                          <p:spTgt spid="44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0">
                                            <p:txEl>
                                              <p:pRg end="3" st="3"/>
                                            </p:txEl>
                                          </p:spTgt>
                                        </p:tgtEl>
                                        <p:attrNameLst>
                                          <p:attrName>style.visibility</p:attrName>
                                        </p:attrNameLst>
                                      </p:cBhvr>
                                      <p:to>
                                        <p:strVal val="visible"/>
                                      </p:to>
                                    </p:set>
                                    <p:anim calcmode="lin" valueType="num">
                                      <p:cBhvr additive="base">
                                        <p:cTn dur="500"/>
                                        <p:tgtEl>
                                          <p:spTgt spid="440">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0">
                                            <p:txEl>
                                              <p:pRg end="4" st="4"/>
                                            </p:txEl>
                                          </p:spTgt>
                                        </p:tgtEl>
                                        <p:attrNameLst>
                                          <p:attrName>style.visibility</p:attrName>
                                        </p:attrNameLst>
                                      </p:cBhvr>
                                      <p:to>
                                        <p:strVal val="visible"/>
                                      </p:to>
                                    </p:set>
                                    <p:anim calcmode="lin" valueType="num">
                                      <p:cBhvr additive="base">
                                        <p:cTn dur="500"/>
                                        <p:tgtEl>
                                          <p:spTgt spid="440">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8" name="Shape 448"/>
        <p:cNvGrpSpPr/>
        <p:nvPr/>
      </p:nvGrpSpPr>
      <p:grpSpPr>
        <a:xfrm>
          <a:off x="0" y="0"/>
          <a:ext cx="0" cy="0"/>
          <a:chOff x="0" y="0"/>
          <a:chExt cx="0" cy="0"/>
        </a:xfrm>
      </p:grpSpPr>
      <p:sp>
        <p:nvSpPr>
          <p:cNvPr id="449" name="Google Shape;449;p42"/>
          <p:cNvSpPr txBox="1"/>
          <p:nvPr/>
        </p:nvSpPr>
        <p:spPr>
          <a:xfrm>
            <a:off x="2516187" y="438150"/>
            <a:ext cx="456882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DEPLETION</a:t>
            </a:r>
            <a:endParaRPr/>
          </a:p>
        </p:txBody>
      </p:sp>
      <p:sp>
        <p:nvSpPr>
          <p:cNvPr id="450" name="Google Shape;450;p42"/>
          <p:cNvSpPr txBox="1"/>
          <p:nvPr>
            <p:ph idx="1" type="body"/>
          </p:nvPr>
        </p:nvSpPr>
        <p:spPr>
          <a:xfrm>
            <a:off x="657225" y="1719262"/>
            <a:ext cx="8296275" cy="5462587"/>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663300"/>
              </a:buClr>
              <a:buSzPts val="3400"/>
              <a:buFont typeface="Times New Roman"/>
              <a:buNone/>
            </a:pPr>
            <a:r>
              <a:rPr b="1" i="0" lang="en-US" sz="3400" u="none" cap="none" strike="noStrike">
                <a:solidFill>
                  <a:srgbClr val="663300"/>
                </a:solidFill>
                <a:latin typeface="Times New Roman"/>
                <a:ea typeface="Times New Roman"/>
                <a:cs typeface="Times New Roman"/>
                <a:sym typeface="Times New Roman"/>
              </a:rPr>
              <a:t>DEPLETION</a:t>
            </a:r>
            <a:endParaRPr/>
          </a:p>
          <a:p>
            <a:pPr indent="-361950" lvl="0" marL="361950" marR="0" rtl="0" algn="l">
              <a:lnSpc>
                <a:spcPct val="100000"/>
              </a:lnSpc>
              <a:spcBef>
                <a:spcPts val="700"/>
              </a:spcBef>
              <a:spcAft>
                <a:spcPts val="0"/>
              </a:spcAft>
              <a:buClr>
                <a:srgbClr val="BC3700"/>
              </a:buClr>
              <a:buSzPts val="3500"/>
              <a:buFont typeface="Times New Roman"/>
              <a:buChar char="•"/>
            </a:pPr>
            <a:r>
              <a:rPr b="1" i="0" lang="en-US" sz="3500" u="none" cap="none" strike="noStrike">
                <a:solidFill>
                  <a:schemeClr val="dk1"/>
                </a:solidFill>
                <a:latin typeface="Times New Roman"/>
                <a:ea typeface="Times New Roman"/>
                <a:cs typeface="Times New Roman"/>
                <a:sym typeface="Times New Roman"/>
              </a:rPr>
              <a:t>Allocation of the cost of natural resources to expense in a rational and systematic manner over the resource’s useful life.  </a:t>
            </a:r>
            <a:endParaRPr/>
          </a:p>
          <a:p>
            <a:pPr indent="-361950" lvl="0" marL="361950" marR="0" rtl="0" algn="l">
              <a:lnSpc>
                <a:spcPct val="100000"/>
              </a:lnSpc>
              <a:spcBef>
                <a:spcPts val="700"/>
              </a:spcBef>
              <a:spcAft>
                <a:spcPts val="0"/>
              </a:spcAft>
              <a:buClr>
                <a:srgbClr val="BC3700"/>
              </a:buClr>
              <a:buSzPts val="3500"/>
              <a:buFont typeface="Times New Roman"/>
              <a:buChar char="•"/>
            </a:pPr>
            <a:r>
              <a:rPr b="1" i="0" lang="en-US" sz="3500" u="none" cap="none" strike="noStrike">
                <a:solidFill>
                  <a:srgbClr val="BC3700"/>
                </a:solidFill>
                <a:latin typeface="Times New Roman"/>
                <a:ea typeface="Times New Roman"/>
                <a:cs typeface="Times New Roman"/>
                <a:sym typeface="Times New Roman"/>
              </a:rPr>
              <a:t>Units-of-activity method</a:t>
            </a:r>
            <a:r>
              <a:rPr b="1" i="0" lang="en-US" sz="3500" u="none" cap="none" strike="noStrike">
                <a:solidFill>
                  <a:schemeClr val="accent2"/>
                </a:solidFill>
                <a:latin typeface="Times New Roman"/>
                <a:ea typeface="Times New Roman"/>
                <a:cs typeface="Times New Roman"/>
                <a:sym typeface="Times New Roman"/>
              </a:rPr>
              <a:t> </a:t>
            </a:r>
            <a:r>
              <a:rPr b="1" i="0" lang="en-US" sz="3500" u="none" cap="none" strike="noStrike">
                <a:solidFill>
                  <a:schemeClr val="dk1"/>
                </a:solidFill>
                <a:latin typeface="Times New Roman"/>
                <a:ea typeface="Times New Roman"/>
                <a:cs typeface="Times New Roman"/>
                <a:sym typeface="Times New Roman"/>
              </a:rPr>
              <a:t>is generally used to compute depletion. </a:t>
            </a:r>
            <a:endParaRPr/>
          </a:p>
          <a:p>
            <a:pPr indent="-303212" lvl="1" marL="785812" marR="0" rtl="0" algn="l">
              <a:lnSpc>
                <a:spcPct val="100000"/>
              </a:lnSpc>
              <a:spcBef>
                <a:spcPts val="620"/>
              </a:spcBef>
              <a:spcAft>
                <a:spcPts val="0"/>
              </a:spcAft>
              <a:buClr>
                <a:srgbClr val="BC3700"/>
              </a:buClr>
              <a:buSzPts val="3100"/>
              <a:buFont typeface="Times New Roman"/>
              <a:buChar char="–"/>
            </a:pPr>
            <a:r>
              <a:rPr b="1" i="0" lang="en-US" sz="3100" u="none" cap="none" strike="noStrike">
                <a:solidFill>
                  <a:schemeClr val="dk1"/>
                </a:solidFill>
                <a:latin typeface="Times New Roman"/>
                <a:ea typeface="Times New Roman"/>
                <a:cs typeface="Times New Roman"/>
                <a:sym typeface="Times New Roman"/>
              </a:rPr>
              <a:t>depletion generally is a function of the units extracted during the year</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0">
                                            <p:txEl>
                                              <p:pRg end="0" st="0"/>
                                            </p:txEl>
                                          </p:spTgt>
                                        </p:tgtEl>
                                        <p:attrNameLst>
                                          <p:attrName>style.visibility</p:attrName>
                                        </p:attrNameLst>
                                      </p:cBhvr>
                                      <p:to>
                                        <p:strVal val="visible"/>
                                      </p:to>
                                    </p:set>
                                    <p:anim calcmode="lin" valueType="num">
                                      <p:cBhvr additive="base">
                                        <p:cTn dur="500"/>
                                        <p:tgtEl>
                                          <p:spTgt spid="45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0">
                                            <p:txEl>
                                              <p:pRg end="1" st="1"/>
                                            </p:txEl>
                                          </p:spTgt>
                                        </p:tgtEl>
                                        <p:attrNameLst>
                                          <p:attrName>style.visibility</p:attrName>
                                        </p:attrNameLst>
                                      </p:cBhvr>
                                      <p:to>
                                        <p:strVal val="visible"/>
                                      </p:to>
                                    </p:set>
                                    <p:anim calcmode="lin" valueType="num">
                                      <p:cBhvr additive="base">
                                        <p:cTn dur="500"/>
                                        <p:tgtEl>
                                          <p:spTgt spid="45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0">
                                            <p:txEl>
                                              <p:pRg end="2" st="2"/>
                                            </p:txEl>
                                          </p:spTgt>
                                        </p:tgtEl>
                                        <p:attrNameLst>
                                          <p:attrName>style.visibility</p:attrName>
                                        </p:attrNameLst>
                                      </p:cBhvr>
                                      <p:to>
                                        <p:strVal val="visible"/>
                                      </p:to>
                                    </p:set>
                                    <p:anim calcmode="lin" valueType="num">
                                      <p:cBhvr additive="base">
                                        <p:cTn dur="500"/>
                                        <p:tgtEl>
                                          <p:spTgt spid="45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0">
                                            <p:txEl>
                                              <p:pRg end="3" st="3"/>
                                            </p:txEl>
                                          </p:spTgt>
                                        </p:tgtEl>
                                        <p:attrNameLst>
                                          <p:attrName>style.visibility</p:attrName>
                                        </p:attrNameLst>
                                      </p:cBhvr>
                                      <p:to>
                                        <p:strVal val="visible"/>
                                      </p:to>
                                    </p:set>
                                    <p:anim calcmode="lin" valueType="num">
                                      <p:cBhvr additive="base">
                                        <p:cTn dur="500"/>
                                        <p:tgtEl>
                                          <p:spTgt spid="450">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4" name="Shape 454"/>
        <p:cNvGrpSpPr/>
        <p:nvPr/>
      </p:nvGrpSpPr>
      <p:grpSpPr>
        <a:xfrm>
          <a:off x="0" y="0"/>
          <a:ext cx="0" cy="0"/>
          <a:chOff x="0" y="0"/>
          <a:chExt cx="0" cy="0"/>
        </a:xfrm>
      </p:grpSpPr>
      <p:sp>
        <p:nvSpPr>
          <p:cNvPr id="455" name="Google Shape;455;p43"/>
          <p:cNvSpPr txBox="1"/>
          <p:nvPr/>
        </p:nvSpPr>
        <p:spPr>
          <a:xfrm>
            <a:off x="611187" y="273050"/>
            <a:ext cx="830262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FORMULA TO COMPUTE DEPLETION EXPENSE</a:t>
            </a:r>
            <a:endParaRPr/>
          </a:p>
        </p:txBody>
      </p:sp>
      <p:grpSp>
        <p:nvGrpSpPr>
          <p:cNvPr id="456" name="Google Shape;456;p43"/>
          <p:cNvGrpSpPr/>
          <p:nvPr/>
        </p:nvGrpSpPr>
        <p:grpSpPr>
          <a:xfrm>
            <a:off x="457200" y="1905000"/>
            <a:ext cx="8713787" cy="3200400"/>
            <a:chOff x="284" y="1190"/>
            <a:chExt cx="5489" cy="2016"/>
          </a:xfrm>
        </p:grpSpPr>
        <p:grpSp>
          <p:nvGrpSpPr>
            <p:cNvPr id="457" name="Google Shape;457;p43"/>
            <p:cNvGrpSpPr/>
            <p:nvPr/>
          </p:nvGrpSpPr>
          <p:grpSpPr>
            <a:xfrm>
              <a:off x="561" y="1190"/>
              <a:ext cx="4922" cy="768"/>
              <a:chOff x="561" y="1190"/>
              <a:chExt cx="4922" cy="768"/>
            </a:xfrm>
          </p:grpSpPr>
          <p:grpSp>
            <p:nvGrpSpPr>
              <p:cNvPr id="458" name="Google Shape;458;p43"/>
              <p:cNvGrpSpPr/>
              <p:nvPr/>
            </p:nvGrpSpPr>
            <p:grpSpPr>
              <a:xfrm>
                <a:off x="2552" y="1190"/>
                <a:ext cx="967" cy="758"/>
                <a:chOff x="2552" y="1190"/>
                <a:chExt cx="967" cy="758"/>
              </a:xfrm>
            </p:grpSpPr>
            <p:sp>
              <p:nvSpPr>
                <p:cNvPr id="459" name="Google Shape;459;p43"/>
                <p:cNvSpPr/>
                <p:nvPr/>
              </p:nvSpPr>
              <p:spPr>
                <a:xfrm>
                  <a:off x="2552" y="1190"/>
                  <a:ext cx="957" cy="758"/>
                </a:xfrm>
                <a:prstGeom prst="rect">
                  <a:avLst/>
                </a:prstGeom>
                <a:solidFill>
                  <a:srgbClr val="A2C1FE"/>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0" name="Google Shape;460;p43"/>
                <p:cNvSpPr txBox="1"/>
                <p:nvPr/>
              </p:nvSpPr>
              <p:spPr>
                <a:xfrm>
                  <a:off x="2568" y="1305"/>
                  <a:ext cx="951" cy="518"/>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Total Estimated Units</a:t>
                  </a:r>
                  <a:endParaRPr/>
                </a:p>
              </p:txBody>
            </p:sp>
          </p:grpSp>
          <p:grpSp>
            <p:nvGrpSpPr>
              <p:cNvPr id="461" name="Google Shape;461;p43"/>
              <p:cNvGrpSpPr/>
              <p:nvPr/>
            </p:nvGrpSpPr>
            <p:grpSpPr>
              <a:xfrm>
                <a:off x="4526" y="1200"/>
                <a:ext cx="957" cy="758"/>
                <a:chOff x="4526" y="1200"/>
                <a:chExt cx="957" cy="758"/>
              </a:xfrm>
            </p:grpSpPr>
            <p:sp>
              <p:nvSpPr>
                <p:cNvPr id="462" name="Google Shape;462;p43"/>
                <p:cNvSpPr/>
                <p:nvPr/>
              </p:nvSpPr>
              <p:spPr>
                <a:xfrm>
                  <a:off x="4526" y="1200"/>
                  <a:ext cx="957" cy="758"/>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3" name="Google Shape;463;p43"/>
                <p:cNvSpPr txBox="1"/>
                <p:nvPr/>
              </p:nvSpPr>
              <p:spPr>
                <a:xfrm>
                  <a:off x="4631" y="1319"/>
                  <a:ext cx="748" cy="518"/>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Depletion</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Cost per Unit</a:t>
                  </a:r>
                  <a:endParaRPr/>
                </a:p>
              </p:txBody>
            </p:sp>
          </p:grpSp>
          <p:grpSp>
            <p:nvGrpSpPr>
              <p:cNvPr id="464" name="Google Shape;464;p43"/>
              <p:cNvGrpSpPr/>
              <p:nvPr/>
            </p:nvGrpSpPr>
            <p:grpSpPr>
              <a:xfrm>
                <a:off x="3760" y="1524"/>
                <a:ext cx="496" cy="96"/>
                <a:chOff x="3760" y="1524"/>
                <a:chExt cx="496" cy="96"/>
              </a:xfrm>
            </p:grpSpPr>
            <p:cxnSp>
              <p:nvCxnSpPr>
                <p:cNvPr id="465" name="Google Shape;465;p43"/>
                <p:cNvCxnSpPr/>
                <p:nvPr/>
              </p:nvCxnSpPr>
              <p:spPr>
                <a:xfrm>
                  <a:off x="3760" y="1524"/>
                  <a:ext cx="496" cy="0"/>
                </a:xfrm>
                <a:prstGeom prst="straightConnector1">
                  <a:avLst/>
                </a:prstGeom>
                <a:noFill/>
                <a:ln cap="flat" cmpd="sng" w="50800">
                  <a:solidFill>
                    <a:schemeClr val="dk1"/>
                  </a:solidFill>
                  <a:prstDash val="solid"/>
                  <a:miter lim="800000"/>
                  <a:headEnd len="med" w="med" type="none"/>
                  <a:tailEnd len="med" w="med" type="none"/>
                </a:ln>
              </p:spPr>
            </p:cxnSp>
            <p:cxnSp>
              <p:nvCxnSpPr>
                <p:cNvPr id="466" name="Google Shape;466;p43"/>
                <p:cNvCxnSpPr/>
                <p:nvPr/>
              </p:nvCxnSpPr>
              <p:spPr>
                <a:xfrm>
                  <a:off x="3760" y="1620"/>
                  <a:ext cx="496" cy="0"/>
                </a:xfrm>
                <a:prstGeom prst="straightConnector1">
                  <a:avLst/>
                </a:prstGeom>
                <a:noFill/>
                <a:ln cap="flat" cmpd="sng" w="50800">
                  <a:solidFill>
                    <a:schemeClr val="dk1"/>
                  </a:solidFill>
                  <a:prstDash val="solid"/>
                  <a:miter lim="800000"/>
                  <a:headEnd len="med" w="med" type="none"/>
                  <a:tailEnd len="med" w="med" type="none"/>
                </a:ln>
              </p:spPr>
            </p:cxnSp>
          </p:grpSp>
          <p:grpSp>
            <p:nvGrpSpPr>
              <p:cNvPr id="467" name="Google Shape;467;p43"/>
              <p:cNvGrpSpPr/>
              <p:nvPr/>
            </p:nvGrpSpPr>
            <p:grpSpPr>
              <a:xfrm>
                <a:off x="1792" y="1380"/>
                <a:ext cx="496" cy="356"/>
                <a:chOff x="1792" y="1380"/>
                <a:chExt cx="496" cy="356"/>
              </a:xfrm>
            </p:grpSpPr>
            <p:cxnSp>
              <p:nvCxnSpPr>
                <p:cNvPr id="468" name="Google Shape;468;p43"/>
                <p:cNvCxnSpPr/>
                <p:nvPr/>
              </p:nvCxnSpPr>
              <p:spPr>
                <a:xfrm>
                  <a:off x="1792" y="1560"/>
                  <a:ext cx="496" cy="0"/>
                </a:xfrm>
                <a:prstGeom prst="straightConnector1">
                  <a:avLst/>
                </a:prstGeom>
                <a:noFill/>
                <a:ln cap="flat" cmpd="sng" w="50800">
                  <a:solidFill>
                    <a:schemeClr val="dk1"/>
                  </a:solidFill>
                  <a:prstDash val="solid"/>
                  <a:miter lim="800000"/>
                  <a:headEnd len="med" w="med" type="none"/>
                  <a:tailEnd len="med" w="med" type="none"/>
                </a:ln>
              </p:spPr>
            </p:cxnSp>
            <p:pic>
              <p:nvPicPr>
                <p:cNvPr id="469" name="Google Shape;469;p43"/>
                <p:cNvPicPr preferRelativeResize="0"/>
                <p:nvPr/>
              </p:nvPicPr>
              <p:blipFill rotWithShape="1">
                <a:blip r:embed="rId3">
                  <a:alphaModFix/>
                </a:blip>
                <a:srcRect b="0" l="0" r="97590" t="0"/>
                <a:stretch/>
              </p:blipFill>
              <p:spPr>
                <a:xfrm>
                  <a:off x="1944" y="1380"/>
                  <a:ext cx="192" cy="176"/>
                </a:xfrm>
                <a:prstGeom prst="rect">
                  <a:avLst/>
                </a:prstGeom>
                <a:noFill/>
                <a:ln>
                  <a:noFill/>
                </a:ln>
              </p:spPr>
            </p:pic>
            <p:pic>
              <p:nvPicPr>
                <p:cNvPr id="470" name="Google Shape;470;p43"/>
                <p:cNvPicPr preferRelativeResize="0"/>
                <p:nvPr/>
              </p:nvPicPr>
              <p:blipFill rotWithShape="1">
                <a:blip r:embed="rId3">
                  <a:alphaModFix/>
                </a:blip>
                <a:srcRect b="0" l="0" r="97590" t="0"/>
                <a:stretch/>
              </p:blipFill>
              <p:spPr>
                <a:xfrm>
                  <a:off x="1944" y="1560"/>
                  <a:ext cx="192" cy="176"/>
                </a:xfrm>
                <a:prstGeom prst="rect">
                  <a:avLst/>
                </a:prstGeom>
                <a:noFill/>
                <a:ln>
                  <a:noFill/>
                </a:ln>
              </p:spPr>
            </p:pic>
          </p:grpSp>
          <p:grpSp>
            <p:nvGrpSpPr>
              <p:cNvPr id="471" name="Google Shape;471;p43"/>
              <p:cNvGrpSpPr/>
              <p:nvPr/>
            </p:nvGrpSpPr>
            <p:grpSpPr>
              <a:xfrm>
                <a:off x="561" y="1190"/>
                <a:ext cx="1002" cy="758"/>
                <a:chOff x="561" y="1190"/>
                <a:chExt cx="1002" cy="758"/>
              </a:xfrm>
            </p:grpSpPr>
            <p:sp>
              <p:nvSpPr>
                <p:cNvPr id="472" name="Google Shape;472;p43"/>
                <p:cNvSpPr/>
                <p:nvPr/>
              </p:nvSpPr>
              <p:spPr>
                <a:xfrm>
                  <a:off x="584" y="1190"/>
                  <a:ext cx="957" cy="758"/>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3" name="Google Shape;473;p43"/>
                <p:cNvSpPr txBox="1"/>
                <p:nvPr/>
              </p:nvSpPr>
              <p:spPr>
                <a:xfrm>
                  <a:off x="561" y="1317"/>
                  <a:ext cx="1002" cy="518"/>
                </a:xfrm>
                <a:prstGeom prst="rect">
                  <a:avLst/>
                </a:prstGeom>
                <a:solidFill>
                  <a:srgbClr val="FFFF99"/>
                </a:solid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Total Cost minus Salvage Value</a:t>
                  </a:r>
                  <a:endParaRPr/>
                </a:p>
              </p:txBody>
            </p:sp>
          </p:grpSp>
        </p:grpSp>
        <p:grpSp>
          <p:nvGrpSpPr>
            <p:cNvPr id="474" name="Google Shape;474;p43"/>
            <p:cNvGrpSpPr/>
            <p:nvPr/>
          </p:nvGrpSpPr>
          <p:grpSpPr>
            <a:xfrm>
              <a:off x="584" y="2438"/>
              <a:ext cx="4899" cy="768"/>
              <a:chOff x="584" y="2438"/>
              <a:chExt cx="4899" cy="768"/>
            </a:xfrm>
          </p:grpSpPr>
          <p:grpSp>
            <p:nvGrpSpPr>
              <p:cNvPr id="475" name="Google Shape;475;p43"/>
              <p:cNvGrpSpPr/>
              <p:nvPr/>
            </p:nvGrpSpPr>
            <p:grpSpPr>
              <a:xfrm>
                <a:off x="584" y="2438"/>
                <a:ext cx="957" cy="758"/>
                <a:chOff x="584" y="2438"/>
                <a:chExt cx="957" cy="758"/>
              </a:xfrm>
            </p:grpSpPr>
            <p:sp>
              <p:nvSpPr>
                <p:cNvPr id="476" name="Google Shape;476;p43"/>
                <p:cNvSpPr/>
                <p:nvPr/>
              </p:nvSpPr>
              <p:spPr>
                <a:xfrm>
                  <a:off x="584" y="2438"/>
                  <a:ext cx="957" cy="758"/>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7" name="Google Shape;477;p43"/>
                <p:cNvSpPr txBox="1"/>
                <p:nvPr/>
              </p:nvSpPr>
              <p:spPr>
                <a:xfrm>
                  <a:off x="683" y="2543"/>
                  <a:ext cx="748" cy="518"/>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Depletion</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Cost per Unit</a:t>
                  </a:r>
                  <a:endParaRPr/>
                </a:p>
              </p:txBody>
            </p:sp>
          </p:grpSp>
          <p:grpSp>
            <p:nvGrpSpPr>
              <p:cNvPr id="478" name="Google Shape;478;p43"/>
              <p:cNvGrpSpPr/>
              <p:nvPr/>
            </p:nvGrpSpPr>
            <p:grpSpPr>
              <a:xfrm>
                <a:off x="2552" y="2438"/>
                <a:ext cx="957" cy="758"/>
                <a:chOff x="2552" y="2438"/>
                <a:chExt cx="957" cy="758"/>
              </a:xfrm>
            </p:grpSpPr>
            <p:sp>
              <p:nvSpPr>
                <p:cNvPr id="479" name="Google Shape;479;p43"/>
                <p:cNvSpPr/>
                <p:nvPr/>
              </p:nvSpPr>
              <p:spPr>
                <a:xfrm>
                  <a:off x="2552" y="2438"/>
                  <a:ext cx="957" cy="758"/>
                </a:xfrm>
                <a:prstGeom prst="rect">
                  <a:avLst/>
                </a:prstGeom>
                <a:solidFill>
                  <a:srgbClr val="CCFFCC"/>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 name="Google Shape;480;p43"/>
                <p:cNvSpPr txBox="1"/>
                <p:nvPr/>
              </p:nvSpPr>
              <p:spPr>
                <a:xfrm>
                  <a:off x="2637" y="2471"/>
                  <a:ext cx="786" cy="672"/>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Number of</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Units Extracted and Sold</a:t>
                  </a:r>
                  <a:endParaRPr/>
                </a:p>
              </p:txBody>
            </p:sp>
          </p:grpSp>
          <p:grpSp>
            <p:nvGrpSpPr>
              <p:cNvPr id="481" name="Google Shape;481;p43"/>
              <p:cNvGrpSpPr/>
              <p:nvPr/>
            </p:nvGrpSpPr>
            <p:grpSpPr>
              <a:xfrm>
                <a:off x="4526" y="2448"/>
                <a:ext cx="957" cy="758"/>
                <a:chOff x="4526" y="2448"/>
                <a:chExt cx="957" cy="758"/>
              </a:xfrm>
            </p:grpSpPr>
            <p:sp>
              <p:nvSpPr>
                <p:cNvPr id="482" name="Google Shape;482;p43"/>
                <p:cNvSpPr/>
                <p:nvPr/>
              </p:nvSpPr>
              <p:spPr>
                <a:xfrm>
                  <a:off x="4526" y="2448"/>
                  <a:ext cx="957" cy="758"/>
                </a:xfrm>
                <a:prstGeom prst="rect">
                  <a:avLst/>
                </a:prstGeom>
                <a:solidFill>
                  <a:srgbClr val="8CF4EA"/>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3" name="Google Shape;483;p43"/>
                <p:cNvSpPr txBox="1"/>
                <p:nvPr/>
              </p:nvSpPr>
              <p:spPr>
                <a:xfrm>
                  <a:off x="4631" y="2627"/>
                  <a:ext cx="748" cy="518"/>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Annual Depletion</a:t>
                  </a:r>
                  <a:endParaRPr/>
                </a:p>
                <a:p>
                  <a:pPr indent="0" lvl="0" marL="0" marR="0" rtl="0" algn="ctr">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Expense</a:t>
                  </a:r>
                  <a:endParaRPr/>
                </a:p>
              </p:txBody>
            </p:sp>
          </p:grpSp>
          <p:grpSp>
            <p:nvGrpSpPr>
              <p:cNvPr id="484" name="Google Shape;484;p43"/>
              <p:cNvGrpSpPr/>
              <p:nvPr/>
            </p:nvGrpSpPr>
            <p:grpSpPr>
              <a:xfrm>
                <a:off x="3760" y="2772"/>
                <a:ext cx="496" cy="96"/>
                <a:chOff x="3760" y="2772"/>
                <a:chExt cx="496" cy="96"/>
              </a:xfrm>
            </p:grpSpPr>
            <p:cxnSp>
              <p:nvCxnSpPr>
                <p:cNvPr id="485" name="Google Shape;485;p43"/>
                <p:cNvCxnSpPr/>
                <p:nvPr/>
              </p:nvCxnSpPr>
              <p:spPr>
                <a:xfrm>
                  <a:off x="3760" y="2772"/>
                  <a:ext cx="496" cy="0"/>
                </a:xfrm>
                <a:prstGeom prst="straightConnector1">
                  <a:avLst/>
                </a:prstGeom>
                <a:noFill/>
                <a:ln cap="flat" cmpd="sng" w="50800">
                  <a:solidFill>
                    <a:schemeClr val="dk1"/>
                  </a:solidFill>
                  <a:prstDash val="solid"/>
                  <a:miter lim="800000"/>
                  <a:headEnd len="med" w="med" type="none"/>
                  <a:tailEnd len="med" w="med" type="none"/>
                </a:ln>
              </p:spPr>
            </p:cxnSp>
            <p:cxnSp>
              <p:nvCxnSpPr>
                <p:cNvPr id="486" name="Google Shape;486;p43"/>
                <p:cNvCxnSpPr/>
                <p:nvPr/>
              </p:nvCxnSpPr>
              <p:spPr>
                <a:xfrm>
                  <a:off x="3760" y="2868"/>
                  <a:ext cx="496" cy="0"/>
                </a:xfrm>
                <a:prstGeom prst="straightConnector1">
                  <a:avLst/>
                </a:prstGeom>
                <a:noFill/>
                <a:ln cap="flat" cmpd="sng" w="50800">
                  <a:solidFill>
                    <a:schemeClr val="dk1"/>
                  </a:solidFill>
                  <a:prstDash val="solid"/>
                  <a:miter lim="800000"/>
                  <a:headEnd len="med" w="med" type="none"/>
                  <a:tailEnd len="med" w="med" type="none"/>
                </a:ln>
              </p:spPr>
            </p:cxnSp>
          </p:grpSp>
          <p:grpSp>
            <p:nvGrpSpPr>
              <p:cNvPr id="487" name="Google Shape;487;p43"/>
              <p:cNvGrpSpPr/>
              <p:nvPr/>
            </p:nvGrpSpPr>
            <p:grpSpPr>
              <a:xfrm>
                <a:off x="1942" y="2684"/>
                <a:ext cx="184" cy="240"/>
                <a:chOff x="1942" y="2684"/>
                <a:chExt cx="184" cy="240"/>
              </a:xfrm>
            </p:grpSpPr>
            <p:cxnSp>
              <p:nvCxnSpPr>
                <p:cNvPr id="488" name="Google Shape;488;p43"/>
                <p:cNvCxnSpPr/>
                <p:nvPr/>
              </p:nvCxnSpPr>
              <p:spPr>
                <a:xfrm flipH="1" rot="10800000">
                  <a:off x="1942" y="2684"/>
                  <a:ext cx="184" cy="240"/>
                </a:xfrm>
                <a:prstGeom prst="straightConnector1">
                  <a:avLst/>
                </a:prstGeom>
                <a:noFill/>
                <a:ln cap="flat" cmpd="sng" w="50800">
                  <a:solidFill>
                    <a:schemeClr val="dk1"/>
                  </a:solidFill>
                  <a:prstDash val="solid"/>
                  <a:miter lim="800000"/>
                  <a:headEnd len="med" w="med" type="none"/>
                  <a:tailEnd len="med" w="med" type="none"/>
                </a:ln>
              </p:spPr>
            </p:cxnSp>
            <p:cxnSp>
              <p:nvCxnSpPr>
                <p:cNvPr id="489" name="Google Shape;489;p43"/>
                <p:cNvCxnSpPr/>
                <p:nvPr/>
              </p:nvCxnSpPr>
              <p:spPr>
                <a:xfrm>
                  <a:off x="1956" y="2703"/>
                  <a:ext cx="156" cy="202"/>
                </a:xfrm>
                <a:prstGeom prst="straightConnector1">
                  <a:avLst/>
                </a:prstGeom>
                <a:noFill/>
                <a:ln cap="flat" cmpd="sng" w="50800">
                  <a:solidFill>
                    <a:schemeClr val="dk1"/>
                  </a:solidFill>
                  <a:prstDash val="solid"/>
                  <a:miter lim="800000"/>
                  <a:headEnd len="med" w="med" type="none"/>
                  <a:tailEnd len="med" w="med" type="none"/>
                </a:ln>
              </p:spPr>
            </p:cxnSp>
          </p:grpSp>
        </p:grpSp>
        <p:grpSp>
          <p:nvGrpSpPr>
            <p:cNvPr id="490" name="Google Shape;490;p43"/>
            <p:cNvGrpSpPr/>
            <p:nvPr/>
          </p:nvGrpSpPr>
          <p:grpSpPr>
            <a:xfrm>
              <a:off x="284" y="1572"/>
              <a:ext cx="5489" cy="1252"/>
              <a:chOff x="284" y="1572"/>
              <a:chExt cx="5489" cy="1252"/>
            </a:xfrm>
          </p:grpSpPr>
          <p:cxnSp>
            <p:nvCxnSpPr>
              <p:cNvPr id="491" name="Google Shape;491;p43"/>
              <p:cNvCxnSpPr/>
              <p:nvPr/>
            </p:nvCxnSpPr>
            <p:spPr>
              <a:xfrm>
                <a:off x="5512" y="1572"/>
                <a:ext cx="220" cy="0"/>
              </a:xfrm>
              <a:prstGeom prst="straightConnector1">
                <a:avLst/>
              </a:prstGeom>
              <a:noFill/>
              <a:ln cap="flat" cmpd="sng" w="50800">
                <a:solidFill>
                  <a:srgbClr val="CF0E30"/>
                </a:solidFill>
                <a:prstDash val="solid"/>
                <a:miter lim="800000"/>
                <a:headEnd len="med" w="med" type="none"/>
                <a:tailEnd len="med" w="med" type="none"/>
              </a:ln>
            </p:spPr>
          </p:cxnSp>
          <p:cxnSp>
            <p:nvCxnSpPr>
              <p:cNvPr id="492" name="Google Shape;492;p43"/>
              <p:cNvCxnSpPr/>
              <p:nvPr/>
            </p:nvCxnSpPr>
            <p:spPr>
              <a:xfrm>
                <a:off x="312" y="2212"/>
                <a:ext cx="0" cy="580"/>
              </a:xfrm>
              <a:prstGeom prst="straightConnector1">
                <a:avLst/>
              </a:prstGeom>
              <a:noFill/>
              <a:ln cap="flat" cmpd="sng" w="50800">
                <a:solidFill>
                  <a:srgbClr val="CF0E30"/>
                </a:solidFill>
                <a:prstDash val="solid"/>
                <a:miter lim="800000"/>
                <a:headEnd len="med" w="med" type="none"/>
                <a:tailEnd len="med" w="med" type="none"/>
              </a:ln>
            </p:spPr>
          </p:cxnSp>
          <p:cxnSp>
            <p:nvCxnSpPr>
              <p:cNvPr id="493" name="Google Shape;493;p43"/>
              <p:cNvCxnSpPr/>
              <p:nvPr/>
            </p:nvCxnSpPr>
            <p:spPr>
              <a:xfrm flipH="1" rot="10800000">
                <a:off x="316" y="2788"/>
                <a:ext cx="265" cy="36"/>
              </a:xfrm>
              <a:prstGeom prst="straightConnector1">
                <a:avLst/>
              </a:prstGeom>
              <a:noFill/>
              <a:ln cap="flat" cmpd="sng" w="50800">
                <a:solidFill>
                  <a:srgbClr val="CF0E30"/>
                </a:solidFill>
                <a:prstDash val="solid"/>
                <a:miter lim="800000"/>
                <a:headEnd len="med" w="med" type="none"/>
                <a:tailEnd len="med" w="med" type="triangle"/>
              </a:ln>
            </p:spPr>
          </p:cxnSp>
          <p:cxnSp>
            <p:nvCxnSpPr>
              <p:cNvPr id="494" name="Google Shape;494;p43"/>
              <p:cNvCxnSpPr/>
              <p:nvPr/>
            </p:nvCxnSpPr>
            <p:spPr>
              <a:xfrm rot="10800000">
                <a:off x="284" y="2180"/>
                <a:ext cx="5489" cy="33"/>
              </a:xfrm>
              <a:prstGeom prst="straightConnector1">
                <a:avLst/>
              </a:prstGeom>
              <a:noFill/>
              <a:ln cap="flat" cmpd="sng" w="50800">
                <a:solidFill>
                  <a:srgbClr val="CF0E30"/>
                </a:solidFill>
                <a:prstDash val="solid"/>
                <a:miter lim="800000"/>
                <a:headEnd len="med" w="med" type="none"/>
                <a:tailEnd len="med" w="med" type="none"/>
              </a:ln>
            </p:spPr>
          </p:cxnSp>
          <p:cxnSp>
            <p:nvCxnSpPr>
              <p:cNvPr id="495" name="Google Shape;495;p43"/>
              <p:cNvCxnSpPr/>
              <p:nvPr/>
            </p:nvCxnSpPr>
            <p:spPr>
              <a:xfrm>
                <a:off x="5739" y="1584"/>
                <a:ext cx="0" cy="600"/>
              </a:xfrm>
              <a:prstGeom prst="straightConnector1">
                <a:avLst/>
              </a:prstGeom>
              <a:noFill/>
              <a:ln cap="flat" cmpd="sng" w="50800">
                <a:solidFill>
                  <a:srgbClr val="CF0E30"/>
                </a:solidFill>
                <a:prstDash val="solid"/>
                <a:miter lim="800000"/>
                <a:headEnd len="med" w="med" type="none"/>
                <a:tailEnd len="med" w="med" type="none"/>
              </a:ln>
            </p:spPr>
          </p:cxnSp>
        </p:grpSp>
      </p:grpSp>
      <p:sp>
        <p:nvSpPr>
          <p:cNvPr id="496" name="Google Shape;496;p43"/>
          <p:cNvSpPr txBox="1"/>
          <p:nvPr>
            <p:ph idx="1" type="body"/>
          </p:nvPr>
        </p:nvSpPr>
        <p:spPr>
          <a:xfrm>
            <a:off x="952500" y="5319712"/>
            <a:ext cx="7734300" cy="1806575"/>
          </a:xfrm>
          <a:prstGeom prst="rect">
            <a:avLst/>
          </a:prstGeom>
          <a:solidFill>
            <a:srgbClr val="FFFF99"/>
          </a:solidFill>
          <a:ln>
            <a:noFill/>
          </a:ln>
          <a:effectLst>
            <a:outerShdw blurRad="63500" dir="2700000" dist="35921">
              <a:srgbClr val="808080"/>
            </a:outerShdw>
          </a:effectLst>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2900"/>
              <a:buFont typeface="Arial"/>
              <a:buNone/>
            </a:pPr>
            <a:r>
              <a:rPr b="1" i="0" lang="en-US" sz="2900" u="none" cap="none" strike="noStrike">
                <a:solidFill>
                  <a:srgbClr val="BC3700"/>
                </a:solidFill>
                <a:latin typeface="Arial"/>
                <a:ea typeface="Arial"/>
                <a:cs typeface="Arial"/>
                <a:sym typeface="Arial"/>
              </a:rPr>
              <a:t>Helpful hint:</a:t>
            </a:r>
            <a:r>
              <a:rPr b="1" i="0" lang="en-US" sz="2900" u="none" cap="none" strike="noStrike">
                <a:solidFill>
                  <a:schemeClr val="dk1"/>
                </a:solidFill>
                <a:latin typeface="Arial"/>
                <a:ea typeface="Arial"/>
                <a:cs typeface="Arial"/>
                <a:sym typeface="Arial"/>
              </a:rPr>
              <a:t>  This computation for depletion is similar to the computation for depreciation using the units-of-activity method of depreciation.</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6">
                                            <p:txEl>
                                              <p:pRg end="0" st="0"/>
                                            </p:txEl>
                                          </p:spTgt>
                                        </p:tgtEl>
                                        <p:attrNameLst>
                                          <p:attrName>style.visibility</p:attrName>
                                        </p:attrNameLst>
                                      </p:cBhvr>
                                      <p:to>
                                        <p:strVal val="visible"/>
                                      </p:to>
                                    </p:set>
                                    <p:anim calcmode="lin" valueType="num">
                                      <p:cBhvr additive="base">
                                        <p:cTn dur="500"/>
                                        <p:tgtEl>
                                          <p:spTgt spid="49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0" name="Shape 500"/>
        <p:cNvGrpSpPr/>
        <p:nvPr/>
      </p:nvGrpSpPr>
      <p:grpSpPr>
        <a:xfrm>
          <a:off x="0" y="0"/>
          <a:ext cx="0" cy="0"/>
          <a:chOff x="0" y="0"/>
          <a:chExt cx="0" cy="0"/>
        </a:xfrm>
      </p:grpSpPr>
      <p:sp>
        <p:nvSpPr>
          <p:cNvPr id="501" name="Google Shape;501;p44"/>
          <p:cNvSpPr/>
          <p:nvPr/>
        </p:nvSpPr>
        <p:spPr>
          <a:xfrm>
            <a:off x="838200" y="5410200"/>
            <a:ext cx="7867650" cy="1143000"/>
          </a:xfrm>
          <a:prstGeom prst="rect">
            <a:avLst/>
          </a:prstGeom>
          <a:solidFill>
            <a:srgbClr val="F6BF6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2" name="Google Shape;502;p44"/>
          <p:cNvSpPr txBox="1"/>
          <p:nvPr/>
        </p:nvSpPr>
        <p:spPr>
          <a:xfrm>
            <a:off x="1258887" y="533400"/>
            <a:ext cx="7064375" cy="638175"/>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3600"/>
              <a:buFont typeface="Arial Black"/>
              <a:buNone/>
            </a:pPr>
            <a:r>
              <a:rPr b="1" i="0" lang="en-US" sz="3600" u="none">
                <a:solidFill>
                  <a:srgbClr val="000099"/>
                </a:solidFill>
                <a:latin typeface="Arial Black"/>
                <a:ea typeface="Arial Black"/>
                <a:cs typeface="Arial Black"/>
                <a:sym typeface="Arial Black"/>
              </a:rPr>
              <a:t>RECORDING DEPLETION</a:t>
            </a:r>
            <a:endParaRPr/>
          </a:p>
        </p:txBody>
      </p:sp>
      <p:grpSp>
        <p:nvGrpSpPr>
          <p:cNvPr id="503" name="Google Shape;503;p44"/>
          <p:cNvGrpSpPr/>
          <p:nvPr/>
        </p:nvGrpSpPr>
        <p:grpSpPr>
          <a:xfrm>
            <a:off x="304800" y="1752600"/>
            <a:ext cx="9144000" cy="3498850"/>
            <a:chOff x="192" y="1104"/>
            <a:chExt cx="5760" cy="2204"/>
          </a:xfrm>
        </p:grpSpPr>
        <p:sp>
          <p:nvSpPr>
            <p:cNvPr id="504" name="Google Shape;504;p44"/>
            <p:cNvSpPr/>
            <p:nvPr/>
          </p:nvSpPr>
          <p:spPr>
            <a:xfrm>
              <a:off x="192" y="1104"/>
              <a:ext cx="5760" cy="2204"/>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5" name="Google Shape;505;p44"/>
            <p:cNvSpPr txBox="1"/>
            <p:nvPr/>
          </p:nvSpPr>
          <p:spPr>
            <a:xfrm>
              <a:off x="265" y="1112"/>
              <a:ext cx="4881" cy="2166"/>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a:solidFill>
                    <a:schemeClr val="dk1"/>
                  </a:solidFill>
                  <a:latin typeface="Arial"/>
                  <a:ea typeface="Arial"/>
                  <a:cs typeface="Arial"/>
                  <a:sym typeface="Arial"/>
                </a:rPr>
                <a:t>The Lane Coal Company invests $5 million in a mine estimated to have 10 million tons of coal and no salvage value.  In the first year, 800,000 tons of coal are extracted and sold.  Using the formulas, the calculations are as follows:</a:t>
              </a:r>
              <a:endParaRPr/>
            </a:p>
            <a:p>
              <a:pPr indent="0" lvl="0" marL="0" marR="0" rtl="0" algn="ctr">
                <a:lnSpc>
                  <a:spcPct val="100000"/>
                </a:lnSpc>
                <a:spcBef>
                  <a:spcPts val="0"/>
                </a:spcBef>
                <a:spcAft>
                  <a:spcPts val="0"/>
                </a:spcAft>
                <a:buClr>
                  <a:srgbClr val="971008"/>
                </a:buClr>
                <a:buSzPts val="2200"/>
                <a:buFont typeface="Arial"/>
                <a:buNone/>
              </a:pPr>
              <a:r>
                <a:rPr b="1" i="0" lang="en-US" sz="2200" u="none">
                  <a:solidFill>
                    <a:srgbClr val="971008"/>
                  </a:solidFill>
                  <a:latin typeface="Arial"/>
                  <a:ea typeface="Arial"/>
                  <a:cs typeface="Arial"/>
                  <a:sym typeface="Arial"/>
                </a:rPr>
                <a:t>$5,000,000 ÷ 10,000,000 = $.50 depletion cost per ton</a:t>
              </a:r>
              <a:endParaRPr/>
            </a:p>
            <a:p>
              <a:pPr indent="0" lvl="0" marL="0" marR="0" rtl="0" algn="l">
                <a:lnSpc>
                  <a:spcPct val="100000"/>
                </a:lnSpc>
                <a:spcBef>
                  <a:spcPts val="0"/>
                </a:spcBef>
                <a:spcAft>
                  <a:spcPts val="0"/>
                </a:spcAft>
                <a:buClr>
                  <a:srgbClr val="971008"/>
                </a:buClr>
                <a:buSzPts val="2200"/>
                <a:buFont typeface="Arial"/>
                <a:buNone/>
              </a:pPr>
              <a:r>
                <a:rPr b="1" i="0" lang="en-US" sz="2200" u="none">
                  <a:solidFill>
                    <a:srgbClr val="971008"/>
                  </a:solidFill>
                  <a:latin typeface="Arial"/>
                  <a:ea typeface="Arial"/>
                  <a:cs typeface="Arial"/>
                  <a:sym typeface="Arial"/>
                </a:rPr>
                <a:t>	     $.50 X 800,000 = $400,000 depletion expense</a:t>
              </a:r>
              <a:endParaRPr/>
            </a:p>
            <a:p>
              <a:pPr indent="0" lvl="0" marL="0" marR="0" rtl="0" algn="l">
                <a:lnSpc>
                  <a:spcPct val="100000"/>
                </a:lnSpc>
                <a:spcBef>
                  <a:spcPts val="0"/>
                </a:spcBef>
                <a:spcAft>
                  <a:spcPts val="0"/>
                </a:spcAft>
                <a:buClr>
                  <a:schemeClr val="dk1"/>
                </a:buClr>
                <a:buSzPts val="2200"/>
                <a:buFont typeface="Times New Roman"/>
                <a:buNone/>
              </a:pPr>
              <a:r>
                <a:t/>
              </a:r>
              <a:endParaRPr b="1" i="0" sz="22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rPr b="1" i="0" lang="en-US" sz="2200" u="none">
                  <a:solidFill>
                    <a:schemeClr val="dk1"/>
                  </a:solidFill>
                  <a:latin typeface="Arial"/>
                  <a:ea typeface="Arial"/>
                  <a:cs typeface="Arial"/>
                  <a:sym typeface="Arial"/>
                </a:rPr>
                <a:t>The entry to record depletion expense for the first year of operations is as follows:</a:t>
              </a:r>
              <a:endParaRPr/>
            </a:p>
          </p:txBody>
        </p:sp>
      </p:grpSp>
      <p:pic>
        <p:nvPicPr>
          <p:cNvPr id="506" name="Google Shape;506;p44"/>
          <p:cNvPicPr preferRelativeResize="0"/>
          <p:nvPr/>
        </p:nvPicPr>
        <p:blipFill rotWithShape="1">
          <a:blip r:embed="rId3">
            <a:alphaModFix/>
          </a:blip>
          <a:srcRect b="0" l="0" r="0" t="0"/>
          <a:stretch/>
        </p:blipFill>
        <p:spPr>
          <a:xfrm>
            <a:off x="838200" y="5410200"/>
            <a:ext cx="7848600" cy="1076325"/>
          </a:xfrm>
          <a:prstGeom prst="rect">
            <a:avLst/>
          </a:prstGeom>
          <a:noFill/>
          <a:ln>
            <a:noFill/>
          </a:ln>
        </p:spPr>
      </p:pic>
    </p:spTree>
  </p:cSld>
  <p:clrMapOvr>
    <a:masterClrMapping/>
  </p:clrMapOvr>
  <p:transition spd="slow">
    <p:fade thruBlk="1"/>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0" name="Shape 510"/>
        <p:cNvGrpSpPr/>
        <p:nvPr/>
      </p:nvGrpSpPr>
      <p:grpSpPr>
        <a:xfrm>
          <a:off x="0" y="0"/>
          <a:ext cx="0" cy="0"/>
          <a:chOff x="0" y="0"/>
          <a:chExt cx="0" cy="0"/>
        </a:xfrm>
      </p:grpSpPr>
      <p:sp>
        <p:nvSpPr>
          <p:cNvPr id="511" name="Google Shape;511;p45"/>
          <p:cNvSpPr/>
          <p:nvPr/>
        </p:nvSpPr>
        <p:spPr>
          <a:xfrm>
            <a:off x="533400" y="1905000"/>
            <a:ext cx="8382000" cy="2057400"/>
          </a:xfrm>
          <a:prstGeom prst="rect">
            <a:avLst/>
          </a:prstGeom>
          <a:solidFill>
            <a:srgbClr val="FFFF9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2" name="Google Shape;512;p45"/>
          <p:cNvSpPr/>
          <p:nvPr/>
        </p:nvSpPr>
        <p:spPr>
          <a:xfrm>
            <a:off x="1295400" y="4191000"/>
            <a:ext cx="6997700" cy="2427287"/>
          </a:xfrm>
          <a:prstGeom prst="rect">
            <a:avLst/>
          </a:prstGeom>
          <a:solidFill>
            <a:srgbClr val="CCFFCC"/>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3" name="Google Shape;513;p45"/>
          <p:cNvSpPr txBox="1"/>
          <p:nvPr>
            <p:ph type="title"/>
          </p:nvPr>
        </p:nvSpPr>
        <p:spPr>
          <a:xfrm>
            <a:off x="720725" y="85725"/>
            <a:ext cx="8159750" cy="1708150"/>
          </a:xfrm>
          <a:prstGeom prst="rect">
            <a:avLst/>
          </a:prstGeom>
          <a:noFill/>
          <a:ln>
            <a:noFill/>
          </a:ln>
        </p:spPr>
        <p:txBody>
          <a:bodyPr anchorCtr="0" anchor="ctr" bIns="47600" lIns="96800" spcFirstLastPara="1" rIns="96800" wrap="square" tIns="47600">
            <a:noAutofit/>
          </a:bodyPr>
          <a:lstStyle/>
          <a:p>
            <a:pPr indent="0" lvl="0" marL="0" rtl="0" algn="ctr">
              <a:lnSpc>
                <a:spcPct val="90000"/>
              </a:lnSpc>
              <a:spcBef>
                <a:spcPts val="0"/>
              </a:spcBef>
              <a:spcAft>
                <a:spcPts val="0"/>
              </a:spcAft>
              <a:buClr>
                <a:srgbClr val="000099"/>
              </a:buClr>
              <a:buSzPts val="3200"/>
              <a:buFont typeface="Arial Black"/>
              <a:buNone/>
            </a:pPr>
            <a:r>
              <a:rPr b="1" i="0" lang="en-US" sz="3200" u="none">
                <a:solidFill>
                  <a:srgbClr val="000099"/>
                </a:solidFill>
                <a:latin typeface="Arial Black"/>
                <a:ea typeface="Arial Black"/>
                <a:cs typeface="Arial Black"/>
                <a:sym typeface="Arial Black"/>
              </a:rPr>
              <a:t>STATEMENT PRESENTATION OF</a:t>
            </a:r>
            <a:br>
              <a:rPr b="1" i="0" lang="en-US" sz="3200" u="none">
                <a:solidFill>
                  <a:srgbClr val="000099"/>
                </a:solidFill>
                <a:latin typeface="Arial Black"/>
                <a:ea typeface="Arial Black"/>
                <a:cs typeface="Arial Black"/>
                <a:sym typeface="Arial Black"/>
              </a:rPr>
            </a:br>
            <a:r>
              <a:rPr b="1" i="0" lang="en-US" sz="3200" u="none">
                <a:solidFill>
                  <a:srgbClr val="000099"/>
                </a:solidFill>
                <a:latin typeface="Arial Black"/>
                <a:ea typeface="Arial Black"/>
                <a:cs typeface="Arial Black"/>
                <a:sym typeface="Arial Black"/>
              </a:rPr>
              <a:t>ACCUMULATED DEPLETION</a:t>
            </a:r>
            <a:endParaRPr/>
          </a:p>
        </p:txBody>
      </p:sp>
      <p:sp>
        <p:nvSpPr>
          <p:cNvPr id="514" name="Google Shape;514;p45"/>
          <p:cNvSpPr txBox="1"/>
          <p:nvPr>
            <p:ph idx="1" type="body"/>
          </p:nvPr>
        </p:nvSpPr>
        <p:spPr>
          <a:xfrm>
            <a:off x="720725" y="2036762"/>
            <a:ext cx="8159750" cy="4389437"/>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chemeClr val="dk1"/>
              </a:buClr>
              <a:buSzPts val="2600"/>
              <a:buFont typeface="Arial"/>
              <a:buNone/>
            </a:pPr>
            <a:r>
              <a:rPr b="1" i="0" lang="en-US" sz="2600" u="none" cap="none" strike="noStrike">
                <a:solidFill>
                  <a:schemeClr val="dk1"/>
                </a:solidFill>
                <a:latin typeface="Arial"/>
                <a:ea typeface="Arial"/>
                <a:cs typeface="Arial"/>
                <a:sym typeface="Arial"/>
              </a:rPr>
              <a:t>    Accumulated Depletion is a contra asset account similar to accumulated depreciation. It is deducted from the cost of the natural resource in the balance sheet as follows:</a:t>
            </a:r>
            <a:endParaRPr/>
          </a:p>
        </p:txBody>
      </p:sp>
      <p:sp>
        <p:nvSpPr>
          <p:cNvPr id="515" name="Google Shape;515;p45"/>
          <p:cNvSpPr/>
          <p:nvPr/>
        </p:nvSpPr>
        <p:spPr>
          <a:xfrm>
            <a:off x="1295400" y="4191000"/>
            <a:ext cx="6997700" cy="979487"/>
          </a:xfrm>
          <a:prstGeom prst="rect">
            <a:avLst/>
          </a:prstGeom>
          <a:solidFill>
            <a:srgbClr val="FFFF9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16" name="Google Shape;516;p45"/>
          <p:cNvPicPr preferRelativeResize="0"/>
          <p:nvPr/>
        </p:nvPicPr>
        <p:blipFill rotWithShape="1">
          <a:blip r:embed="rId3">
            <a:alphaModFix/>
          </a:blip>
          <a:srcRect b="43043" l="0" r="0" t="0"/>
          <a:stretch/>
        </p:blipFill>
        <p:spPr>
          <a:xfrm>
            <a:off x="1752600" y="4495800"/>
            <a:ext cx="6096000" cy="2362200"/>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4">
                                            <p:txEl>
                                              <p:pRg end="0" st="0"/>
                                            </p:txEl>
                                          </p:spTgt>
                                        </p:tgtEl>
                                        <p:attrNameLst>
                                          <p:attrName>style.visibility</p:attrName>
                                        </p:attrNameLst>
                                      </p:cBhvr>
                                      <p:to>
                                        <p:strVal val="visible"/>
                                      </p:to>
                                    </p:set>
                                    <p:anim calcmode="lin" valueType="num">
                                      <p:cBhvr additive="base">
                                        <p:cTn dur="500"/>
                                        <p:tgtEl>
                                          <p:spTgt spid="51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0" name="Shape 520"/>
        <p:cNvGrpSpPr/>
        <p:nvPr/>
      </p:nvGrpSpPr>
      <p:grpSpPr>
        <a:xfrm>
          <a:off x="0" y="0"/>
          <a:ext cx="0" cy="0"/>
          <a:chOff x="0" y="0"/>
          <a:chExt cx="0" cy="0"/>
        </a:xfrm>
      </p:grpSpPr>
      <p:sp>
        <p:nvSpPr>
          <p:cNvPr id="521" name="Google Shape;521;p46"/>
          <p:cNvSpPr txBox="1"/>
          <p:nvPr>
            <p:ph idx="1" type="body"/>
          </p:nvPr>
        </p:nvSpPr>
        <p:spPr>
          <a:xfrm>
            <a:off x="808037" y="1987550"/>
            <a:ext cx="8159750" cy="3270250"/>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4000"/>
              <a:buFont typeface="Times New Roman"/>
              <a:buChar char="•"/>
            </a:pPr>
            <a:r>
              <a:rPr b="1" i="0" lang="en-US" sz="4000" u="none" cap="none" strike="noStrike">
                <a:solidFill>
                  <a:srgbClr val="BC3700"/>
                </a:solidFill>
                <a:latin typeface="Times New Roman"/>
                <a:ea typeface="Times New Roman"/>
                <a:cs typeface="Times New Roman"/>
                <a:sym typeface="Times New Roman"/>
              </a:rPr>
              <a:t>Intangible assets</a:t>
            </a:r>
            <a:r>
              <a:rPr b="1" i="0" lang="en-US" sz="4000" u="none" cap="none" strike="noStrike">
                <a:solidFill>
                  <a:schemeClr val="accent2"/>
                </a:solidFill>
                <a:latin typeface="Times New Roman"/>
                <a:ea typeface="Times New Roman"/>
                <a:cs typeface="Times New Roman"/>
                <a:sym typeface="Times New Roman"/>
              </a:rPr>
              <a:t> </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Rights, privileges, and competitive advantages that result from the ownership of long lived assets that do not possess physical substance</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May arise from government grants, acquisition of another business, and private monopolistic arrangements</a:t>
            </a:r>
            <a:endParaRPr/>
          </a:p>
        </p:txBody>
      </p:sp>
      <p:pic>
        <p:nvPicPr>
          <p:cNvPr id="522" name="Google Shape;522;p46"/>
          <p:cNvPicPr preferRelativeResize="0"/>
          <p:nvPr/>
        </p:nvPicPr>
        <p:blipFill rotWithShape="1">
          <a:blip r:embed="rId3">
            <a:alphaModFix/>
          </a:blip>
          <a:srcRect b="0" l="0" r="0" t="0"/>
          <a:stretch/>
        </p:blipFill>
        <p:spPr>
          <a:xfrm>
            <a:off x="7467600" y="6096000"/>
            <a:ext cx="1447800" cy="915987"/>
          </a:xfrm>
          <a:prstGeom prst="rect">
            <a:avLst/>
          </a:prstGeom>
          <a:noFill/>
          <a:ln>
            <a:noFill/>
          </a:ln>
        </p:spPr>
      </p:pic>
      <p:pic>
        <p:nvPicPr>
          <p:cNvPr id="523" name="Google Shape;523;p46"/>
          <p:cNvPicPr preferRelativeResize="0"/>
          <p:nvPr/>
        </p:nvPicPr>
        <p:blipFill rotWithShape="1">
          <a:blip r:embed="rId4">
            <a:alphaModFix/>
          </a:blip>
          <a:srcRect b="0" l="0" r="0" t="0"/>
          <a:stretch/>
        </p:blipFill>
        <p:spPr>
          <a:xfrm>
            <a:off x="3886200" y="5116512"/>
            <a:ext cx="2197100" cy="2198687"/>
          </a:xfrm>
          <a:prstGeom prst="rect">
            <a:avLst/>
          </a:prstGeom>
          <a:noFill/>
          <a:ln>
            <a:noFill/>
          </a:ln>
        </p:spPr>
      </p:pic>
      <p:pic>
        <p:nvPicPr>
          <p:cNvPr id="524" name="Google Shape;524;p46"/>
          <p:cNvPicPr preferRelativeResize="0"/>
          <p:nvPr/>
        </p:nvPicPr>
        <p:blipFill rotWithShape="1">
          <a:blip r:embed="rId5">
            <a:alphaModFix/>
          </a:blip>
          <a:srcRect b="0" l="0" r="0" t="0"/>
          <a:stretch/>
        </p:blipFill>
        <p:spPr>
          <a:xfrm>
            <a:off x="1241425" y="6172200"/>
            <a:ext cx="815975" cy="795337"/>
          </a:xfrm>
          <a:prstGeom prst="rect">
            <a:avLst/>
          </a:prstGeom>
          <a:noFill/>
          <a:ln>
            <a:noFill/>
          </a:ln>
        </p:spPr>
      </p:pic>
      <p:sp>
        <p:nvSpPr>
          <p:cNvPr id="525" name="Google Shape;525;p46"/>
          <p:cNvSpPr txBox="1"/>
          <p:nvPr/>
        </p:nvSpPr>
        <p:spPr>
          <a:xfrm>
            <a:off x="1220787" y="533400"/>
            <a:ext cx="7007225" cy="1079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INTANGIBLE ASSETS</a:t>
            </a:r>
            <a:endParaRPr/>
          </a:p>
          <a:p>
            <a:pPr indent="0" lvl="0" marL="0" marR="0" rtl="0" algn="ctr">
              <a:lnSpc>
                <a:spcPct val="100000"/>
              </a:lnSpc>
              <a:spcBef>
                <a:spcPts val="50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Study Objective </a:t>
            </a:r>
            <a:r>
              <a:rPr b="1" i="0" lang="en-US" sz="2000" u="none">
                <a:solidFill>
                  <a:srgbClr val="FC0128"/>
                </a:solidFill>
                <a:latin typeface="Arial"/>
                <a:ea typeface="Arial"/>
                <a:cs typeface="Arial"/>
                <a:sym typeface="Arial"/>
              </a:rPr>
              <a:t>8</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1">
                                            <p:txEl>
                                              <p:pRg end="0" st="0"/>
                                            </p:txEl>
                                          </p:spTgt>
                                        </p:tgtEl>
                                        <p:attrNameLst>
                                          <p:attrName>style.visibility</p:attrName>
                                        </p:attrNameLst>
                                      </p:cBhvr>
                                      <p:to>
                                        <p:strVal val="visible"/>
                                      </p:to>
                                    </p:set>
                                    <p:anim calcmode="lin" valueType="num">
                                      <p:cBhvr additive="base">
                                        <p:cTn dur="500"/>
                                        <p:tgtEl>
                                          <p:spTgt spid="52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1">
                                            <p:txEl>
                                              <p:pRg end="1" st="1"/>
                                            </p:txEl>
                                          </p:spTgt>
                                        </p:tgtEl>
                                        <p:attrNameLst>
                                          <p:attrName>style.visibility</p:attrName>
                                        </p:attrNameLst>
                                      </p:cBhvr>
                                      <p:to>
                                        <p:strVal val="visible"/>
                                      </p:to>
                                    </p:set>
                                    <p:anim calcmode="lin" valueType="num">
                                      <p:cBhvr additive="base">
                                        <p:cTn dur="500"/>
                                        <p:tgtEl>
                                          <p:spTgt spid="52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1">
                                            <p:txEl>
                                              <p:pRg end="2" st="2"/>
                                            </p:txEl>
                                          </p:spTgt>
                                        </p:tgtEl>
                                        <p:attrNameLst>
                                          <p:attrName>style.visibility</p:attrName>
                                        </p:attrNameLst>
                                      </p:cBhvr>
                                      <p:to>
                                        <p:strVal val="visible"/>
                                      </p:to>
                                    </p:set>
                                    <p:anim calcmode="lin" valueType="num">
                                      <p:cBhvr additive="base">
                                        <p:cTn dur="500"/>
                                        <p:tgtEl>
                                          <p:spTgt spid="521">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9" name="Shape 529"/>
        <p:cNvGrpSpPr/>
        <p:nvPr/>
      </p:nvGrpSpPr>
      <p:grpSpPr>
        <a:xfrm>
          <a:off x="0" y="0"/>
          <a:ext cx="0" cy="0"/>
          <a:chOff x="0" y="0"/>
          <a:chExt cx="0" cy="0"/>
        </a:xfrm>
      </p:grpSpPr>
      <p:sp>
        <p:nvSpPr>
          <p:cNvPr id="530" name="Google Shape;530;p47"/>
          <p:cNvSpPr txBox="1"/>
          <p:nvPr>
            <p:ph idx="1" type="body"/>
          </p:nvPr>
        </p:nvSpPr>
        <p:spPr>
          <a:xfrm>
            <a:off x="735012" y="1733550"/>
            <a:ext cx="8275637" cy="5448300"/>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3600"/>
              <a:buFont typeface="Times New Roman"/>
              <a:buChar char="•"/>
            </a:pPr>
            <a:r>
              <a:rPr b="1" i="0" lang="en-US" sz="3600" u="none" cap="none" strike="noStrike">
                <a:solidFill>
                  <a:schemeClr val="dk1"/>
                </a:solidFill>
                <a:latin typeface="Times New Roman"/>
                <a:ea typeface="Times New Roman"/>
                <a:cs typeface="Times New Roman"/>
                <a:sym typeface="Times New Roman"/>
              </a:rPr>
              <a:t> In general, accounting for intangible 		assets parallels the accounting for 			plant assets.  </a:t>
            </a:r>
            <a:endParaRPr/>
          </a:p>
          <a:p>
            <a:pPr indent="-361950" lvl="0" marL="361950" marR="0" rtl="0" algn="l">
              <a:lnSpc>
                <a:spcPct val="100000"/>
              </a:lnSpc>
              <a:spcBef>
                <a:spcPts val="720"/>
              </a:spcBef>
              <a:spcAft>
                <a:spcPts val="0"/>
              </a:spcAft>
              <a:buClr>
                <a:srgbClr val="BC3700"/>
              </a:buClr>
              <a:buSzPts val="3600"/>
              <a:buFont typeface="Times New Roman"/>
              <a:buChar char="•"/>
            </a:pPr>
            <a:r>
              <a:rPr b="1" i="0" lang="en-US" sz="3600" u="none" cap="none" strike="noStrike">
                <a:solidFill>
                  <a:schemeClr val="dk1"/>
                </a:solidFill>
                <a:latin typeface="Times New Roman"/>
                <a:ea typeface="Times New Roman"/>
                <a:cs typeface="Times New Roman"/>
                <a:sym typeface="Times New Roman"/>
              </a:rPr>
              <a:t> Intangible assets are:</a:t>
            </a:r>
            <a:endParaRPr/>
          </a:p>
          <a:p>
            <a:pPr indent="-361950" lvl="0" marL="361950" marR="0" rtl="0" algn="l">
              <a:lnSpc>
                <a:spcPct val="100000"/>
              </a:lnSpc>
              <a:spcBef>
                <a:spcPts val="720"/>
              </a:spcBef>
              <a:spcAft>
                <a:spcPts val="0"/>
              </a:spcAft>
              <a:buClr>
                <a:srgbClr val="BC3700"/>
              </a:buClr>
              <a:buSzPts val="3600"/>
              <a:buFont typeface="Arial"/>
              <a:buNone/>
            </a:pPr>
            <a:r>
              <a:rPr b="1" i="0" lang="en-US" sz="3600" u="none" cap="none" strike="noStrike">
                <a:solidFill>
                  <a:srgbClr val="BC3700"/>
                </a:solidFill>
                <a:latin typeface="Arial"/>
                <a:ea typeface="Arial"/>
                <a:cs typeface="Arial"/>
                <a:sym typeface="Arial"/>
              </a:rPr>
              <a:t>	1</a:t>
            </a:r>
            <a:r>
              <a:rPr b="1" i="0" lang="en-US" sz="3600" u="none" cap="none" strike="noStrike">
                <a:solidFill>
                  <a:schemeClr val="dk1"/>
                </a:solidFill>
                <a:latin typeface="Times New Roman"/>
                <a:ea typeface="Times New Roman"/>
                <a:cs typeface="Times New Roman"/>
                <a:sym typeface="Times New Roman"/>
              </a:rPr>
              <a:t> recorded at </a:t>
            </a:r>
            <a:r>
              <a:rPr b="1" i="0" lang="en-US" sz="3600" u="none" cap="none" strike="noStrike">
                <a:solidFill>
                  <a:srgbClr val="BC3700"/>
                </a:solidFill>
                <a:latin typeface="Times New Roman"/>
                <a:ea typeface="Times New Roman"/>
                <a:cs typeface="Times New Roman"/>
                <a:sym typeface="Times New Roman"/>
              </a:rPr>
              <a:t>cost</a:t>
            </a:r>
            <a:r>
              <a:rPr b="1" i="0" lang="en-US" sz="3600" u="none" cap="none" strike="noStrike">
                <a:solidFill>
                  <a:schemeClr val="dk1"/>
                </a:solidFill>
                <a:latin typeface="Times New Roman"/>
                <a:ea typeface="Times New Roman"/>
                <a:cs typeface="Times New Roman"/>
                <a:sym typeface="Times New Roman"/>
              </a:rPr>
              <a:t>	</a:t>
            </a:r>
            <a:endParaRPr/>
          </a:p>
          <a:p>
            <a:pPr indent="-361950" lvl="0" marL="361950" marR="0" rtl="0" algn="l">
              <a:lnSpc>
                <a:spcPct val="100000"/>
              </a:lnSpc>
              <a:spcBef>
                <a:spcPts val="720"/>
              </a:spcBef>
              <a:spcAft>
                <a:spcPts val="0"/>
              </a:spcAft>
              <a:buClr>
                <a:srgbClr val="BC3700"/>
              </a:buClr>
              <a:buSzPts val="3600"/>
              <a:buFont typeface="Arial"/>
              <a:buNone/>
            </a:pPr>
            <a:r>
              <a:rPr b="1" i="0" lang="en-US" sz="3600" u="none" cap="none" strike="noStrike">
                <a:solidFill>
                  <a:srgbClr val="BC3700"/>
                </a:solidFill>
                <a:latin typeface="Arial"/>
                <a:ea typeface="Arial"/>
                <a:cs typeface="Arial"/>
                <a:sym typeface="Arial"/>
              </a:rPr>
              <a:t>	2</a:t>
            </a:r>
            <a:r>
              <a:rPr b="1" i="0" lang="en-US" sz="3600" u="none" cap="none" strike="noStrike">
                <a:solidFill>
                  <a:schemeClr val="dk1"/>
                </a:solidFill>
                <a:latin typeface="Times New Roman"/>
                <a:ea typeface="Times New Roman"/>
                <a:cs typeface="Times New Roman"/>
                <a:sym typeface="Times New Roman"/>
              </a:rPr>
              <a:t> written off over useful life in a 				   </a:t>
            </a:r>
            <a:r>
              <a:rPr b="1" i="0" lang="en-US" sz="3600" u="none" cap="none" strike="noStrike">
                <a:solidFill>
                  <a:srgbClr val="BC3700"/>
                </a:solidFill>
                <a:latin typeface="Times New Roman"/>
                <a:ea typeface="Times New Roman"/>
                <a:cs typeface="Times New Roman"/>
                <a:sym typeface="Times New Roman"/>
              </a:rPr>
              <a:t>rational and systematic</a:t>
            </a:r>
            <a:r>
              <a:rPr b="1" i="0" lang="en-US" sz="3600" u="none" cap="none" strike="noStrike">
                <a:solidFill>
                  <a:schemeClr val="dk1"/>
                </a:solidFill>
                <a:latin typeface="Times New Roman"/>
                <a:ea typeface="Times New Roman"/>
                <a:cs typeface="Times New Roman"/>
                <a:sym typeface="Times New Roman"/>
              </a:rPr>
              <a:t> manner</a:t>
            </a:r>
            <a:endParaRPr/>
          </a:p>
          <a:p>
            <a:pPr indent="-361950" lvl="0" marL="361950" marR="0" rtl="0" algn="l">
              <a:lnSpc>
                <a:spcPct val="100000"/>
              </a:lnSpc>
              <a:spcBef>
                <a:spcPts val="72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	</a:t>
            </a:r>
            <a:r>
              <a:rPr b="1" i="0" lang="en-US" sz="3600" u="none" cap="none" strike="noStrike">
                <a:solidFill>
                  <a:srgbClr val="BC3700"/>
                </a:solidFill>
                <a:latin typeface="Arial"/>
                <a:ea typeface="Arial"/>
                <a:cs typeface="Arial"/>
                <a:sym typeface="Arial"/>
              </a:rPr>
              <a:t>3</a:t>
            </a:r>
            <a:r>
              <a:rPr b="1" i="0" lang="en-US" sz="3600" u="none" cap="none" strike="noStrike">
                <a:solidFill>
                  <a:schemeClr val="dk1"/>
                </a:solidFill>
                <a:latin typeface="Times New Roman"/>
                <a:ea typeface="Times New Roman"/>
                <a:cs typeface="Times New Roman"/>
                <a:sym typeface="Times New Roman"/>
              </a:rPr>
              <a:t> at disposal, </a:t>
            </a:r>
            <a:r>
              <a:rPr b="1" i="0" lang="en-US" sz="3600" u="none" cap="none" strike="noStrike">
                <a:solidFill>
                  <a:srgbClr val="BC3700"/>
                </a:solidFill>
                <a:latin typeface="Times New Roman"/>
                <a:ea typeface="Times New Roman"/>
                <a:cs typeface="Times New Roman"/>
                <a:sym typeface="Times New Roman"/>
              </a:rPr>
              <a:t>book value is eliminated</a:t>
            </a:r>
            <a:r>
              <a:rPr b="1" i="0" lang="en-US" sz="3600" u="none" cap="none" strike="noStrike">
                <a:solidFill>
                  <a:schemeClr val="dk1"/>
                </a:solidFill>
                <a:latin typeface="Times New Roman"/>
                <a:ea typeface="Times New Roman"/>
                <a:cs typeface="Times New Roman"/>
                <a:sym typeface="Times New Roman"/>
              </a:rPr>
              <a:t> 	   and gain or loss, if any, is recorded</a:t>
            </a:r>
            <a:endParaRPr/>
          </a:p>
        </p:txBody>
      </p:sp>
      <p:sp>
        <p:nvSpPr>
          <p:cNvPr id="531" name="Google Shape;531;p47"/>
          <p:cNvSpPr txBox="1"/>
          <p:nvPr/>
        </p:nvSpPr>
        <p:spPr>
          <a:xfrm>
            <a:off x="0" y="228600"/>
            <a:ext cx="9829800"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ACCOUNTING FOR INTANGIBLE ASSETS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0">
                                            <p:txEl>
                                              <p:pRg end="0" st="0"/>
                                            </p:txEl>
                                          </p:spTgt>
                                        </p:tgtEl>
                                        <p:attrNameLst>
                                          <p:attrName>style.visibility</p:attrName>
                                        </p:attrNameLst>
                                      </p:cBhvr>
                                      <p:to>
                                        <p:strVal val="visible"/>
                                      </p:to>
                                    </p:set>
                                    <p:anim calcmode="lin" valueType="num">
                                      <p:cBhvr additive="base">
                                        <p:cTn dur="500"/>
                                        <p:tgtEl>
                                          <p:spTgt spid="53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0">
                                            <p:txEl>
                                              <p:pRg end="1" st="1"/>
                                            </p:txEl>
                                          </p:spTgt>
                                        </p:tgtEl>
                                        <p:attrNameLst>
                                          <p:attrName>style.visibility</p:attrName>
                                        </p:attrNameLst>
                                      </p:cBhvr>
                                      <p:to>
                                        <p:strVal val="visible"/>
                                      </p:to>
                                    </p:set>
                                    <p:anim calcmode="lin" valueType="num">
                                      <p:cBhvr additive="base">
                                        <p:cTn dur="500"/>
                                        <p:tgtEl>
                                          <p:spTgt spid="53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0">
                                            <p:txEl>
                                              <p:pRg end="2" st="2"/>
                                            </p:txEl>
                                          </p:spTgt>
                                        </p:tgtEl>
                                        <p:attrNameLst>
                                          <p:attrName>style.visibility</p:attrName>
                                        </p:attrNameLst>
                                      </p:cBhvr>
                                      <p:to>
                                        <p:strVal val="visible"/>
                                      </p:to>
                                    </p:set>
                                    <p:anim calcmode="lin" valueType="num">
                                      <p:cBhvr additive="base">
                                        <p:cTn dur="500"/>
                                        <p:tgtEl>
                                          <p:spTgt spid="53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0">
                                            <p:txEl>
                                              <p:pRg end="3" st="3"/>
                                            </p:txEl>
                                          </p:spTgt>
                                        </p:tgtEl>
                                        <p:attrNameLst>
                                          <p:attrName>style.visibility</p:attrName>
                                        </p:attrNameLst>
                                      </p:cBhvr>
                                      <p:to>
                                        <p:strVal val="visible"/>
                                      </p:to>
                                    </p:set>
                                    <p:anim calcmode="lin" valueType="num">
                                      <p:cBhvr additive="base">
                                        <p:cTn dur="500"/>
                                        <p:tgtEl>
                                          <p:spTgt spid="530">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0">
                                            <p:txEl>
                                              <p:pRg end="4" st="4"/>
                                            </p:txEl>
                                          </p:spTgt>
                                        </p:tgtEl>
                                        <p:attrNameLst>
                                          <p:attrName>style.visibility</p:attrName>
                                        </p:attrNameLst>
                                      </p:cBhvr>
                                      <p:to>
                                        <p:strVal val="visible"/>
                                      </p:to>
                                    </p:set>
                                    <p:anim calcmode="lin" valueType="num">
                                      <p:cBhvr additive="base">
                                        <p:cTn dur="500"/>
                                        <p:tgtEl>
                                          <p:spTgt spid="530">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5" name="Shape 535"/>
        <p:cNvGrpSpPr/>
        <p:nvPr/>
      </p:nvGrpSpPr>
      <p:grpSpPr>
        <a:xfrm>
          <a:off x="0" y="0"/>
          <a:ext cx="0" cy="0"/>
          <a:chOff x="0" y="0"/>
          <a:chExt cx="0" cy="0"/>
        </a:xfrm>
      </p:grpSpPr>
      <p:sp>
        <p:nvSpPr>
          <p:cNvPr id="536" name="Google Shape;536;p48"/>
          <p:cNvSpPr txBox="1"/>
          <p:nvPr>
            <p:ph idx="1" type="body"/>
          </p:nvPr>
        </p:nvSpPr>
        <p:spPr>
          <a:xfrm>
            <a:off x="687387" y="2119312"/>
            <a:ext cx="8418512" cy="4681537"/>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Key differences between accounting for intangible assets and accounting for plant assets include:</a:t>
            </a:r>
            <a:endParaRPr/>
          </a:p>
          <a:p>
            <a:pPr indent="-303212" lvl="1" marL="785812"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The systematic write-off of an intangible asset is referred to as </a:t>
            </a:r>
            <a:r>
              <a:rPr b="1" i="0" lang="en-US" sz="2800" u="none" cap="none" strike="noStrike">
                <a:solidFill>
                  <a:srgbClr val="BC3700"/>
                </a:solidFill>
                <a:latin typeface="Times New Roman"/>
                <a:ea typeface="Times New Roman"/>
                <a:cs typeface="Times New Roman"/>
                <a:sym typeface="Times New Roman"/>
              </a:rPr>
              <a:t>amortization</a:t>
            </a:r>
            <a:endParaRPr b="1" i="0" sz="2800" u="none" cap="none" strike="noStrike">
              <a:solidFill>
                <a:schemeClr val="dk1"/>
              </a:solidFill>
              <a:latin typeface="Times New Roman"/>
              <a:ea typeface="Times New Roman"/>
              <a:cs typeface="Times New Roman"/>
              <a:sym typeface="Times New Roman"/>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To record amortization</a:t>
            </a:r>
            <a:endParaRPr/>
          </a:p>
          <a:p>
            <a:pPr indent="-303212" lvl="1" marL="785812"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Debit </a:t>
            </a:r>
            <a:r>
              <a:rPr b="1" i="0" lang="en-US" sz="2900" u="none" cap="none" strike="noStrike">
                <a:solidFill>
                  <a:srgbClr val="BC3700"/>
                </a:solidFill>
                <a:latin typeface="Times New Roman"/>
                <a:ea typeface="Times New Roman"/>
                <a:cs typeface="Times New Roman"/>
                <a:sym typeface="Times New Roman"/>
              </a:rPr>
              <a:t>Amortization Expense</a:t>
            </a:r>
            <a:r>
              <a:rPr b="1" i="0" lang="en-US" sz="2900" u="none" cap="none" strike="noStrike">
                <a:solidFill>
                  <a:schemeClr val="dk1"/>
                </a:solidFill>
                <a:latin typeface="Times New Roman"/>
                <a:ea typeface="Times New Roman"/>
                <a:cs typeface="Times New Roman"/>
                <a:sym typeface="Times New Roman"/>
              </a:rPr>
              <a:t> and credit the specific intangible asset </a:t>
            </a:r>
            <a:endParaRPr/>
          </a:p>
          <a:p>
            <a:pPr indent="-303212" lvl="1" marL="785812"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Intangible assets typically amortized on a </a:t>
            </a:r>
            <a:r>
              <a:rPr b="1" i="0" lang="en-US" sz="2800" u="none" cap="none" strike="noStrike">
                <a:solidFill>
                  <a:srgbClr val="BC3700"/>
                </a:solidFill>
                <a:latin typeface="Times New Roman"/>
                <a:ea typeface="Times New Roman"/>
                <a:cs typeface="Times New Roman"/>
                <a:sym typeface="Times New Roman"/>
              </a:rPr>
              <a:t>straight-line basis</a:t>
            </a:r>
            <a:endParaRPr/>
          </a:p>
        </p:txBody>
      </p:sp>
      <p:sp>
        <p:nvSpPr>
          <p:cNvPr id="537" name="Google Shape;537;p48"/>
          <p:cNvSpPr txBox="1"/>
          <p:nvPr/>
        </p:nvSpPr>
        <p:spPr>
          <a:xfrm>
            <a:off x="0" y="209550"/>
            <a:ext cx="9601200" cy="172085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ACCOUNTING FOR INTANGIBLE ASSETS</a:t>
            </a:r>
            <a:endParaRPr/>
          </a:p>
          <a:p>
            <a:pPr indent="0" lvl="0" marL="0" marR="0" rtl="0" algn="ctr">
              <a:lnSpc>
                <a:spcPct val="100000"/>
              </a:lnSpc>
              <a:spcBef>
                <a:spcPts val="90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STUDY OBJECTIVE</a:t>
            </a:r>
            <a:r>
              <a:rPr b="1" i="0" lang="en-US" sz="1800" u="none">
                <a:solidFill>
                  <a:srgbClr val="790015"/>
                </a:solidFill>
                <a:latin typeface="Arial"/>
                <a:ea typeface="Arial"/>
                <a:cs typeface="Arial"/>
                <a:sym typeface="Arial"/>
              </a:rPr>
              <a:t> </a:t>
            </a:r>
            <a:r>
              <a:rPr b="1" i="0" lang="en-US" sz="1800" u="none">
                <a:solidFill>
                  <a:srgbClr val="FC0128"/>
                </a:solidFill>
                <a:latin typeface="Arial"/>
                <a:ea typeface="Arial"/>
                <a:cs typeface="Arial"/>
                <a:sym typeface="Arial"/>
              </a:rPr>
              <a:t>8</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6">
                                            <p:txEl>
                                              <p:pRg end="0" st="0"/>
                                            </p:txEl>
                                          </p:spTgt>
                                        </p:tgtEl>
                                        <p:attrNameLst>
                                          <p:attrName>style.visibility</p:attrName>
                                        </p:attrNameLst>
                                      </p:cBhvr>
                                      <p:to>
                                        <p:strVal val="visible"/>
                                      </p:to>
                                    </p:set>
                                    <p:anim calcmode="lin" valueType="num">
                                      <p:cBhvr additive="base">
                                        <p:cTn dur="500"/>
                                        <p:tgtEl>
                                          <p:spTgt spid="53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6">
                                            <p:txEl>
                                              <p:pRg end="1" st="1"/>
                                            </p:txEl>
                                          </p:spTgt>
                                        </p:tgtEl>
                                        <p:attrNameLst>
                                          <p:attrName>style.visibility</p:attrName>
                                        </p:attrNameLst>
                                      </p:cBhvr>
                                      <p:to>
                                        <p:strVal val="visible"/>
                                      </p:to>
                                    </p:set>
                                    <p:anim calcmode="lin" valueType="num">
                                      <p:cBhvr additive="base">
                                        <p:cTn dur="500"/>
                                        <p:tgtEl>
                                          <p:spTgt spid="53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6">
                                            <p:txEl>
                                              <p:pRg end="2" st="2"/>
                                            </p:txEl>
                                          </p:spTgt>
                                        </p:tgtEl>
                                        <p:attrNameLst>
                                          <p:attrName>style.visibility</p:attrName>
                                        </p:attrNameLst>
                                      </p:cBhvr>
                                      <p:to>
                                        <p:strVal val="visible"/>
                                      </p:to>
                                    </p:set>
                                    <p:anim calcmode="lin" valueType="num">
                                      <p:cBhvr additive="base">
                                        <p:cTn dur="500"/>
                                        <p:tgtEl>
                                          <p:spTgt spid="53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6">
                                            <p:txEl>
                                              <p:pRg end="3" st="3"/>
                                            </p:txEl>
                                          </p:spTgt>
                                        </p:tgtEl>
                                        <p:attrNameLst>
                                          <p:attrName>style.visibility</p:attrName>
                                        </p:attrNameLst>
                                      </p:cBhvr>
                                      <p:to>
                                        <p:strVal val="visible"/>
                                      </p:to>
                                    </p:set>
                                    <p:anim calcmode="lin" valueType="num">
                                      <p:cBhvr additive="base">
                                        <p:cTn dur="500"/>
                                        <p:tgtEl>
                                          <p:spTgt spid="536">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6">
                                            <p:txEl>
                                              <p:pRg end="4" st="4"/>
                                            </p:txEl>
                                          </p:spTgt>
                                        </p:tgtEl>
                                        <p:attrNameLst>
                                          <p:attrName>style.visibility</p:attrName>
                                        </p:attrNameLst>
                                      </p:cBhvr>
                                      <p:to>
                                        <p:strVal val="visible"/>
                                      </p:to>
                                    </p:set>
                                    <p:anim calcmode="lin" valueType="num">
                                      <p:cBhvr additive="base">
                                        <p:cTn dur="500"/>
                                        <p:tgtEl>
                                          <p:spTgt spid="536">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1" name="Shape 541"/>
        <p:cNvGrpSpPr/>
        <p:nvPr/>
      </p:nvGrpSpPr>
      <p:grpSpPr>
        <a:xfrm>
          <a:off x="0" y="0"/>
          <a:ext cx="0" cy="0"/>
          <a:chOff x="0" y="0"/>
          <a:chExt cx="0" cy="0"/>
        </a:xfrm>
      </p:grpSpPr>
      <p:sp>
        <p:nvSpPr>
          <p:cNvPr id="542" name="Google Shape;542;p49"/>
          <p:cNvSpPr txBox="1"/>
          <p:nvPr>
            <p:ph idx="1" type="body"/>
          </p:nvPr>
        </p:nvSpPr>
        <p:spPr>
          <a:xfrm>
            <a:off x="738187" y="1814512"/>
            <a:ext cx="8159750" cy="5291137"/>
          </a:xfrm>
          <a:prstGeom prst="rect">
            <a:avLst/>
          </a:prstGeom>
          <a:noFill/>
          <a:ln>
            <a:noFill/>
          </a:ln>
        </p:spPr>
        <p:txBody>
          <a:bodyPr anchorCtr="0" anchor="t" bIns="47600" lIns="96800" spcFirstLastPara="1" rIns="96800" wrap="square" tIns="47600">
            <a:noAutofit/>
          </a:bodyPr>
          <a:lstStyle/>
          <a:p>
            <a:pPr indent="-361950" lvl="0" marL="361950" marR="0" rtl="0" algn="l">
              <a:lnSpc>
                <a:spcPct val="80000"/>
              </a:lnSpc>
              <a:spcBef>
                <a:spcPts val="0"/>
              </a:spcBef>
              <a:spcAft>
                <a:spcPts val="0"/>
              </a:spcAft>
              <a:buClr>
                <a:srgbClr val="BC3700"/>
              </a:buClr>
              <a:buSzPts val="4400"/>
              <a:buFont typeface="Times New Roman"/>
              <a:buChar char="•"/>
            </a:pPr>
            <a:r>
              <a:rPr b="1" i="0" lang="en-US" sz="4400" u="none" cap="none" strike="noStrike">
                <a:solidFill>
                  <a:schemeClr val="dk1"/>
                </a:solidFill>
                <a:latin typeface="Times New Roman"/>
                <a:ea typeface="Times New Roman"/>
                <a:cs typeface="Times New Roman"/>
                <a:sym typeface="Times New Roman"/>
              </a:rPr>
              <a:t>A </a:t>
            </a:r>
            <a:r>
              <a:rPr b="1" i="0" lang="en-US" sz="4400" u="none" cap="none" strike="noStrike">
                <a:solidFill>
                  <a:srgbClr val="BC3700"/>
                </a:solidFill>
                <a:latin typeface="Times New Roman"/>
                <a:ea typeface="Times New Roman"/>
                <a:cs typeface="Times New Roman"/>
                <a:sym typeface="Times New Roman"/>
              </a:rPr>
              <a:t>patent</a:t>
            </a:r>
            <a:r>
              <a:rPr b="1" i="0" lang="en-US" sz="2900" u="none" cap="none" strike="noStrike">
                <a:solidFill>
                  <a:schemeClr val="dk1"/>
                </a:solidFill>
                <a:latin typeface="Times New Roman"/>
                <a:ea typeface="Times New Roman"/>
                <a:cs typeface="Times New Roman"/>
                <a:sym typeface="Times New Roman"/>
              </a:rPr>
              <a:t> </a:t>
            </a:r>
            <a:endParaRPr/>
          </a:p>
          <a:p>
            <a:pPr indent="-303212" lvl="1" marL="785812" marR="0" rtl="0" algn="l">
              <a:lnSpc>
                <a:spcPct val="8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exclusive right issued by the Patent Office </a:t>
            </a:r>
            <a:endParaRPr/>
          </a:p>
          <a:p>
            <a:pPr indent="-303212" lvl="1" marL="785812" marR="0" rtl="0" algn="l">
              <a:lnSpc>
                <a:spcPct val="8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manufacture, sell, or otherwise control an invention for a period of 20 years from the date of grant</a:t>
            </a:r>
            <a:endParaRPr/>
          </a:p>
          <a:p>
            <a:pPr indent="-361950" lvl="0" marL="361950" marR="0" rtl="0" algn="l">
              <a:lnSpc>
                <a:spcPct val="8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Cost of a patent</a:t>
            </a:r>
            <a:endParaRPr/>
          </a:p>
          <a:p>
            <a:pPr indent="-303212" lvl="1" marL="785812" marR="0" rtl="0" algn="l">
              <a:lnSpc>
                <a:spcPct val="8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initial cost is the </a:t>
            </a:r>
            <a:r>
              <a:rPr b="1" i="0" lang="en-US" sz="2500" u="none" cap="none" strike="noStrike">
                <a:solidFill>
                  <a:srgbClr val="BC3700"/>
                </a:solidFill>
                <a:latin typeface="Times New Roman"/>
                <a:ea typeface="Times New Roman"/>
                <a:cs typeface="Times New Roman"/>
                <a:sym typeface="Times New Roman"/>
              </a:rPr>
              <a:t>cash</a:t>
            </a:r>
            <a:r>
              <a:rPr b="1" i="0" lang="en-US" sz="2500" u="none" cap="none" strike="noStrike">
                <a:solidFill>
                  <a:schemeClr val="dk1"/>
                </a:solidFill>
                <a:latin typeface="Times New Roman"/>
                <a:ea typeface="Times New Roman"/>
                <a:cs typeface="Times New Roman"/>
                <a:sym typeface="Times New Roman"/>
              </a:rPr>
              <a:t> or </a:t>
            </a:r>
            <a:r>
              <a:rPr b="1" i="0" lang="en-US" sz="2500" u="none" cap="none" strike="noStrike">
                <a:solidFill>
                  <a:srgbClr val="BC3700"/>
                </a:solidFill>
                <a:latin typeface="Times New Roman"/>
                <a:ea typeface="Times New Roman"/>
                <a:cs typeface="Times New Roman"/>
                <a:sym typeface="Times New Roman"/>
              </a:rPr>
              <a:t>cash equivalent price</a:t>
            </a:r>
            <a:r>
              <a:rPr b="1" i="0" lang="en-US" sz="2500" u="none" cap="none" strike="noStrike">
                <a:solidFill>
                  <a:schemeClr val="dk1"/>
                </a:solidFill>
                <a:latin typeface="Times New Roman"/>
                <a:ea typeface="Times New Roman"/>
                <a:cs typeface="Times New Roman"/>
                <a:sym typeface="Times New Roman"/>
              </a:rPr>
              <a:t> paid to acquire the patent</a:t>
            </a:r>
            <a:endParaRPr/>
          </a:p>
          <a:p>
            <a:pPr indent="-303212" lvl="1" marL="785812" marR="0" rtl="0" algn="l">
              <a:lnSpc>
                <a:spcPct val="8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legal costs – amount an owner incurs in successfully        defending a patent are added to the </a:t>
            </a:r>
            <a:r>
              <a:rPr b="1" i="0" lang="en-US" sz="2500" u="none" cap="none" strike="noStrike">
                <a:solidFill>
                  <a:srgbClr val="BC3700"/>
                </a:solidFill>
                <a:latin typeface="Times New Roman"/>
                <a:ea typeface="Times New Roman"/>
                <a:cs typeface="Times New Roman"/>
                <a:sym typeface="Times New Roman"/>
              </a:rPr>
              <a:t>Patent</a:t>
            </a:r>
            <a:r>
              <a:rPr b="1" i="0" lang="en-US" sz="2500" u="none" cap="none" strike="noStrike">
                <a:solidFill>
                  <a:schemeClr val="dk1"/>
                </a:solidFill>
                <a:latin typeface="Times New Roman"/>
                <a:ea typeface="Times New Roman"/>
                <a:cs typeface="Times New Roman"/>
                <a:sym typeface="Times New Roman"/>
              </a:rPr>
              <a:t>           account and amortized over the remaining useful life of the patent</a:t>
            </a:r>
            <a:endParaRPr/>
          </a:p>
          <a:p>
            <a:pPr indent="-303212" lvl="1" marL="785812" marR="0" rtl="0" algn="l">
              <a:lnSpc>
                <a:spcPct val="8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should be amortized over its 20-year legal life or its useful life, whichever is shorter.</a:t>
            </a:r>
            <a:endParaRPr/>
          </a:p>
        </p:txBody>
      </p:sp>
      <p:pic>
        <p:nvPicPr>
          <p:cNvPr id="543" name="Google Shape;543;p49"/>
          <p:cNvPicPr preferRelativeResize="0"/>
          <p:nvPr/>
        </p:nvPicPr>
        <p:blipFill rotWithShape="1">
          <a:blip r:embed="rId3">
            <a:alphaModFix/>
          </a:blip>
          <a:srcRect b="0" l="0" r="0" t="0"/>
          <a:stretch/>
        </p:blipFill>
        <p:spPr>
          <a:xfrm>
            <a:off x="7239000" y="228600"/>
            <a:ext cx="2101850" cy="1905000"/>
          </a:xfrm>
          <a:prstGeom prst="rect">
            <a:avLst/>
          </a:prstGeom>
          <a:noFill/>
          <a:ln>
            <a:noFill/>
          </a:ln>
        </p:spPr>
      </p:pic>
      <p:sp>
        <p:nvSpPr>
          <p:cNvPr id="544" name="Google Shape;544;p49"/>
          <p:cNvSpPr txBox="1"/>
          <p:nvPr/>
        </p:nvSpPr>
        <p:spPr>
          <a:xfrm>
            <a:off x="2916237" y="438150"/>
            <a:ext cx="374967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PATENTS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42">
                                            <p:txEl>
                                              <p:pRg end="0" st="0"/>
                                            </p:txEl>
                                          </p:spTgt>
                                        </p:tgtEl>
                                        <p:attrNameLst>
                                          <p:attrName>style.visibility</p:attrName>
                                        </p:attrNameLst>
                                      </p:cBhvr>
                                      <p:to>
                                        <p:strVal val="visible"/>
                                      </p:to>
                                    </p:set>
                                    <p:anim calcmode="lin" valueType="num">
                                      <p:cBhvr additive="base">
                                        <p:cTn dur="500"/>
                                        <p:tgtEl>
                                          <p:spTgt spid="54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42">
                                            <p:txEl>
                                              <p:pRg end="1" st="1"/>
                                            </p:txEl>
                                          </p:spTgt>
                                        </p:tgtEl>
                                        <p:attrNameLst>
                                          <p:attrName>style.visibility</p:attrName>
                                        </p:attrNameLst>
                                      </p:cBhvr>
                                      <p:to>
                                        <p:strVal val="visible"/>
                                      </p:to>
                                    </p:set>
                                    <p:anim calcmode="lin" valueType="num">
                                      <p:cBhvr additive="base">
                                        <p:cTn dur="500"/>
                                        <p:tgtEl>
                                          <p:spTgt spid="54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42">
                                            <p:txEl>
                                              <p:pRg end="2" st="2"/>
                                            </p:txEl>
                                          </p:spTgt>
                                        </p:tgtEl>
                                        <p:attrNameLst>
                                          <p:attrName>style.visibility</p:attrName>
                                        </p:attrNameLst>
                                      </p:cBhvr>
                                      <p:to>
                                        <p:strVal val="visible"/>
                                      </p:to>
                                    </p:set>
                                    <p:anim calcmode="lin" valueType="num">
                                      <p:cBhvr additive="base">
                                        <p:cTn dur="500"/>
                                        <p:tgtEl>
                                          <p:spTgt spid="54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42">
                                            <p:txEl>
                                              <p:pRg end="3" st="3"/>
                                            </p:txEl>
                                          </p:spTgt>
                                        </p:tgtEl>
                                        <p:attrNameLst>
                                          <p:attrName>style.visibility</p:attrName>
                                        </p:attrNameLst>
                                      </p:cBhvr>
                                      <p:to>
                                        <p:strVal val="visible"/>
                                      </p:to>
                                    </p:set>
                                    <p:anim calcmode="lin" valueType="num">
                                      <p:cBhvr additive="base">
                                        <p:cTn dur="500"/>
                                        <p:tgtEl>
                                          <p:spTgt spid="542">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42">
                                            <p:txEl>
                                              <p:pRg end="4" st="4"/>
                                            </p:txEl>
                                          </p:spTgt>
                                        </p:tgtEl>
                                        <p:attrNameLst>
                                          <p:attrName>style.visibility</p:attrName>
                                        </p:attrNameLst>
                                      </p:cBhvr>
                                      <p:to>
                                        <p:strVal val="visible"/>
                                      </p:to>
                                    </p:set>
                                    <p:anim calcmode="lin" valueType="num">
                                      <p:cBhvr additive="base">
                                        <p:cTn dur="500"/>
                                        <p:tgtEl>
                                          <p:spTgt spid="542">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42">
                                            <p:txEl>
                                              <p:pRg end="5" st="5"/>
                                            </p:txEl>
                                          </p:spTgt>
                                        </p:tgtEl>
                                        <p:attrNameLst>
                                          <p:attrName>style.visibility</p:attrName>
                                        </p:attrNameLst>
                                      </p:cBhvr>
                                      <p:to>
                                        <p:strVal val="visible"/>
                                      </p:to>
                                    </p:set>
                                    <p:anim calcmode="lin" valueType="num">
                                      <p:cBhvr additive="base">
                                        <p:cTn dur="500"/>
                                        <p:tgtEl>
                                          <p:spTgt spid="542">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42">
                                            <p:txEl>
                                              <p:pRg end="6" st="6"/>
                                            </p:txEl>
                                          </p:spTgt>
                                        </p:tgtEl>
                                        <p:attrNameLst>
                                          <p:attrName>style.visibility</p:attrName>
                                        </p:attrNameLst>
                                      </p:cBhvr>
                                      <p:to>
                                        <p:strVal val="visible"/>
                                      </p:to>
                                    </p:set>
                                    <p:anim calcmode="lin" valueType="num">
                                      <p:cBhvr additive="base">
                                        <p:cTn dur="500"/>
                                        <p:tgtEl>
                                          <p:spTgt spid="542">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8" name="Shape 548"/>
        <p:cNvGrpSpPr/>
        <p:nvPr/>
      </p:nvGrpSpPr>
      <p:grpSpPr>
        <a:xfrm>
          <a:off x="0" y="0"/>
          <a:ext cx="0" cy="0"/>
          <a:chOff x="0" y="0"/>
          <a:chExt cx="0" cy="0"/>
        </a:xfrm>
      </p:grpSpPr>
      <p:sp>
        <p:nvSpPr>
          <p:cNvPr id="549" name="Google Shape;549;p50"/>
          <p:cNvSpPr txBox="1"/>
          <p:nvPr/>
        </p:nvSpPr>
        <p:spPr>
          <a:xfrm>
            <a:off x="1258887" y="533400"/>
            <a:ext cx="706437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RECORDING PATENTS</a:t>
            </a:r>
            <a:endParaRPr/>
          </a:p>
        </p:txBody>
      </p:sp>
      <p:sp>
        <p:nvSpPr>
          <p:cNvPr id="550" name="Google Shape;550;p50"/>
          <p:cNvSpPr/>
          <p:nvPr/>
        </p:nvSpPr>
        <p:spPr>
          <a:xfrm>
            <a:off x="457200" y="1905000"/>
            <a:ext cx="8991600" cy="2514600"/>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1" name="Google Shape;551;p50"/>
          <p:cNvSpPr txBox="1"/>
          <p:nvPr/>
        </p:nvSpPr>
        <p:spPr>
          <a:xfrm>
            <a:off x="676275" y="1954212"/>
            <a:ext cx="8548687" cy="227965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National Labs purchases a patent at a cost of $60,000.  If the useful life of the patent is 8 years, the annual amortization expense is $7,500 ($60,000 ÷ 8).  </a:t>
            </a:r>
            <a:endParaRPr/>
          </a:p>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Amortization Expense is classified as an operating expense in the income statement.  The entry to record the annual patent amortization is:</a:t>
            </a:r>
            <a:endParaRPr/>
          </a:p>
        </p:txBody>
      </p:sp>
      <p:sp>
        <p:nvSpPr>
          <p:cNvPr id="552" name="Google Shape;552;p50"/>
          <p:cNvSpPr/>
          <p:nvPr/>
        </p:nvSpPr>
        <p:spPr>
          <a:xfrm>
            <a:off x="838200" y="4724400"/>
            <a:ext cx="7867650" cy="990600"/>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53" name="Google Shape;553;p50"/>
          <p:cNvPicPr preferRelativeResize="0"/>
          <p:nvPr/>
        </p:nvPicPr>
        <p:blipFill rotWithShape="1">
          <a:blip r:embed="rId3">
            <a:alphaModFix/>
          </a:blip>
          <a:srcRect b="0" l="0" r="0" t="0"/>
          <a:stretch/>
        </p:blipFill>
        <p:spPr>
          <a:xfrm>
            <a:off x="914400" y="4721225"/>
            <a:ext cx="8312150" cy="914400"/>
          </a:xfrm>
          <a:prstGeom prst="rect">
            <a:avLst/>
          </a:prstGeom>
          <a:noFill/>
          <a:ln>
            <a:noFill/>
          </a:ln>
        </p:spPr>
      </p:pic>
    </p:spTree>
  </p:cSld>
  <p:clrMapOvr>
    <a:masterClrMapping/>
  </p:clrMapOvr>
  <p:transition spd="slow">
    <p:fade thruBlk="1"/>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7" name="Shape 557"/>
        <p:cNvGrpSpPr/>
        <p:nvPr/>
      </p:nvGrpSpPr>
      <p:grpSpPr>
        <a:xfrm>
          <a:off x="0" y="0"/>
          <a:ext cx="0" cy="0"/>
          <a:chOff x="0" y="0"/>
          <a:chExt cx="0" cy="0"/>
        </a:xfrm>
      </p:grpSpPr>
      <p:sp>
        <p:nvSpPr>
          <p:cNvPr id="558" name="Google Shape;558;p51"/>
          <p:cNvSpPr txBox="1"/>
          <p:nvPr>
            <p:ph idx="1" type="body"/>
          </p:nvPr>
        </p:nvSpPr>
        <p:spPr>
          <a:xfrm>
            <a:off x="752475" y="2214562"/>
            <a:ext cx="8159750" cy="3957637"/>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3000"/>
              <a:buFont typeface="Times New Roman"/>
              <a:buChar char="•"/>
            </a:pPr>
            <a:r>
              <a:rPr b="1" i="0" lang="en-US" sz="3000" u="none" cap="none" strike="noStrike">
                <a:solidFill>
                  <a:srgbClr val="BC3700"/>
                </a:solidFill>
                <a:latin typeface="Times New Roman"/>
                <a:ea typeface="Times New Roman"/>
                <a:cs typeface="Times New Roman"/>
                <a:sym typeface="Times New Roman"/>
              </a:rPr>
              <a:t>Copyrights</a:t>
            </a:r>
            <a:endParaRPr/>
          </a:p>
          <a:p>
            <a:pPr indent="-303212" lvl="1" marL="785812" marR="0" rtl="0" algn="l">
              <a:lnSpc>
                <a:spcPct val="100000"/>
              </a:lnSpc>
              <a:spcBef>
                <a:spcPts val="520"/>
              </a:spcBef>
              <a:spcAft>
                <a:spcPts val="0"/>
              </a:spcAft>
              <a:buClr>
                <a:srgbClr val="BC3700"/>
              </a:buClr>
              <a:buSzPts val="2600"/>
              <a:buFont typeface="Times New Roman"/>
              <a:buChar char="–"/>
            </a:pPr>
            <a:r>
              <a:rPr b="1" i="0" lang="en-US" sz="2600" u="none" cap="none" strike="noStrike">
                <a:solidFill>
                  <a:schemeClr val="dk1"/>
                </a:solidFill>
                <a:latin typeface="Times New Roman"/>
                <a:ea typeface="Times New Roman"/>
                <a:cs typeface="Times New Roman"/>
                <a:sym typeface="Times New Roman"/>
              </a:rPr>
              <a:t>grants from the federal government</a:t>
            </a:r>
            <a:endParaRPr/>
          </a:p>
          <a:p>
            <a:pPr indent="-303212" lvl="1" marL="785812" marR="0" rtl="0" algn="l">
              <a:lnSpc>
                <a:spcPct val="100000"/>
              </a:lnSpc>
              <a:spcBef>
                <a:spcPts val="520"/>
              </a:spcBef>
              <a:spcAft>
                <a:spcPts val="0"/>
              </a:spcAft>
              <a:buClr>
                <a:srgbClr val="BC3700"/>
              </a:buClr>
              <a:buSzPts val="2600"/>
              <a:buFont typeface="Times New Roman"/>
              <a:buChar char="–"/>
            </a:pPr>
            <a:r>
              <a:rPr b="1" i="0" lang="en-US" sz="2600" u="none" cap="none" strike="noStrike">
                <a:solidFill>
                  <a:schemeClr val="dk1"/>
                </a:solidFill>
                <a:latin typeface="Times New Roman"/>
                <a:ea typeface="Times New Roman"/>
                <a:cs typeface="Times New Roman"/>
                <a:sym typeface="Times New Roman"/>
              </a:rPr>
              <a:t>gives the owner the exclusive right to reproduce and  sell an artistic or published work</a:t>
            </a:r>
            <a:endParaRPr/>
          </a:p>
          <a:p>
            <a:pPr indent="-361950" lvl="0" marL="361950" marR="0" rtl="0" algn="l">
              <a:lnSpc>
                <a:spcPct val="100000"/>
              </a:lnSpc>
              <a:spcBef>
                <a:spcPts val="600"/>
              </a:spcBef>
              <a:spcAft>
                <a:spcPts val="0"/>
              </a:spcAft>
              <a:buClr>
                <a:srgbClr val="BC3700"/>
              </a:buClr>
              <a:buSzPts val="3000"/>
              <a:buFont typeface="Times New Roman"/>
              <a:buChar char="•"/>
            </a:pPr>
            <a:r>
              <a:rPr b="1" i="0" lang="en-US" sz="3000" u="none" cap="none" strike="noStrike">
                <a:solidFill>
                  <a:schemeClr val="dk1"/>
                </a:solidFill>
                <a:latin typeface="Times New Roman"/>
                <a:ea typeface="Times New Roman"/>
                <a:cs typeface="Times New Roman"/>
                <a:sym typeface="Times New Roman"/>
              </a:rPr>
              <a:t>Copyrights extend for the life of the       creator plus 70 years.</a:t>
            </a:r>
            <a:endParaRPr/>
          </a:p>
          <a:p>
            <a:pPr indent="-361950" lvl="0" marL="361950" marR="0" rtl="0" algn="l">
              <a:lnSpc>
                <a:spcPct val="100000"/>
              </a:lnSpc>
              <a:spcBef>
                <a:spcPts val="600"/>
              </a:spcBef>
              <a:spcAft>
                <a:spcPts val="0"/>
              </a:spcAft>
              <a:buClr>
                <a:srgbClr val="BC3700"/>
              </a:buClr>
              <a:buSzPts val="3000"/>
              <a:buFont typeface="Times New Roman"/>
              <a:buChar char="•"/>
            </a:pPr>
            <a:r>
              <a:rPr b="1" i="0" lang="en-US" sz="3000" u="none" cap="none" strike="noStrike">
                <a:solidFill>
                  <a:schemeClr val="dk1"/>
                </a:solidFill>
                <a:latin typeface="Times New Roman"/>
                <a:ea typeface="Times New Roman"/>
                <a:cs typeface="Times New Roman"/>
                <a:sym typeface="Times New Roman"/>
              </a:rPr>
              <a:t>The cost of a copyright is the cost of    acquiring and defending it.</a:t>
            </a:r>
            <a:endParaRPr/>
          </a:p>
        </p:txBody>
      </p:sp>
      <p:grpSp>
        <p:nvGrpSpPr>
          <p:cNvPr id="559" name="Google Shape;559;p51"/>
          <p:cNvGrpSpPr/>
          <p:nvPr/>
        </p:nvGrpSpPr>
        <p:grpSpPr>
          <a:xfrm>
            <a:off x="8153400" y="3581400"/>
            <a:ext cx="1143000" cy="1219200"/>
            <a:chOff x="4752" y="2064"/>
            <a:chExt cx="1192" cy="1224"/>
          </a:xfrm>
        </p:grpSpPr>
        <p:sp>
          <p:nvSpPr>
            <p:cNvPr id="560" name="Google Shape;560;p51"/>
            <p:cNvSpPr/>
            <p:nvPr/>
          </p:nvSpPr>
          <p:spPr>
            <a:xfrm>
              <a:off x="4752" y="2064"/>
              <a:ext cx="1192" cy="12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61" name="Google Shape;561;p51"/>
            <p:cNvPicPr preferRelativeResize="0"/>
            <p:nvPr/>
          </p:nvPicPr>
          <p:blipFill rotWithShape="1">
            <a:blip r:embed="rId3">
              <a:alphaModFix/>
            </a:blip>
            <a:srcRect b="0" l="0" r="0" t="0"/>
            <a:stretch/>
          </p:blipFill>
          <p:spPr>
            <a:xfrm>
              <a:off x="4849" y="2219"/>
              <a:ext cx="979" cy="900"/>
            </a:xfrm>
            <a:prstGeom prst="rect">
              <a:avLst/>
            </a:prstGeom>
            <a:noFill/>
            <a:ln>
              <a:noFill/>
            </a:ln>
          </p:spPr>
        </p:pic>
      </p:grpSp>
      <p:pic>
        <p:nvPicPr>
          <p:cNvPr id="562" name="Google Shape;562;p51"/>
          <p:cNvPicPr preferRelativeResize="0"/>
          <p:nvPr/>
        </p:nvPicPr>
        <p:blipFill rotWithShape="1">
          <a:blip r:embed="rId4">
            <a:alphaModFix/>
          </a:blip>
          <a:srcRect b="0" l="0" r="0" t="0"/>
          <a:stretch/>
        </p:blipFill>
        <p:spPr>
          <a:xfrm>
            <a:off x="7239000" y="4992687"/>
            <a:ext cx="2197100" cy="2235200"/>
          </a:xfrm>
          <a:prstGeom prst="rect">
            <a:avLst/>
          </a:prstGeom>
          <a:noFill/>
          <a:ln>
            <a:noFill/>
          </a:ln>
        </p:spPr>
      </p:pic>
      <p:pic>
        <p:nvPicPr>
          <p:cNvPr id="563" name="Google Shape;563;p51"/>
          <p:cNvPicPr preferRelativeResize="0"/>
          <p:nvPr/>
        </p:nvPicPr>
        <p:blipFill rotWithShape="1">
          <a:blip r:embed="rId5">
            <a:alphaModFix/>
          </a:blip>
          <a:srcRect b="0" l="0" r="0" t="0"/>
          <a:stretch/>
        </p:blipFill>
        <p:spPr>
          <a:xfrm>
            <a:off x="7315200" y="1143000"/>
            <a:ext cx="2044700" cy="1800225"/>
          </a:xfrm>
          <a:prstGeom prst="rect">
            <a:avLst/>
          </a:prstGeom>
          <a:noFill/>
          <a:ln>
            <a:noFill/>
          </a:ln>
        </p:spPr>
      </p:pic>
      <p:sp>
        <p:nvSpPr>
          <p:cNvPr id="564" name="Google Shape;564;p51"/>
          <p:cNvSpPr txBox="1"/>
          <p:nvPr/>
        </p:nvSpPr>
        <p:spPr>
          <a:xfrm>
            <a:off x="2135187" y="438150"/>
            <a:ext cx="533082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COPYRIGHTS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58">
                                            <p:txEl>
                                              <p:pRg end="0" st="0"/>
                                            </p:txEl>
                                          </p:spTgt>
                                        </p:tgtEl>
                                        <p:attrNameLst>
                                          <p:attrName>style.visibility</p:attrName>
                                        </p:attrNameLst>
                                      </p:cBhvr>
                                      <p:to>
                                        <p:strVal val="visible"/>
                                      </p:to>
                                    </p:set>
                                    <p:anim calcmode="lin" valueType="num">
                                      <p:cBhvr additive="base">
                                        <p:cTn dur="500"/>
                                        <p:tgtEl>
                                          <p:spTgt spid="55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58">
                                            <p:txEl>
                                              <p:pRg end="1" st="1"/>
                                            </p:txEl>
                                          </p:spTgt>
                                        </p:tgtEl>
                                        <p:attrNameLst>
                                          <p:attrName>style.visibility</p:attrName>
                                        </p:attrNameLst>
                                      </p:cBhvr>
                                      <p:to>
                                        <p:strVal val="visible"/>
                                      </p:to>
                                    </p:set>
                                    <p:anim calcmode="lin" valueType="num">
                                      <p:cBhvr additive="base">
                                        <p:cTn dur="500"/>
                                        <p:tgtEl>
                                          <p:spTgt spid="55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58">
                                            <p:txEl>
                                              <p:pRg end="2" st="2"/>
                                            </p:txEl>
                                          </p:spTgt>
                                        </p:tgtEl>
                                        <p:attrNameLst>
                                          <p:attrName>style.visibility</p:attrName>
                                        </p:attrNameLst>
                                      </p:cBhvr>
                                      <p:to>
                                        <p:strVal val="visible"/>
                                      </p:to>
                                    </p:set>
                                    <p:anim calcmode="lin" valueType="num">
                                      <p:cBhvr additive="base">
                                        <p:cTn dur="500"/>
                                        <p:tgtEl>
                                          <p:spTgt spid="55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58">
                                            <p:txEl>
                                              <p:pRg end="3" st="3"/>
                                            </p:txEl>
                                          </p:spTgt>
                                        </p:tgtEl>
                                        <p:attrNameLst>
                                          <p:attrName>style.visibility</p:attrName>
                                        </p:attrNameLst>
                                      </p:cBhvr>
                                      <p:to>
                                        <p:strVal val="visible"/>
                                      </p:to>
                                    </p:set>
                                    <p:anim calcmode="lin" valueType="num">
                                      <p:cBhvr additive="base">
                                        <p:cTn dur="500"/>
                                        <p:tgtEl>
                                          <p:spTgt spid="55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58">
                                            <p:txEl>
                                              <p:pRg end="4" st="4"/>
                                            </p:txEl>
                                          </p:spTgt>
                                        </p:tgtEl>
                                        <p:attrNameLst>
                                          <p:attrName>style.visibility</p:attrName>
                                        </p:attrNameLst>
                                      </p:cBhvr>
                                      <p:to>
                                        <p:strVal val="visible"/>
                                      </p:to>
                                    </p:set>
                                    <p:anim calcmode="lin" valueType="num">
                                      <p:cBhvr additive="base">
                                        <p:cTn dur="500"/>
                                        <p:tgtEl>
                                          <p:spTgt spid="558">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8" name="Shape 568"/>
        <p:cNvGrpSpPr/>
        <p:nvPr/>
      </p:nvGrpSpPr>
      <p:grpSpPr>
        <a:xfrm>
          <a:off x="0" y="0"/>
          <a:ext cx="0" cy="0"/>
          <a:chOff x="0" y="0"/>
          <a:chExt cx="0" cy="0"/>
        </a:xfrm>
      </p:grpSpPr>
      <p:sp>
        <p:nvSpPr>
          <p:cNvPr id="569" name="Google Shape;569;p52"/>
          <p:cNvSpPr txBox="1"/>
          <p:nvPr>
            <p:ph idx="1" type="body"/>
          </p:nvPr>
        </p:nvSpPr>
        <p:spPr>
          <a:xfrm>
            <a:off x="776287" y="2201862"/>
            <a:ext cx="8159750" cy="4637087"/>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3600"/>
              <a:buFont typeface="Times New Roman"/>
              <a:buChar char="•"/>
            </a:pPr>
            <a:r>
              <a:rPr b="1" i="0" lang="en-US" sz="3600" u="none" cap="none" strike="noStrike">
                <a:solidFill>
                  <a:schemeClr val="dk1"/>
                </a:solidFill>
                <a:latin typeface="Times New Roman"/>
                <a:ea typeface="Times New Roman"/>
                <a:cs typeface="Times New Roman"/>
                <a:sym typeface="Times New Roman"/>
              </a:rPr>
              <a:t>A </a:t>
            </a:r>
            <a:r>
              <a:rPr b="1" i="0" lang="en-US" sz="3600" u="none" cap="none" strike="noStrike">
                <a:solidFill>
                  <a:srgbClr val="BC3700"/>
                </a:solidFill>
                <a:latin typeface="Times New Roman"/>
                <a:ea typeface="Times New Roman"/>
                <a:cs typeface="Times New Roman"/>
                <a:sym typeface="Times New Roman"/>
              </a:rPr>
              <a:t>trademark</a:t>
            </a:r>
            <a:r>
              <a:rPr b="1" i="0" lang="en-US" sz="3600" u="none" cap="none" strike="noStrike">
                <a:solidFill>
                  <a:schemeClr val="dk1"/>
                </a:solidFill>
                <a:latin typeface="Times New Roman"/>
                <a:ea typeface="Times New Roman"/>
                <a:cs typeface="Times New Roman"/>
                <a:sym typeface="Times New Roman"/>
              </a:rPr>
              <a:t> or </a:t>
            </a:r>
            <a:r>
              <a:rPr b="1" i="0" lang="en-US" sz="3600" u="none" cap="none" strike="noStrike">
                <a:solidFill>
                  <a:srgbClr val="BC3700"/>
                </a:solidFill>
                <a:latin typeface="Times New Roman"/>
                <a:ea typeface="Times New Roman"/>
                <a:cs typeface="Times New Roman"/>
                <a:sym typeface="Times New Roman"/>
              </a:rPr>
              <a:t>trade name</a:t>
            </a:r>
            <a:r>
              <a:rPr b="1" i="0" lang="en-US" sz="3200" u="none" cap="none" strike="noStrike">
                <a:solidFill>
                  <a:schemeClr val="accent2"/>
                </a:solidFill>
                <a:latin typeface="Times New Roman"/>
                <a:ea typeface="Times New Roman"/>
                <a:cs typeface="Times New Roman"/>
                <a:sym typeface="Times New Roman"/>
              </a:rPr>
              <a:t> </a:t>
            </a:r>
            <a:endParaRPr/>
          </a:p>
          <a:p>
            <a:pPr indent="-303212" lvl="1" marL="785812"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word, phrase, jingle or symbol identifying a particular enterprise or product</a:t>
            </a:r>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Trademark or trade name purchased</a:t>
            </a:r>
            <a:endParaRPr/>
          </a:p>
          <a:p>
            <a:pPr indent="-303212" lvl="1" marL="785812"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the cost is purchase price</a:t>
            </a:r>
            <a:endParaRPr/>
          </a:p>
          <a:p>
            <a:pPr indent="-361950" lvl="0" marL="361950" marR="0" rtl="0" algn="l">
              <a:lnSpc>
                <a:spcPct val="9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Trademark developed by a company</a:t>
            </a:r>
            <a:endParaRPr/>
          </a:p>
          <a:p>
            <a:pPr indent="-303212" lvl="1" marL="785812" marR="0" rtl="0" algn="l">
              <a:lnSpc>
                <a:spcPct val="9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the cost includes attorney’s fees, registration </a:t>
            </a:r>
            <a:endParaRPr/>
          </a:p>
          <a:p>
            <a:pPr indent="-303212" lvl="1" marL="785812" marR="0" rtl="0" algn="l">
              <a:lnSpc>
                <a:spcPct val="9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fees, design costs and successful legal defense</a:t>
            </a:r>
            <a:endParaRPr/>
          </a:p>
          <a:p>
            <a:pPr indent="-303212" lvl="1" marL="785812" marR="0" rtl="0" algn="l">
              <a:lnSpc>
                <a:spcPct val="9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fees</a:t>
            </a:r>
            <a:endParaRPr/>
          </a:p>
        </p:txBody>
      </p:sp>
      <p:grpSp>
        <p:nvGrpSpPr>
          <p:cNvPr id="570" name="Google Shape;570;p52"/>
          <p:cNvGrpSpPr/>
          <p:nvPr/>
        </p:nvGrpSpPr>
        <p:grpSpPr>
          <a:xfrm>
            <a:off x="8077200" y="1752600"/>
            <a:ext cx="1073150" cy="1181100"/>
            <a:chOff x="4740" y="1752"/>
            <a:chExt cx="1300" cy="1273"/>
          </a:xfrm>
        </p:grpSpPr>
        <p:sp>
          <p:nvSpPr>
            <p:cNvPr id="571" name="Google Shape;571;p52"/>
            <p:cNvSpPr/>
            <p:nvPr/>
          </p:nvSpPr>
          <p:spPr>
            <a:xfrm>
              <a:off x="4740" y="1752"/>
              <a:ext cx="1300" cy="12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72" name="Google Shape;572;p52"/>
            <p:cNvPicPr preferRelativeResize="0"/>
            <p:nvPr/>
          </p:nvPicPr>
          <p:blipFill rotWithShape="1">
            <a:blip r:embed="rId3">
              <a:alphaModFix/>
            </a:blip>
            <a:srcRect b="0" l="0" r="0" t="0"/>
            <a:stretch/>
          </p:blipFill>
          <p:spPr>
            <a:xfrm>
              <a:off x="4758" y="2122"/>
              <a:ext cx="1206" cy="614"/>
            </a:xfrm>
            <a:prstGeom prst="rect">
              <a:avLst/>
            </a:prstGeom>
            <a:noFill/>
            <a:ln>
              <a:noFill/>
            </a:ln>
          </p:spPr>
        </p:pic>
      </p:grpSp>
      <p:sp>
        <p:nvSpPr>
          <p:cNvPr id="573" name="Google Shape;573;p52"/>
          <p:cNvSpPr txBox="1"/>
          <p:nvPr/>
        </p:nvSpPr>
        <p:spPr>
          <a:xfrm>
            <a:off x="2020887" y="209550"/>
            <a:ext cx="5540375" cy="19177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TRADEMARKS AND TRADE NAMES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69">
                                            <p:txEl>
                                              <p:pRg end="0" st="0"/>
                                            </p:txEl>
                                          </p:spTgt>
                                        </p:tgtEl>
                                        <p:attrNameLst>
                                          <p:attrName>style.visibility</p:attrName>
                                        </p:attrNameLst>
                                      </p:cBhvr>
                                      <p:to>
                                        <p:strVal val="visible"/>
                                      </p:to>
                                    </p:set>
                                    <p:anim calcmode="lin" valueType="num">
                                      <p:cBhvr additive="base">
                                        <p:cTn dur="500"/>
                                        <p:tgtEl>
                                          <p:spTgt spid="56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69">
                                            <p:txEl>
                                              <p:pRg end="1" st="1"/>
                                            </p:txEl>
                                          </p:spTgt>
                                        </p:tgtEl>
                                        <p:attrNameLst>
                                          <p:attrName>style.visibility</p:attrName>
                                        </p:attrNameLst>
                                      </p:cBhvr>
                                      <p:to>
                                        <p:strVal val="visible"/>
                                      </p:to>
                                    </p:set>
                                    <p:anim calcmode="lin" valueType="num">
                                      <p:cBhvr additive="base">
                                        <p:cTn dur="500"/>
                                        <p:tgtEl>
                                          <p:spTgt spid="56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69">
                                            <p:txEl>
                                              <p:pRg end="2" st="2"/>
                                            </p:txEl>
                                          </p:spTgt>
                                        </p:tgtEl>
                                        <p:attrNameLst>
                                          <p:attrName>style.visibility</p:attrName>
                                        </p:attrNameLst>
                                      </p:cBhvr>
                                      <p:to>
                                        <p:strVal val="visible"/>
                                      </p:to>
                                    </p:set>
                                    <p:anim calcmode="lin" valueType="num">
                                      <p:cBhvr additive="base">
                                        <p:cTn dur="500"/>
                                        <p:tgtEl>
                                          <p:spTgt spid="569">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69">
                                            <p:txEl>
                                              <p:pRg end="3" st="3"/>
                                            </p:txEl>
                                          </p:spTgt>
                                        </p:tgtEl>
                                        <p:attrNameLst>
                                          <p:attrName>style.visibility</p:attrName>
                                        </p:attrNameLst>
                                      </p:cBhvr>
                                      <p:to>
                                        <p:strVal val="visible"/>
                                      </p:to>
                                    </p:set>
                                    <p:anim calcmode="lin" valueType="num">
                                      <p:cBhvr additive="base">
                                        <p:cTn dur="500"/>
                                        <p:tgtEl>
                                          <p:spTgt spid="569">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69">
                                            <p:txEl>
                                              <p:pRg end="4" st="4"/>
                                            </p:txEl>
                                          </p:spTgt>
                                        </p:tgtEl>
                                        <p:attrNameLst>
                                          <p:attrName>style.visibility</p:attrName>
                                        </p:attrNameLst>
                                      </p:cBhvr>
                                      <p:to>
                                        <p:strVal val="visible"/>
                                      </p:to>
                                    </p:set>
                                    <p:anim calcmode="lin" valueType="num">
                                      <p:cBhvr additive="base">
                                        <p:cTn dur="500"/>
                                        <p:tgtEl>
                                          <p:spTgt spid="569">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69">
                                            <p:txEl>
                                              <p:pRg end="5" st="5"/>
                                            </p:txEl>
                                          </p:spTgt>
                                        </p:tgtEl>
                                        <p:attrNameLst>
                                          <p:attrName>style.visibility</p:attrName>
                                        </p:attrNameLst>
                                      </p:cBhvr>
                                      <p:to>
                                        <p:strVal val="visible"/>
                                      </p:to>
                                    </p:set>
                                    <p:anim calcmode="lin" valueType="num">
                                      <p:cBhvr additive="base">
                                        <p:cTn dur="500"/>
                                        <p:tgtEl>
                                          <p:spTgt spid="569">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69">
                                            <p:txEl>
                                              <p:pRg end="6" st="6"/>
                                            </p:txEl>
                                          </p:spTgt>
                                        </p:tgtEl>
                                        <p:attrNameLst>
                                          <p:attrName>style.visibility</p:attrName>
                                        </p:attrNameLst>
                                      </p:cBhvr>
                                      <p:to>
                                        <p:strVal val="visible"/>
                                      </p:to>
                                    </p:set>
                                    <p:anim calcmode="lin" valueType="num">
                                      <p:cBhvr additive="base">
                                        <p:cTn dur="500"/>
                                        <p:tgtEl>
                                          <p:spTgt spid="569">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69">
                                            <p:txEl>
                                              <p:pRg end="7" st="7"/>
                                            </p:txEl>
                                          </p:spTgt>
                                        </p:tgtEl>
                                        <p:attrNameLst>
                                          <p:attrName>style.visibility</p:attrName>
                                        </p:attrNameLst>
                                      </p:cBhvr>
                                      <p:to>
                                        <p:strVal val="visible"/>
                                      </p:to>
                                    </p:set>
                                    <p:anim calcmode="lin" valueType="num">
                                      <p:cBhvr additive="base">
                                        <p:cTn dur="500"/>
                                        <p:tgtEl>
                                          <p:spTgt spid="569">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7" name="Shape 577"/>
        <p:cNvGrpSpPr/>
        <p:nvPr/>
      </p:nvGrpSpPr>
      <p:grpSpPr>
        <a:xfrm>
          <a:off x="0" y="0"/>
          <a:ext cx="0" cy="0"/>
          <a:chOff x="0" y="0"/>
          <a:chExt cx="0" cy="0"/>
        </a:xfrm>
      </p:grpSpPr>
      <p:sp>
        <p:nvSpPr>
          <p:cNvPr id="578" name="Google Shape;578;p53"/>
          <p:cNvSpPr txBox="1"/>
          <p:nvPr>
            <p:ph idx="1" type="body"/>
          </p:nvPr>
        </p:nvSpPr>
        <p:spPr>
          <a:xfrm>
            <a:off x="798512" y="1857375"/>
            <a:ext cx="8250237" cy="5210175"/>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3000"/>
              <a:buFont typeface="Times New Roman"/>
              <a:buChar char="•"/>
            </a:pPr>
            <a:r>
              <a:rPr b="1" i="0" lang="en-US" sz="3000" u="none" cap="none" strike="noStrike">
                <a:solidFill>
                  <a:srgbClr val="BC3700"/>
                </a:solidFill>
                <a:latin typeface="Times New Roman"/>
                <a:ea typeface="Times New Roman"/>
                <a:cs typeface="Times New Roman"/>
                <a:sym typeface="Times New Roman"/>
              </a:rPr>
              <a:t>Franchise</a:t>
            </a:r>
            <a:r>
              <a:rPr b="1" i="0" lang="en-US" sz="3000" u="none" cap="none" strike="noStrike">
                <a:solidFill>
                  <a:schemeClr val="dk1"/>
                </a:solidFill>
                <a:latin typeface="Times New Roman"/>
                <a:ea typeface="Times New Roman"/>
                <a:cs typeface="Times New Roman"/>
                <a:sym typeface="Times New Roman"/>
              </a:rPr>
              <a:t> </a:t>
            </a:r>
            <a:endParaRPr/>
          </a:p>
          <a:p>
            <a:pPr indent="-303212" lvl="1" marL="785812" marR="0" rtl="0" algn="l">
              <a:lnSpc>
                <a:spcPct val="100000"/>
              </a:lnSpc>
              <a:spcBef>
                <a:spcPts val="520"/>
              </a:spcBef>
              <a:spcAft>
                <a:spcPts val="0"/>
              </a:spcAft>
              <a:buClr>
                <a:srgbClr val="BC3700"/>
              </a:buClr>
              <a:buSzPts val="2600"/>
              <a:buFont typeface="Times New Roman"/>
              <a:buChar char="–"/>
            </a:pPr>
            <a:r>
              <a:rPr b="1" i="0" lang="en-US" sz="2600" u="none" cap="none" strike="noStrike">
                <a:solidFill>
                  <a:srgbClr val="BC3700"/>
                </a:solidFill>
                <a:latin typeface="Times New Roman"/>
                <a:ea typeface="Times New Roman"/>
                <a:cs typeface="Times New Roman"/>
                <a:sym typeface="Times New Roman"/>
              </a:rPr>
              <a:t>contractual arrangement</a:t>
            </a:r>
            <a:r>
              <a:rPr b="1" i="0" lang="en-US" sz="2600" u="none" cap="none" strike="noStrike">
                <a:solidFill>
                  <a:schemeClr val="dk1"/>
                </a:solidFill>
                <a:latin typeface="Times New Roman"/>
                <a:ea typeface="Times New Roman"/>
                <a:cs typeface="Times New Roman"/>
                <a:sym typeface="Times New Roman"/>
              </a:rPr>
              <a:t> under which the </a:t>
            </a:r>
            <a:r>
              <a:rPr b="1" i="0" lang="en-US" sz="2600" u="none" cap="none" strike="noStrike">
                <a:solidFill>
                  <a:srgbClr val="BC3700"/>
                </a:solidFill>
                <a:latin typeface="Times New Roman"/>
                <a:ea typeface="Times New Roman"/>
                <a:cs typeface="Times New Roman"/>
                <a:sym typeface="Times New Roman"/>
              </a:rPr>
              <a:t>franchisor</a:t>
            </a:r>
            <a:r>
              <a:rPr b="1" i="0" lang="en-US" sz="2600" u="none" cap="none" strike="noStrike">
                <a:solidFill>
                  <a:schemeClr val="dk1"/>
                </a:solidFill>
                <a:latin typeface="Times New Roman"/>
                <a:ea typeface="Times New Roman"/>
                <a:cs typeface="Times New Roman"/>
                <a:sym typeface="Times New Roman"/>
              </a:rPr>
              <a:t> grants the </a:t>
            </a:r>
            <a:r>
              <a:rPr b="1" i="0" lang="en-US" sz="2600" u="none" cap="none" strike="noStrike">
                <a:solidFill>
                  <a:srgbClr val="BC3700"/>
                </a:solidFill>
                <a:latin typeface="Times New Roman"/>
                <a:ea typeface="Times New Roman"/>
                <a:cs typeface="Times New Roman"/>
                <a:sym typeface="Times New Roman"/>
              </a:rPr>
              <a:t>franchisee</a:t>
            </a:r>
            <a:r>
              <a:rPr b="1" i="0" lang="en-US" sz="2600" u="none" cap="none" strike="noStrike">
                <a:solidFill>
                  <a:schemeClr val="dk1"/>
                </a:solidFill>
                <a:latin typeface="Times New Roman"/>
                <a:ea typeface="Times New Roman"/>
                <a:cs typeface="Times New Roman"/>
                <a:sym typeface="Times New Roman"/>
              </a:rPr>
              <a:t> the right to sell certain products,  render specific services, or use certain trademarks or trade names, usually restricted to a designated geographical area  </a:t>
            </a:r>
            <a:endParaRPr/>
          </a:p>
          <a:p>
            <a:pPr indent="-361950" lvl="0" marL="361950" marR="0" rtl="0" algn="l">
              <a:lnSpc>
                <a:spcPct val="100000"/>
              </a:lnSpc>
              <a:spcBef>
                <a:spcPts val="600"/>
              </a:spcBef>
              <a:spcAft>
                <a:spcPts val="0"/>
              </a:spcAft>
              <a:buClr>
                <a:srgbClr val="BC3700"/>
              </a:buClr>
              <a:buSzPts val="3000"/>
              <a:buFont typeface="Times New Roman"/>
              <a:buChar char="•"/>
            </a:pPr>
            <a:r>
              <a:rPr b="1" i="0" lang="en-US" sz="3000" u="none" cap="none" strike="noStrike">
                <a:solidFill>
                  <a:schemeClr val="dk1"/>
                </a:solidFill>
                <a:latin typeface="Times New Roman"/>
                <a:ea typeface="Times New Roman"/>
                <a:cs typeface="Times New Roman"/>
                <a:sym typeface="Times New Roman"/>
              </a:rPr>
              <a:t>Another type of franchise, commonly referred to as a </a:t>
            </a:r>
            <a:r>
              <a:rPr b="1" i="0" lang="en-US" sz="3000" u="none" cap="none" strike="noStrike">
                <a:solidFill>
                  <a:srgbClr val="BC3700"/>
                </a:solidFill>
                <a:latin typeface="Times New Roman"/>
                <a:ea typeface="Times New Roman"/>
                <a:cs typeface="Times New Roman"/>
                <a:sym typeface="Times New Roman"/>
              </a:rPr>
              <a:t>license</a:t>
            </a:r>
            <a:r>
              <a:rPr b="1" i="0" lang="en-US" sz="3000" u="none" cap="none" strike="noStrike">
                <a:solidFill>
                  <a:schemeClr val="dk1"/>
                </a:solidFill>
                <a:latin typeface="Times New Roman"/>
                <a:ea typeface="Times New Roman"/>
                <a:cs typeface="Times New Roman"/>
                <a:sym typeface="Times New Roman"/>
              </a:rPr>
              <a:t> or </a:t>
            </a:r>
            <a:r>
              <a:rPr b="1" i="0" lang="en-US" sz="3000" u="none" cap="none" strike="noStrike">
                <a:solidFill>
                  <a:srgbClr val="BC3700"/>
                </a:solidFill>
                <a:latin typeface="Times New Roman"/>
                <a:ea typeface="Times New Roman"/>
                <a:cs typeface="Times New Roman"/>
                <a:sym typeface="Times New Roman"/>
              </a:rPr>
              <a:t>permit</a:t>
            </a:r>
            <a:endParaRPr/>
          </a:p>
          <a:p>
            <a:pPr indent="-303212" lvl="1" marL="785812" marR="0" rtl="0" algn="l">
              <a:lnSpc>
                <a:spcPct val="100000"/>
              </a:lnSpc>
              <a:spcBef>
                <a:spcPts val="520"/>
              </a:spcBef>
              <a:spcAft>
                <a:spcPts val="0"/>
              </a:spcAft>
              <a:buClr>
                <a:srgbClr val="BC3700"/>
              </a:buClr>
              <a:buSzPts val="2600"/>
              <a:buFont typeface="Times New Roman"/>
              <a:buChar char="–"/>
            </a:pPr>
            <a:r>
              <a:rPr b="1" i="0" lang="en-US" sz="2600" u="none" cap="none" strike="noStrike">
                <a:solidFill>
                  <a:schemeClr val="dk1"/>
                </a:solidFill>
                <a:latin typeface="Times New Roman"/>
                <a:ea typeface="Times New Roman"/>
                <a:cs typeface="Times New Roman"/>
                <a:sym typeface="Times New Roman"/>
              </a:rPr>
              <a:t>entered into between a governmental body and a business enterprise and permits the enterprise to use public property in performing its services.</a:t>
            </a:r>
            <a:endParaRPr/>
          </a:p>
        </p:txBody>
      </p:sp>
      <p:sp>
        <p:nvSpPr>
          <p:cNvPr id="579" name="Google Shape;579;p53"/>
          <p:cNvSpPr txBox="1"/>
          <p:nvPr/>
        </p:nvSpPr>
        <p:spPr>
          <a:xfrm>
            <a:off x="2192337" y="209550"/>
            <a:ext cx="519747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FRANCHISES AND LICENSES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78">
                                            <p:txEl>
                                              <p:pRg end="0" st="0"/>
                                            </p:txEl>
                                          </p:spTgt>
                                        </p:tgtEl>
                                        <p:attrNameLst>
                                          <p:attrName>style.visibility</p:attrName>
                                        </p:attrNameLst>
                                      </p:cBhvr>
                                      <p:to>
                                        <p:strVal val="visible"/>
                                      </p:to>
                                    </p:set>
                                    <p:anim calcmode="lin" valueType="num">
                                      <p:cBhvr additive="base">
                                        <p:cTn dur="500"/>
                                        <p:tgtEl>
                                          <p:spTgt spid="57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78">
                                            <p:txEl>
                                              <p:pRg end="1" st="1"/>
                                            </p:txEl>
                                          </p:spTgt>
                                        </p:tgtEl>
                                        <p:attrNameLst>
                                          <p:attrName>style.visibility</p:attrName>
                                        </p:attrNameLst>
                                      </p:cBhvr>
                                      <p:to>
                                        <p:strVal val="visible"/>
                                      </p:to>
                                    </p:set>
                                    <p:anim calcmode="lin" valueType="num">
                                      <p:cBhvr additive="base">
                                        <p:cTn dur="500"/>
                                        <p:tgtEl>
                                          <p:spTgt spid="57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78">
                                            <p:txEl>
                                              <p:pRg end="2" st="2"/>
                                            </p:txEl>
                                          </p:spTgt>
                                        </p:tgtEl>
                                        <p:attrNameLst>
                                          <p:attrName>style.visibility</p:attrName>
                                        </p:attrNameLst>
                                      </p:cBhvr>
                                      <p:to>
                                        <p:strVal val="visible"/>
                                      </p:to>
                                    </p:set>
                                    <p:anim calcmode="lin" valueType="num">
                                      <p:cBhvr additive="base">
                                        <p:cTn dur="500"/>
                                        <p:tgtEl>
                                          <p:spTgt spid="57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78">
                                            <p:txEl>
                                              <p:pRg end="3" st="3"/>
                                            </p:txEl>
                                          </p:spTgt>
                                        </p:tgtEl>
                                        <p:attrNameLst>
                                          <p:attrName>style.visibility</p:attrName>
                                        </p:attrNameLst>
                                      </p:cBhvr>
                                      <p:to>
                                        <p:strVal val="visible"/>
                                      </p:to>
                                    </p:set>
                                    <p:anim calcmode="lin" valueType="num">
                                      <p:cBhvr additive="base">
                                        <p:cTn dur="500"/>
                                        <p:tgtEl>
                                          <p:spTgt spid="57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3" name="Shape 583"/>
        <p:cNvGrpSpPr/>
        <p:nvPr/>
      </p:nvGrpSpPr>
      <p:grpSpPr>
        <a:xfrm>
          <a:off x="0" y="0"/>
          <a:ext cx="0" cy="0"/>
          <a:chOff x="0" y="0"/>
          <a:chExt cx="0" cy="0"/>
        </a:xfrm>
      </p:grpSpPr>
      <p:sp>
        <p:nvSpPr>
          <p:cNvPr id="584" name="Google Shape;584;p54"/>
          <p:cNvSpPr txBox="1"/>
          <p:nvPr>
            <p:ph idx="1" type="body"/>
          </p:nvPr>
        </p:nvSpPr>
        <p:spPr>
          <a:xfrm>
            <a:off x="762000" y="1839912"/>
            <a:ext cx="7924800" cy="3665537"/>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3600"/>
              <a:buFont typeface="Times New Roman"/>
              <a:buChar char="•"/>
            </a:pPr>
            <a:r>
              <a:rPr b="1" i="0" lang="en-US" sz="3600" u="none" cap="none" strike="noStrike">
                <a:solidFill>
                  <a:srgbClr val="BC3700"/>
                </a:solidFill>
                <a:latin typeface="Times New Roman"/>
                <a:ea typeface="Times New Roman"/>
                <a:cs typeface="Times New Roman"/>
                <a:sym typeface="Times New Roman"/>
              </a:rPr>
              <a:t>Goodwill</a:t>
            </a:r>
            <a:r>
              <a:rPr b="1" i="0" lang="en-US" sz="3600" u="none" cap="none" strike="noStrike">
                <a:solidFill>
                  <a:schemeClr val="dk1"/>
                </a:solidFill>
                <a:latin typeface="Times New Roman"/>
                <a:ea typeface="Times New Roman"/>
                <a:cs typeface="Times New Roman"/>
                <a:sym typeface="Times New Roman"/>
              </a:rPr>
              <a:t> </a:t>
            </a:r>
            <a:endParaRPr/>
          </a:p>
          <a:p>
            <a:pPr indent="-303212" lvl="1" marL="785812" marR="0" rtl="0" algn="l">
              <a:lnSpc>
                <a:spcPct val="9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value of all favorable attributes that relate to a business enterprise </a:t>
            </a:r>
            <a:endParaRPr/>
          </a:p>
          <a:p>
            <a:pPr indent="-303212" lvl="1" marL="785812" marR="0" rtl="0" algn="l">
              <a:lnSpc>
                <a:spcPct val="9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attributes may include exceptional management, desirable location, good customer relations and skilled employees</a:t>
            </a:r>
            <a:endParaRPr/>
          </a:p>
          <a:p>
            <a:pPr indent="-303212" lvl="1" marL="785812" marR="0" rtl="0" algn="l">
              <a:lnSpc>
                <a:spcPct val="90000"/>
              </a:lnSpc>
              <a:spcBef>
                <a:spcPts val="480"/>
              </a:spcBef>
              <a:spcAft>
                <a:spcPts val="0"/>
              </a:spcAft>
              <a:buClr>
                <a:srgbClr val="BC3700"/>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cannot be sold individually in the marketplace; it can be identified only with the business as a whole</a:t>
            </a:r>
            <a:endParaRPr/>
          </a:p>
        </p:txBody>
      </p:sp>
      <p:pic>
        <p:nvPicPr>
          <p:cNvPr id="585" name="Google Shape;585;p54"/>
          <p:cNvPicPr preferRelativeResize="0"/>
          <p:nvPr/>
        </p:nvPicPr>
        <p:blipFill rotWithShape="1">
          <a:blip r:embed="rId3">
            <a:alphaModFix/>
          </a:blip>
          <a:srcRect b="0" l="0" r="0" t="0"/>
          <a:stretch/>
        </p:blipFill>
        <p:spPr>
          <a:xfrm>
            <a:off x="5943600" y="5257800"/>
            <a:ext cx="3276600" cy="1828800"/>
          </a:xfrm>
          <a:prstGeom prst="rect">
            <a:avLst/>
          </a:prstGeom>
          <a:noFill/>
          <a:ln>
            <a:noFill/>
          </a:ln>
        </p:spPr>
      </p:pic>
      <p:sp>
        <p:nvSpPr>
          <p:cNvPr id="586" name="Google Shape;586;p54"/>
          <p:cNvSpPr txBox="1"/>
          <p:nvPr/>
        </p:nvSpPr>
        <p:spPr>
          <a:xfrm>
            <a:off x="2592387" y="438150"/>
            <a:ext cx="441642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GOODWILL</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4">
                                            <p:txEl>
                                              <p:pRg end="0" st="0"/>
                                            </p:txEl>
                                          </p:spTgt>
                                        </p:tgtEl>
                                        <p:attrNameLst>
                                          <p:attrName>style.visibility</p:attrName>
                                        </p:attrNameLst>
                                      </p:cBhvr>
                                      <p:to>
                                        <p:strVal val="visible"/>
                                      </p:to>
                                    </p:set>
                                    <p:anim calcmode="lin" valueType="num">
                                      <p:cBhvr additive="base">
                                        <p:cTn dur="500"/>
                                        <p:tgtEl>
                                          <p:spTgt spid="58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4">
                                            <p:txEl>
                                              <p:pRg end="1" st="1"/>
                                            </p:txEl>
                                          </p:spTgt>
                                        </p:tgtEl>
                                        <p:attrNameLst>
                                          <p:attrName>style.visibility</p:attrName>
                                        </p:attrNameLst>
                                      </p:cBhvr>
                                      <p:to>
                                        <p:strVal val="visible"/>
                                      </p:to>
                                    </p:set>
                                    <p:anim calcmode="lin" valueType="num">
                                      <p:cBhvr additive="base">
                                        <p:cTn dur="500"/>
                                        <p:tgtEl>
                                          <p:spTgt spid="584">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4">
                                            <p:txEl>
                                              <p:pRg end="2" st="2"/>
                                            </p:txEl>
                                          </p:spTgt>
                                        </p:tgtEl>
                                        <p:attrNameLst>
                                          <p:attrName>style.visibility</p:attrName>
                                        </p:attrNameLst>
                                      </p:cBhvr>
                                      <p:to>
                                        <p:strVal val="visible"/>
                                      </p:to>
                                    </p:set>
                                    <p:anim calcmode="lin" valueType="num">
                                      <p:cBhvr additive="base">
                                        <p:cTn dur="500"/>
                                        <p:tgtEl>
                                          <p:spTgt spid="584">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4">
                                            <p:txEl>
                                              <p:pRg end="3" st="3"/>
                                            </p:txEl>
                                          </p:spTgt>
                                        </p:tgtEl>
                                        <p:attrNameLst>
                                          <p:attrName>style.visibility</p:attrName>
                                        </p:attrNameLst>
                                      </p:cBhvr>
                                      <p:to>
                                        <p:strVal val="visible"/>
                                      </p:to>
                                    </p:set>
                                    <p:anim calcmode="lin" valueType="num">
                                      <p:cBhvr additive="base">
                                        <p:cTn dur="500"/>
                                        <p:tgtEl>
                                          <p:spTgt spid="584">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0" name="Shape 590"/>
        <p:cNvGrpSpPr/>
        <p:nvPr/>
      </p:nvGrpSpPr>
      <p:grpSpPr>
        <a:xfrm>
          <a:off x="0" y="0"/>
          <a:ext cx="0" cy="0"/>
          <a:chOff x="0" y="0"/>
          <a:chExt cx="0" cy="0"/>
        </a:xfrm>
      </p:grpSpPr>
      <p:sp>
        <p:nvSpPr>
          <p:cNvPr id="591" name="Google Shape;591;p55"/>
          <p:cNvSpPr txBox="1"/>
          <p:nvPr>
            <p:ph idx="1" type="body"/>
          </p:nvPr>
        </p:nvSpPr>
        <p:spPr>
          <a:xfrm>
            <a:off x="609600" y="1839912"/>
            <a:ext cx="8115300" cy="4408487"/>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Goodwill</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recorded </a:t>
            </a:r>
            <a:r>
              <a:rPr b="1" i="0" lang="en-US" sz="2800" u="none" cap="none" strike="noStrike">
                <a:solidFill>
                  <a:srgbClr val="BC3700"/>
                </a:solidFill>
                <a:latin typeface="Times New Roman"/>
                <a:ea typeface="Times New Roman"/>
                <a:cs typeface="Times New Roman"/>
                <a:sym typeface="Times New Roman"/>
              </a:rPr>
              <a:t>only</a:t>
            </a:r>
            <a:r>
              <a:rPr b="1" i="0" lang="en-US" sz="2800" u="none" cap="none" strike="noStrike">
                <a:solidFill>
                  <a:schemeClr val="dk1"/>
                </a:solidFill>
                <a:latin typeface="Times New Roman"/>
                <a:ea typeface="Times New Roman"/>
                <a:cs typeface="Times New Roman"/>
                <a:sym typeface="Times New Roman"/>
              </a:rPr>
              <a:t> when a transaction involves the </a:t>
            </a:r>
            <a:r>
              <a:rPr b="1" i="0" lang="en-US" sz="2800" u="none" cap="none" strike="noStrike">
                <a:solidFill>
                  <a:srgbClr val="BC3700"/>
                </a:solidFill>
                <a:latin typeface="Times New Roman"/>
                <a:ea typeface="Times New Roman"/>
                <a:cs typeface="Times New Roman"/>
                <a:sym typeface="Times New Roman"/>
              </a:rPr>
              <a:t>purchase of an entire business</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excess of cost over the fair market value of the net assets (assets less liabilities) acquired</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not amortized</a:t>
            </a:r>
            <a:endParaRPr/>
          </a:p>
          <a:p>
            <a:pPr indent="-303212" lvl="1" marL="785812" marR="0" rtl="0" algn="l">
              <a:lnSpc>
                <a:spcPct val="10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reported under Intangible Assets</a:t>
            </a:r>
            <a:endParaRPr/>
          </a:p>
        </p:txBody>
      </p:sp>
      <p:sp>
        <p:nvSpPr>
          <p:cNvPr id="592" name="Google Shape;592;p55"/>
          <p:cNvSpPr txBox="1"/>
          <p:nvPr/>
        </p:nvSpPr>
        <p:spPr>
          <a:xfrm>
            <a:off x="2592387" y="438150"/>
            <a:ext cx="4416425" cy="6985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GOODWILL</a:t>
            </a:r>
            <a:endParaRPr/>
          </a:p>
        </p:txBody>
      </p:sp>
      <p:pic>
        <p:nvPicPr>
          <p:cNvPr id="593" name="Google Shape;593;p55"/>
          <p:cNvPicPr preferRelativeResize="0"/>
          <p:nvPr/>
        </p:nvPicPr>
        <p:blipFill rotWithShape="1">
          <a:blip r:embed="rId3">
            <a:alphaModFix/>
          </a:blip>
          <a:srcRect b="0" l="0" r="0" t="0"/>
          <a:stretch/>
        </p:blipFill>
        <p:spPr>
          <a:xfrm>
            <a:off x="6477000" y="5715000"/>
            <a:ext cx="2686050" cy="1600200"/>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1">
                                            <p:txEl>
                                              <p:pRg end="0" st="0"/>
                                            </p:txEl>
                                          </p:spTgt>
                                        </p:tgtEl>
                                        <p:attrNameLst>
                                          <p:attrName>style.visibility</p:attrName>
                                        </p:attrNameLst>
                                      </p:cBhvr>
                                      <p:to>
                                        <p:strVal val="visible"/>
                                      </p:to>
                                    </p:set>
                                    <p:anim calcmode="lin" valueType="num">
                                      <p:cBhvr additive="base">
                                        <p:cTn dur="500"/>
                                        <p:tgtEl>
                                          <p:spTgt spid="59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1">
                                            <p:txEl>
                                              <p:pRg end="1" st="1"/>
                                            </p:txEl>
                                          </p:spTgt>
                                        </p:tgtEl>
                                        <p:attrNameLst>
                                          <p:attrName>style.visibility</p:attrName>
                                        </p:attrNameLst>
                                      </p:cBhvr>
                                      <p:to>
                                        <p:strVal val="visible"/>
                                      </p:to>
                                    </p:set>
                                    <p:anim calcmode="lin" valueType="num">
                                      <p:cBhvr additive="base">
                                        <p:cTn dur="500"/>
                                        <p:tgtEl>
                                          <p:spTgt spid="59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1">
                                            <p:txEl>
                                              <p:pRg end="2" st="2"/>
                                            </p:txEl>
                                          </p:spTgt>
                                        </p:tgtEl>
                                        <p:attrNameLst>
                                          <p:attrName>style.visibility</p:attrName>
                                        </p:attrNameLst>
                                      </p:cBhvr>
                                      <p:to>
                                        <p:strVal val="visible"/>
                                      </p:to>
                                    </p:set>
                                    <p:anim calcmode="lin" valueType="num">
                                      <p:cBhvr additive="base">
                                        <p:cTn dur="500"/>
                                        <p:tgtEl>
                                          <p:spTgt spid="591">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1">
                                            <p:txEl>
                                              <p:pRg end="3" st="3"/>
                                            </p:txEl>
                                          </p:spTgt>
                                        </p:tgtEl>
                                        <p:attrNameLst>
                                          <p:attrName>style.visibility</p:attrName>
                                        </p:attrNameLst>
                                      </p:cBhvr>
                                      <p:to>
                                        <p:strVal val="visible"/>
                                      </p:to>
                                    </p:set>
                                    <p:anim calcmode="lin" valueType="num">
                                      <p:cBhvr additive="base">
                                        <p:cTn dur="500"/>
                                        <p:tgtEl>
                                          <p:spTgt spid="591">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1">
                                            <p:txEl>
                                              <p:pRg end="4" st="4"/>
                                            </p:txEl>
                                          </p:spTgt>
                                        </p:tgtEl>
                                        <p:attrNameLst>
                                          <p:attrName>style.visibility</p:attrName>
                                        </p:attrNameLst>
                                      </p:cBhvr>
                                      <p:to>
                                        <p:strVal val="visible"/>
                                      </p:to>
                                    </p:set>
                                    <p:anim calcmode="lin" valueType="num">
                                      <p:cBhvr additive="base">
                                        <p:cTn dur="500"/>
                                        <p:tgtEl>
                                          <p:spTgt spid="591">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7" name="Shape 597"/>
        <p:cNvGrpSpPr/>
        <p:nvPr/>
      </p:nvGrpSpPr>
      <p:grpSpPr>
        <a:xfrm>
          <a:off x="0" y="0"/>
          <a:ext cx="0" cy="0"/>
          <a:chOff x="0" y="0"/>
          <a:chExt cx="0" cy="0"/>
        </a:xfrm>
      </p:grpSpPr>
      <p:sp>
        <p:nvSpPr>
          <p:cNvPr id="598" name="Google Shape;598;p56"/>
          <p:cNvSpPr txBox="1"/>
          <p:nvPr>
            <p:ph idx="1" type="body"/>
          </p:nvPr>
        </p:nvSpPr>
        <p:spPr>
          <a:xfrm>
            <a:off x="727075" y="1846262"/>
            <a:ext cx="8159750" cy="3030537"/>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rgbClr val="BC3700"/>
              </a:buClr>
              <a:buSzPts val="4000"/>
              <a:buFont typeface="Times New Roman"/>
              <a:buChar char="•"/>
            </a:pPr>
            <a:r>
              <a:rPr b="1" i="0" lang="en-US" sz="4000" u="none" cap="none" strike="noStrike">
                <a:solidFill>
                  <a:srgbClr val="BC3700"/>
                </a:solidFill>
                <a:latin typeface="Times New Roman"/>
                <a:ea typeface="Times New Roman"/>
                <a:cs typeface="Times New Roman"/>
                <a:sym typeface="Times New Roman"/>
              </a:rPr>
              <a:t>Research and development costs</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pertain to expenditures incurred to develop </a:t>
            </a:r>
            <a:endParaRPr/>
          </a:p>
          <a:p>
            <a:pPr indent="-303212" lvl="1" marL="785812" marR="0" rtl="0" algn="l">
              <a:lnSpc>
                <a:spcPct val="10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new products and processes </a:t>
            </a:r>
            <a:endParaRPr/>
          </a:p>
          <a:p>
            <a:pPr indent="-361950" lvl="0" marL="361950" marR="0" rtl="0" algn="l">
              <a:lnSpc>
                <a:spcPct val="10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These costs are </a:t>
            </a:r>
            <a:r>
              <a:rPr b="1" i="0" lang="en-US" sz="3200" u="none" cap="none" strike="noStrike">
                <a:solidFill>
                  <a:srgbClr val="BC3700"/>
                </a:solidFill>
                <a:latin typeface="Times New Roman"/>
                <a:ea typeface="Times New Roman"/>
                <a:cs typeface="Times New Roman"/>
                <a:sym typeface="Times New Roman"/>
              </a:rPr>
              <a:t>not</a:t>
            </a:r>
            <a:r>
              <a:rPr b="1" i="0" lang="en-US" sz="3200" u="none" cap="none" strike="noStrike">
                <a:solidFill>
                  <a:schemeClr val="dk1"/>
                </a:solidFill>
                <a:latin typeface="Times New Roman"/>
                <a:ea typeface="Times New Roman"/>
                <a:cs typeface="Times New Roman"/>
                <a:sym typeface="Times New Roman"/>
              </a:rPr>
              <a:t> intangible costs</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recorded as an expense when incurred</a:t>
            </a:r>
            <a:endParaRPr/>
          </a:p>
        </p:txBody>
      </p:sp>
      <p:pic>
        <p:nvPicPr>
          <p:cNvPr id="599" name="Google Shape;599;p56"/>
          <p:cNvPicPr preferRelativeResize="0"/>
          <p:nvPr/>
        </p:nvPicPr>
        <p:blipFill rotWithShape="1">
          <a:blip r:embed="rId3">
            <a:alphaModFix/>
          </a:blip>
          <a:srcRect b="0" l="0" r="0" t="0"/>
          <a:stretch/>
        </p:blipFill>
        <p:spPr>
          <a:xfrm>
            <a:off x="5867400" y="5638800"/>
            <a:ext cx="2667000" cy="1676400"/>
          </a:xfrm>
          <a:prstGeom prst="rect">
            <a:avLst/>
          </a:prstGeom>
          <a:noFill/>
          <a:ln>
            <a:noFill/>
          </a:ln>
        </p:spPr>
      </p:pic>
      <p:pic>
        <p:nvPicPr>
          <p:cNvPr id="600" name="Google Shape;600;p56"/>
          <p:cNvPicPr preferRelativeResize="0"/>
          <p:nvPr/>
        </p:nvPicPr>
        <p:blipFill rotWithShape="1">
          <a:blip r:embed="rId4">
            <a:alphaModFix/>
          </a:blip>
          <a:srcRect b="0" l="0" r="0" t="0"/>
          <a:stretch/>
        </p:blipFill>
        <p:spPr>
          <a:xfrm>
            <a:off x="1371600" y="5638800"/>
            <a:ext cx="2286000" cy="1665287"/>
          </a:xfrm>
          <a:prstGeom prst="rect">
            <a:avLst/>
          </a:prstGeom>
          <a:noFill/>
          <a:ln>
            <a:noFill/>
          </a:ln>
        </p:spPr>
      </p:pic>
      <p:sp>
        <p:nvSpPr>
          <p:cNvPr id="601" name="Google Shape;601;p56"/>
          <p:cNvSpPr txBox="1"/>
          <p:nvPr/>
        </p:nvSpPr>
        <p:spPr>
          <a:xfrm>
            <a:off x="1392237" y="209550"/>
            <a:ext cx="6816725" cy="13081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RESEARCH AND DEVELOPMENT COSTS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8">
                                            <p:txEl>
                                              <p:pRg end="0" st="0"/>
                                            </p:txEl>
                                          </p:spTgt>
                                        </p:tgtEl>
                                        <p:attrNameLst>
                                          <p:attrName>style.visibility</p:attrName>
                                        </p:attrNameLst>
                                      </p:cBhvr>
                                      <p:to>
                                        <p:strVal val="visible"/>
                                      </p:to>
                                    </p:set>
                                    <p:anim calcmode="lin" valueType="num">
                                      <p:cBhvr additive="base">
                                        <p:cTn dur="500"/>
                                        <p:tgtEl>
                                          <p:spTgt spid="59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8">
                                            <p:txEl>
                                              <p:pRg end="1" st="1"/>
                                            </p:txEl>
                                          </p:spTgt>
                                        </p:tgtEl>
                                        <p:attrNameLst>
                                          <p:attrName>style.visibility</p:attrName>
                                        </p:attrNameLst>
                                      </p:cBhvr>
                                      <p:to>
                                        <p:strVal val="visible"/>
                                      </p:to>
                                    </p:set>
                                    <p:anim calcmode="lin" valueType="num">
                                      <p:cBhvr additive="base">
                                        <p:cTn dur="500"/>
                                        <p:tgtEl>
                                          <p:spTgt spid="59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8">
                                            <p:txEl>
                                              <p:pRg end="2" st="2"/>
                                            </p:txEl>
                                          </p:spTgt>
                                        </p:tgtEl>
                                        <p:attrNameLst>
                                          <p:attrName>style.visibility</p:attrName>
                                        </p:attrNameLst>
                                      </p:cBhvr>
                                      <p:to>
                                        <p:strVal val="visible"/>
                                      </p:to>
                                    </p:set>
                                    <p:anim calcmode="lin" valueType="num">
                                      <p:cBhvr additive="base">
                                        <p:cTn dur="500"/>
                                        <p:tgtEl>
                                          <p:spTgt spid="59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8">
                                            <p:txEl>
                                              <p:pRg end="3" st="3"/>
                                            </p:txEl>
                                          </p:spTgt>
                                        </p:tgtEl>
                                        <p:attrNameLst>
                                          <p:attrName>style.visibility</p:attrName>
                                        </p:attrNameLst>
                                      </p:cBhvr>
                                      <p:to>
                                        <p:strVal val="visible"/>
                                      </p:to>
                                    </p:set>
                                    <p:anim calcmode="lin" valueType="num">
                                      <p:cBhvr additive="base">
                                        <p:cTn dur="500"/>
                                        <p:tgtEl>
                                          <p:spTgt spid="59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8">
                                            <p:txEl>
                                              <p:pRg end="4" st="4"/>
                                            </p:txEl>
                                          </p:spTgt>
                                        </p:tgtEl>
                                        <p:attrNameLst>
                                          <p:attrName>style.visibility</p:attrName>
                                        </p:attrNameLst>
                                      </p:cBhvr>
                                      <p:to>
                                        <p:strVal val="visible"/>
                                      </p:to>
                                    </p:set>
                                    <p:anim calcmode="lin" valueType="num">
                                      <p:cBhvr additive="base">
                                        <p:cTn dur="500"/>
                                        <p:tgtEl>
                                          <p:spTgt spid="598">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5" name="Shape 605"/>
        <p:cNvGrpSpPr/>
        <p:nvPr/>
      </p:nvGrpSpPr>
      <p:grpSpPr>
        <a:xfrm>
          <a:off x="0" y="0"/>
          <a:ext cx="0" cy="0"/>
          <a:chOff x="0" y="0"/>
          <a:chExt cx="0" cy="0"/>
        </a:xfrm>
      </p:grpSpPr>
      <p:sp>
        <p:nvSpPr>
          <p:cNvPr id="606" name="Google Shape;606;p57"/>
          <p:cNvSpPr txBox="1"/>
          <p:nvPr>
            <p:ph idx="1" type="body"/>
          </p:nvPr>
        </p:nvSpPr>
        <p:spPr>
          <a:xfrm>
            <a:off x="758825" y="1903412"/>
            <a:ext cx="8158162" cy="5070475"/>
          </a:xfrm>
          <a:prstGeom prst="rect">
            <a:avLst/>
          </a:prstGeom>
          <a:noFill/>
          <a:ln>
            <a:noFill/>
          </a:ln>
        </p:spPr>
        <p:txBody>
          <a:bodyPr anchorCtr="0" anchor="t" bIns="47600" lIns="96800" spcFirstLastPara="1" rIns="96800" wrap="square" tIns="47600">
            <a:noAutofit/>
          </a:bodyPr>
          <a:lstStyle/>
          <a:p>
            <a:pPr indent="-361950" lvl="0" marL="361950" marR="0" rtl="0" algn="l">
              <a:lnSpc>
                <a:spcPct val="90000"/>
              </a:lnSpc>
              <a:spcBef>
                <a:spcPts val="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Plant assets and natural resources</a:t>
            </a:r>
            <a:endParaRPr/>
          </a:p>
          <a:p>
            <a:pPr indent="-303212" lvl="1" marL="785812" marR="0" rtl="0" algn="l">
              <a:lnSpc>
                <a:spcPct val="9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Under “</a:t>
            </a:r>
            <a:r>
              <a:rPr b="1" i="0" lang="en-US" sz="2500" u="none" cap="none" strike="noStrike">
                <a:solidFill>
                  <a:srgbClr val="BC3700"/>
                </a:solidFill>
                <a:latin typeface="Times New Roman"/>
                <a:ea typeface="Times New Roman"/>
                <a:cs typeface="Times New Roman"/>
                <a:sym typeface="Times New Roman"/>
              </a:rPr>
              <a:t>property, plant, and equipment</a:t>
            </a:r>
            <a:r>
              <a:rPr b="1" i="0" lang="en-US" sz="2500" u="none" cap="none" strike="noStrike">
                <a:solidFill>
                  <a:schemeClr val="dk1"/>
                </a:solidFill>
                <a:latin typeface="Times New Roman"/>
                <a:ea typeface="Times New Roman"/>
                <a:cs typeface="Times New Roman"/>
                <a:sym typeface="Times New Roman"/>
              </a:rPr>
              <a:t>” in the balance sheet</a:t>
            </a:r>
            <a:endParaRPr/>
          </a:p>
          <a:p>
            <a:pPr indent="-303212" lvl="1" marL="785812" marR="0" rtl="0" algn="l">
              <a:lnSpc>
                <a:spcPct val="9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Major classes of assets, such as land, buildings, and equipment, and accumulated depreciation by major classes or in total should be </a:t>
            </a:r>
            <a:r>
              <a:rPr b="1" i="0" lang="en-US" sz="2500" u="none" cap="none" strike="noStrike">
                <a:solidFill>
                  <a:srgbClr val="BC3700"/>
                </a:solidFill>
                <a:latin typeface="Times New Roman"/>
                <a:ea typeface="Times New Roman"/>
                <a:cs typeface="Times New Roman"/>
                <a:sym typeface="Times New Roman"/>
              </a:rPr>
              <a:t>disclosed</a:t>
            </a:r>
            <a:endParaRPr/>
          </a:p>
          <a:p>
            <a:pPr indent="-303212" lvl="1" marL="785812" marR="0" rtl="0" algn="l">
              <a:lnSpc>
                <a:spcPct val="90000"/>
              </a:lnSpc>
              <a:spcBef>
                <a:spcPts val="500"/>
              </a:spcBef>
              <a:spcAft>
                <a:spcPts val="0"/>
              </a:spcAft>
              <a:buClr>
                <a:srgbClr val="BC3700"/>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Depreciation and amortization </a:t>
            </a:r>
            <a:r>
              <a:rPr b="1" i="0" lang="en-US" sz="2500" u="none" cap="none" strike="noStrike">
                <a:solidFill>
                  <a:srgbClr val="BC3700"/>
                </a:solidFill>
                <a:latin typeface="Times New Roman"/>
                <a:ea typeface="Times New Roman"/>
                <a:cs typeface="Times New Roman"/>
                <a:sym typeface="Times New Roman"/>
              </a:rPr>
              <a:t>methods</a:t>
            </a:r>
            <a:r>
              <a:rPr b="1" i="0" lang="en-US" sz="2500" u="none" cap="none" strike="noStrike">
                <a:solidFill>
                  <a:schemeClr val="dk1"/>
                </a:solidFill>
                <a:latin typeface="Times New Roman"/>
                <a:ea typeface="Times New Roman"/>
                <a:cs typeface="Times New Roman"/>
                <a:sym typeface="Times New Roman"/>
              </a:rPr>
              <a:t> that were used should be </a:t>
            </a:r>
            <a:r>
              <a:rPr b="1" i="0" lang="en-US" sz="2500" u="none" cap="none" strike="noStrike">
                <a:solidFill>
                  <a:srgbClr val="BC3700"/>
                </a:solidFill>
                <a:latin typeface="Times New Roman"/>
                <a:ea typeface="Times New Roman"/>
                <a:cs typeface="Times New Roman"/>
                <a:sym typeface="Times New Roman"/>
              </a:rPr>
              <a:t>described.</a:t>
            </a:r>
            <a:r>
              <a:rPr b="1" i="0" lang="en-US" sz="2500" u="none" cap="none" strike="noStrike">
                <a:solidFill>
                  <a:schemeClr val="dk1"/>
                </a:solidFill>
                <a:latin typeface="Times New Roman"/>
                <a:ea typeface="Times New Roman"/>
                <a:cs typeface="Times New Roman"/>
                <a:sym typeface="Times New Roman"/>
              </a:rPr>
              <a:t> Finally, the </a:t>
            </a:r>
            <a:r>
              <a:rPr b="1" i="0" lang="en-US" sz="2500" u="none" cap="none" strike="noStrike">
                <a:solidFill>
                  <a:srgbClr val="BC3700"/>
                </a:solidFill>
                <a:latin typeface="Times New Roman"/>
                <a:ea typeface="Times New Roman"/>
                <a:cs typeface="Times New Roman"/>
                <a:sym typeface="Times New Roman"/>
              </a:rPr>
              <a:t>amount</a:t>
            </a:r>
            <a:r>
              <a:rPr b="1" i="0" lang="en-US" sz="2500" u="none" cap="none" strike="noStrike">
                <a:solidFill>
                  <a:schemeClr val="dk1"/>
                </a:solidFill>
                <a:latin typeface="Times New Roman"/>
                <a:ea typeface="Times New Roman"/>
                <a:cs typeface="Times New Roman"/>
                <a:sym typeface="Times New Roman"/>
              </a:rPr>
              <a:t> of depreciation and amortization expense for the period </a:t>
            </a:r>
            <a:r>
              <a:rPr b="1" i="0" lang="en-US" sz="2500" u="none" cap="none" strike="noStrike">
                <a:solidFill>
                  <a:srgbClr val="C7150A"/>
                </a:solidFill>
                <a:latin typeface="Times New Roman"/>
                <a:ea typeface="Times New Roman"/>
                <a:cs typeface="Times New Roman"/>
                <a:sym typeface="Times New Roman"/>
              </a:rPr>
              <a:t>should be</a:t>
            </a:r>
            <a:r>
              <a:rPr b="1" i="0" lang="en-US" sz="2500" u="none" cap="none" strike="noStrike">
                <a:solidFill>
                  <a:schemeClr val="dk1"/>
                </a:solidFill>
                <a:latin typeface="Times New Roman"/>
                <a:ea typeface="Times New Roman"/>
                <a:cs typeface="Times New Roman"/>
                <a:sym typeface="Times New Roman"/>
              </a:rPr>
              <a:t> </a:t>
            </a:r>
            <a:r>
              <a:rPr b="1" i="0" lang="en-US" sz="2500" u="none" cap="none" strike="noStrike">
                <a:solidFill>
                  <a:srgbClr val="BC3700"/>
                </a:solidFill>
                <a:latin typeface="Times New Roman"/>
                <a:ea typeface="Times New Roman"/>
                <a:cs typeface="Times New Roman"/>
                <a:sym typeface="Times New Roman"/>
              </a:rPr>
              <a:t>disclosed</a:t>
            </a:r>
            <a:endParaRPr b="1" i="0" sz="2500" u="none" cap="none" strike="noStrike">
              <a:solidFill>
                <a:schemeClr val="dk1"/>
              </a:solidFill>
              <a:latin typeface="Times New Roman"/>
              <a:ea typeface="Times New Roman"/>
              <a:cs typeface="Times New Roman"/>
              <a:sym typeface="Times New Roman"/>
            </a:endParaRPr>
          </a:p>
          <a:p>
            <a:pPr indent="-361950" lvl="0" marL="361950" marR="0" rtl="0" algn="l">
              <a:lnSpc>
                <a:spcPct val="90000"/>
              </a:lnSpc>
              <a:spcBef>
                <a:spcPts val="580"/>
              </a:spcBef>
              <a:spcAft>
                <a:spcPts val="0"/>
              </a:spcAft>
              <a:buClr>
                <a:srgbClr val="BC3700"/>
              </a:buClr>
              <a:buSzPts val="2900"/>
              <a:buFont typeface="Times New Roman"/>
              <a:buChar char="•"/>
            </a:pPr>
            <a:r>
              <a:rPr b="1" i="0" lang="en-US" sz="2900" u="none" cap="none" strike="noStrike">
                <a:solidFill>
                  <a:schemeClr val="dk1"/>
                </a:solidFill>
                <a:latin typeface="Times New Roman"/>
                <a:ea typeface="Times New Roman"/>
                <a:cs typeface="Times New Roman"/>
                <a:sym typeface="Times New Roman"/>
              </a:rPr>
              <a:t>Intangibles are shown separately under </a:t>
            </a:r>
            <a:r>
              <a:rPr b="1" i="0" lang="en-US" sz="2900" u="none" cap="none" strike="noStrike">
                <a:solidFill>
                  <a:srgbClr val="BC3700"/>
                </a:solidFill>
                <a:latin typeface="Times New Roman"/>
                <a:ea typeface="Times New Roman"/>
                <a:cs typeface="Times New Roman"/>
                <a:sym typeface="Times New Roman"/>
              </a:rPr>
              <a:t>intangible assets</a:t>
            </a:r>
            <a:endParaRPr/>
          </a:p>
          <a:p>
            <a:pPr indent="-177800" lvl="0" marL="361950" marR="0" rtl="0" algn="l">
              <a:lnSpc>
                <a:spcPct val="90000"/>
              </a:lnSpc>
              <a:spcBef>
                <a:spcPts val="580"/>
              </a:spcBef>
              <a:spcAft>
                <a:spcPts val="0"/>
              </a:spcAft>
              <a:buClr>
                <a:srgbClr val="BC3700"/>
              </a:buClr>
              <a:buSzPts val="2900"/>
              <a:buFont typeface="Arial"/>
              <a:buNone/>
            </a:pPr>
            <a:r>
              <a:t/>
            </a:r>
            <a:endParaRPr b="1" i="0" sz="2900" u="none" cap="none" strike="noStrike">
              <a:solidFill>
                <a:schemeClr val="dk1"/>
              </a:solidFill>
              <a:latin typeface="Times New Roman"/>
              <a:ea typeface="Times New Roman"/>
              <a:cs typeface="Times New Roman"/>
              <a:sym typeface="Times New Roman"/>
            </a:endParaRPr>
          </a:p>
          <a:p>
            <a:pPr indent="-177800" lvl="0" marL="361950" marR="0" rtl="0" algn="l">
              <a:lnSpc>
                <a:spcPct val="100000"/>
              </a:lnSpc>
              <a:spcBef>
                <a:spcPts val="580"/>
              </a:spcBef>
              <a:spcAft>
                <a:spcPts val="0"/>
              </a:spcAft>
              <a:buClr>
                <a:schemeClr val="dk1"/>
              </a:buClr>
              <a:buSzPts val="2900"/>
              <a:buFont typeface="Arial"/>
              <a:buNone/>
            </a:pPr>
            <a:r>
              <a:t/>
            </a:r>
            <a:endParaRPr b="1" i="0" sz="2900" u="none">
              <a:solidFill>
                <a:schemeClr val="dk1"/>
              </a:solidFill>
              <a:latin typeface="Times New Roman"/>
              <a:ea typeface="Times New Roman"/>
              <a:cs typeface="Times New Roman"/>
              <a:sym typeface="Times New Roman"/>
            </a:endParaRPr>
          </a:p>
        </p:txBody>
      </p:sp>
      <p:sp>
        <p:nvSpPr>
          <p:cNvPr id="607" name="Google Shape;607;p57"/>
          <p:cNvSpPr txBox="1"/>
          <p:nvPr/>
        </p:nvSpPr>
        <p:spPr>
          <a:xfrm>
            <a:off x="0" y="209550"/>
            <a:ext cx="9601200" cy="2133600"/>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FINANCIAL STATEMENT PRESENTATION</a:t>
            </a:r>
            <a:endParaRPr/>
          </a:p>
          <a:p>
            <a:pPr indent="0" lvl="0" marL="0" marR="0" rtl="0" algn="ctr">
              <a:lnSpc>
                <a:spcPct val="100000"/>
              </a:lnSpc>
              <a:spcBef>
                <a:spcPts val="90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STUDY OBJECTIVE</a:t>
            </a:r>
            <a:r>
              <a:rPr b="1" i="0" lang="en-US" sz="1800" u="none">
                <a:solidFill>
                  <a:srgbClr val="790015"/>
                </a:solidFill>
                <a:latin typeface="Arial"/>
                <a:ea typeface="Arial"/>
                <a:cs typeface="Arial"/>
                <a:sym typeface="Arial"/>
              </a:rPr>
              <a:t> </a:t>
            </a:r>
            <a:r>
              <a:rPr b="1" i="0" lang="en-US" sz="1800" u="none">
                <a:solidFill>
                  <a:srgbClr val="FC0128"/>
                </a:solidFill>
                <a:latin typeface="Arial"/>
                <a:ea typeface="Arial"/>
                <a:cs typeface="Arial"/>
                <a:sym typeface="Arial"/>
              </a:rPr>
              <a:t>9</a:t>
            </a:r>
            <a:endParaRPr/>
          </a:p>
          <a:p>
            <a:pPr indent="0" lvl="0" marL="0" marR="0" rtl="0" algn="l">
              <a:lnSpc>
                <a:spcPct val="100000"/>
              </a:lnSpc>
              <a:spcBef>
                <a:spcPts val="0"/>
              </a:spcBef>
              <a:spcAft>
                <a:spcPts val="0"/>
              </a:spcAft>
              <a:buNone/>
            </a:pPr>
            <a:r>
              <a:t/>
            </a:r>
            <a:endParaRPr b="1" i="0" sz="1800" u="none">
              <a:solidFill>
                <a:srgbClr val="FC0128"/>
              </a:solidFill>
              <a:latin typeface="Arial"/>
              <a:ea typeface="Arial"/>
              <a:cs typeface="Arial"/>
              <a:sym typeface="Arial"/>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06">
                                            <p:txEl>
                                              <p:pRg end="0" st="0"/>
                                            </p:txEl>
                                          </p:spTgt>
                                        </p:tgtEl>
                                        <p:attrNameLst>
                                          <p:attrName>style.visibility</p:attrName>
                                        </p:attrNameLst>
                                      </p:cBhvr>
                                      <p:to>
                                        <p:strVal val="visible"/>
                                      </p:to>
                                    </p:set>
                                    <p:anim calcmode="lin" valueType="num">
                                      <p:cBhvr additive="base">
                                        <p:cTn dur="500"/>
                                        <p:tgtEl>
                                          <p:spTgt spid="60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06">
                                            <p:txEl>
                                              <p:pRg end="1" st="1"/>
                                            </p:txEl>
                                          </p:spTgt>
                                        </p:tgtEl>
                                        <p:attrNameLst>
                                          <p:attrName>style.visibility</p:attrName>
                                        </p:attrNameLst>
                                      </p:cBhvr>
                                      <p:to>
                                        <p:strVal val="visible"/>
                                      </p:to>
                                    </p:set>
                                    <p:anim calcmode="lin" valueType="num">
                                      <p:cBhvr additive="base">
                                        <p:cTn dur="500"/>
                                        <p:tgtEl>
                                          <p:spTgt spid="60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06">
                                            <p:txEl>
                                              <p:pRg end="2" st="2"/>
                                            </p:txEl>
                                          </p:spTgt>
                                        </p:tgtEl>
                                        <p:attrNameLst>
                                          <p:attrName>style.visibility</p:attrName>
                                        </p:attrNameLst>
                                      </p:cBhvr>
                                      <p:to>
                                        <p:strVal val="visible"/>
                                      </p:to>
                                    </p:set>
                                    <p:anim calcmode="lin" valueType="num">
                                      <p:cBhvr additive="base">
                                        <p:cTn dur="500"/>
                                        <p:tgtEl>
                                          <p:spTgt spid="60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06">
                                            <p:txEl>
                                              <p:pRg end="3" st="3"/>
                                            </p:txEl>
                                          </p:spTgt>
                                        </p:tgtEl>
                                        <p:attrNameLst>
                                          <p:attrName>style.visibility</p:attrName>
                                        </p:attrNameLst>
                                      </p:cBhvr>
                                      <p:to>
                                        <p:strVal val="visible"/>
                                      </p:to>
                                    </p:set>
                                    <p:anim calcmode="lin" valueType="num">
                                      <p:cBhvr additive="base">
                                        <p:cTn dur="500"/>
                                        <p:tgtEl>
                                          <p:spTgt spid="606">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06">
                                            <p:txEl>
                                              <p:pRg end="4" st="4"/>
                                            </p:txEl>
                                          </p:spTgt>
                                        </p:tgtEl>
                                        <p:attrNameLst>
                                          <p:attrName>style.visibility</p:attrName>
                                        </p:attrNameLst>
                                      </p:cBhvr>
                                      <p:to>
                                        <p:strVal val="visible"/>
                                      </p:to>
                                    </p:set>
                                    <p:anim calcmode="lin" valueType="num">
                                      <p:cBhvr additive="base">
                                        <p:cTn dur="500"/>
                                        <p:tgtEl>
                                          <p:spTgt spid="606">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06">
                                            <p:txEl>
                                              <p:pRg end="5" st="5"/>
                                            </p:txEl>
                                          </p:spTgt>
                                        </p:tgtEl>
                                        <p:attrNameLst>
                                          <p:attrName>style.visibility</p:attrName>
                                        </p:attrNameLst>
                                      </p:cBhvr>
                                      <p:to>
                                        <p:strVal val="visible"/>
                                      </p:to>
                                    </p:set>
                                    <p:anim calcmode="lin" valueType="num">
                                      <p:cBhvr additive="base">
                                        <p:cTn dur="500"/>
                                        <p:tgtEl>
                                          <p:spTgt spid="606">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06">
                                            <p:txEl>
                                              <p:pRg end="6" st="6"/>
                                            </p:txEl>
                                          </p:spTgt>
                                        </p:tgtEl>
                                        <p:attrNameLst>
                                          <p:attrName>style.visibility</p:attrName>
                                        </p:attrNameLst>
                                      </p:cBhvr>
                                      <p:to>
                                        <p:strVal val="visible"/>
                                      </p:to>
                                    </p:set>
                                    <p:anim calcmode="lin" valueType="num">
                                      <p:cBhvr additive="base">
                                        <p:cTn dur="500"/>
                                        <p:tgtEl>
                                          <p:spTgt spid="606">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1" name="Shape 611"/>
        <p:cNvGrpSpPr/>
        <p:nvPr/>
      </p:nvGrpSpPr>
      <p:grpSpPr>
        <a:xfrm>
          <a:off x="0" y="0"/>
          <a:ext cx="0" cy="0"/>
          <a:chOff x="0" y="0"/>
          <a:chExt cx="0" cy="0"/>
        </a:xfrm>
      </p:grpSpPr>
      <p:sp>
        <p:nvSpPr>
          <p:cNvPr id="612" name="Google Shape;612;p58"/>
          <p:cNvSpPr txBox="1"/>
          <p:nvPr>
            <p:ph type="title"/>
          </p:nvPr>
        </p:nvSpPr>
        <p:spPr>
          <a:xfrm>
            <a:off x="796925" y="85725"/>
            <a:ext cx="8159750" cy="1708150"/>
          </a:xfrm>
          <a:prstGeom prst="rect">
            <a:avLst/>
          </a:prstGeom>
          <a:noFill/>
          <a:ln>
            <a:noFill/>
          </a:ln>
        </p:spPr>
        <p:txBody>
          <a:bodyPr anchorCtr="0" anchor="ctr" bIns="47600" lIns="96800" spcFirstLastPara="1" rIns="96800" wrap="square" tIns="47600">
            <a:noAutofit/>
          </a:bodyPr>
          <a:lstStyle/>
          <a:p>
            <a:pPr indent="0" lvl="0" marL="0" rtl="0" algn="ctr">
              <a:lnSpc>
                <a:spcPct val="75000"/>
              </a:lnSpc>
              <a:spcBef>
                <a:spcPts val="0"/>
              </a:spcBef>
              <a:spcAft>
                <a:spcPts val="0"/>
              </a:spcAft>
              <a:buClr>
                <a:srgbClr val="000099"/>
              </a:buClr>
              <a:buSzPts val="3100"/>
              <a:buFont typeface="Arial Black"/>
              <a:buNone/>
            </a:pPr>
            <a:r>
              <a:rPr b="1" i="0" lang="en-US" sz="3100" u="none">
                <a:solidFill>
                  <a:srgbClr val="000099"/>
                </a:solidFill>
                <a:latin typeface="Arial Black"/>
                <a:ea typeface="Arial Black"/>
                <a:cs typeface="Arial Black"/>
                <a:sym typeface="Arial Black"/>
              </a:rPr>
              <a:t>LANDS’ END’S PRESENTATION OF PROPERTY, PLANT, AND EQUIPMENT, AND INTANGIBLES</a:t>
            </a:r>
            <a:endParaRPr/>
          </a:p>
        </p:txBody>
      </p:sp>
      <p:sp>
        <p:nvSpPr>
          <p:cNvPr id="613" name="Google Shape;613;p58"/>
          <p:cNvSpPr txBox="1"/>
          <p:nvPr>
            <p:ph idx="1" type="body"/>
          </p:nvPr>
        </p:nvSpPr>
        <p:spPr>
          <a:xfrm>
            <a:off x="762000" y="1600200"/>
            <a:ext cx="8159750" cy="4389437"/>
          </a:xfrm>
          <a:prstGeom prst="rect">
            <a:avLst/>
          </a:prstGeom>
          <a:noFill/>
          <a:ln>
            <a:noFill/>
          </a:ln>
        </p:spPr>
        <p:txBody>
          <a:bodyPr anchorCtr="0" anchor="t" bIns="47600" lIns="96800" spcFirstLastPara="1" rIns="96800" wrap="square" tIns="47600">
            <a:noAutofit/>
          </a:bodyPr>
          <a:lstStyle/>
          <a:p>
            <a:pPr indent="-361950" lvl="0" marL="361950" marR="0" rtl="0" algn="l">
              <a:lnSpc>
                <a:spcPct val="100000"/>
              </a:lnSpc>
              <a:spcBef>
                <a:spcPts val="0"/>
              </a:spcBef>
              <a:spcAft>
                <a:spcPts val="0"/>
              </a:spcAft>
              <a:buClr>
                <a:schemeClr val="dk1"/>
              </a:buClr>
              <a:buSzPts val="2600"/>
              <a:buFont typeface="Arial"/>
              <a:buNone/>
            </a:pPr>
            <a:r>
              <a:rPr b="1" i="0" lang="en-US" sz="2600" u="none">
                <a:solidFill>
                  <a:schemeClr val="dk1"/>
                </a:solidFill>
                <a:latin typeface="Arial"/>
                <a:ea typeface="Arial"/>
                <a:cs typeface="Arial"/>
                <a:sym typeface="Arial"/>
              </a:rPr>
              <a:t>   The financial statement presentation of property, plant, and equipment by Lands’ End in its 2005 balance sheet is quite brief, as shown below:</a:t>
            </a:r>
            <a:endParaRPr/>
          </a:p>
        </p:txBody>
      </p:sp>
      <p:sp>
        <p:nvSpPr>
          <p:cNvPr id="614" name="Google Shape;614;p58"/>
          <p:cNvSpPr txBox="1"/>
          <p:nvPr/>
        </p:nvSpPr>
        <p:spPr>
          <a:xfrm>
            <a:off x="0" y="6618287"/>
            <a:ext cx="9356725" cy="6985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The notes to Lands’ End financial statements present greater details, namely, that “intangibles” contains goodwill and trademarks…</a:t>
            </a:r>
            <a:endParaRPr/>
          </a:p>
        </p:txBody>
      </p:sp>
      <p:sp>
        <p:nvSpPr>
          <p:cNvPr id="615" name="Google Shape;615;p58"/>
          <p:cNvSpPr/>
          <p:nvPr/>
        </p:nvSpPr>
        <p:spPr>
          <a:xfrm>
            <a:off x="762000" y="3124200"/>
            <a:ext cx="14287" cy="1587"/>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6" name="Google Shape;616;p58"/>
          <p:cNvSpPr/>
          <p:nvPr/>
        </p:nvSpPr>
        <p:spPr>
          <a:xfrm>
            <a:off x="8824912" y="3124200"/>
            <a:ext cx="14287" cy="1587"/>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7" name="Google Shape;617;p58"/>
          <p:cNvSpPr/>
          <p:nvPr/>
        </p:nvSpPr>
        <p:spPr>
          <a:xfrm>
            <a:off x="5405437" y="3124200"/>
            <a:ext cx="14287" cy="1587"/>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8" name="Google Shape;618;p58"/>
          <p:cNvSpPr/>
          <p:nvPr/>
        </p:nvSpPr>
        <p:spPr>
          <a:xfrm>
            <a:off x="7137400" y="3124200"/>
            <a:ext cx="14287" cy="1587"/>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9" name="Google Shape;619;p58"/>
          <p:cNvSpPr/>
          <p:nvPr/>
        </p:nvSpPr>
        <p:spPr>
          <a:xfrm>
            <a:off x="762000" y="6477000"/>
            <a:ext cx="14287" cy="15875"/>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0" name="Google Shape;620;p58"/>
          <p:cNvSpPr/>
          <p:nvPr/>
        </p:nvSpPr>
        <p:spPr>
          <a:xfrm>
            <a:off x="5405437" y="6477000"/>
            <a:ext cx="14287" cy="15875"/>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1" name="Google Shape;621;p58"/>
          <p:cNvSpPr/>
          <p:nvPr/>
        </p:nvSpPr>
        <p:spPr>
          <a:xfrm>
            <a:off x="7137400" y="6477000"/>
            <a:ext cx="14287" cy="15875"/>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2" name="Google Shape;622;p58"/>
          <p:cNvSpPr/>
          <p:nvPr/>
        </p:nvSpPr>
        <p:spPr>
          <a:xfrm>
            <a:off x="8824912" y="6477000"/>
            <a:ext cx="14287" cy="15875"/>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3" name="Google Shape;623;p58"/>
          <p:cNvSpPr/>
          <p:nvPr/>
        </p:nvSpPr>
        <p:spPr>
          <a:xfrm>
            <a:off x="8839200" y="3679825"/>
            <a:ext cx="14287" cy="17462"/>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4" name="Google Shape;624;p58"/>
          <p:cNvSpPr/>
          <p:nvPr/>
        </p:nvSpPr>
        <p:spPr>
          <a:xfrm>
            <a:off x="8839200" y="4792662"/>
            <a:ext cx="14287" cy="15875"/>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25" name="Google Shape;625;p58"/>
          <p:cNvGrpSpPr/>
          <p:nvPr/>
        </p:nvGrpSpPr>
        <p:grpSpPr>
          <a:xfrm>
            <a:off x="-228600" y="3124200"/>
            <a:ext cx="10115550" cy="3352800"/>
            <a:chOff x="480" y="1968"/>
            <a:chExt cx="5232" cy="2113"/>
          </a:xfrm>
        </p:grpSpPr>
        <p:sp>
          <p:nvSpPr>
            <p:cNvPr id="626" name="Google Shape;626;p58"/>
            <p:cNvSpPr/>
            <p:nvPr/>
          </p:nvSpPr>
          <p:spPr>
            <a:xfrm>
              <a:off x="480" y="1968"/>
              <a:ext cx="5232" cy="536"/>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7" name="Google Shape;627;p58"/>
            <p:cNvSpPr/>
            <p:nvPr/>
          </p:nvSpPr>
          <p:spPr>
            <a:xfrm>
              <a:off x="480" y="2496"/>
              <a:ext cx="5232" cy="1584"/>
            </a:xfrm>
            <a:prstGeom prst="rect">
              <a:avLst/>
            </a:prstGeom>
            <a:solidFill>
              <a:srgbClr val="FFFF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8" name="Google Shape;628;p58"/>
            <p:cNvSpPr txBox="1"/>
            <p:nvPr/>
          </p:nvSpPr>
          <p:spPr>
            <a:xfrm>
              <a:off x="3696" y="2504"/>
              <a:ext cx="786"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Jan. 28, 2005</a:t>
              </a:r>
              <a:endParaRPr/>
            </a:p>
          </p:txBody>
        </p:sp>
        <p:sp>
          <p:nvSpPr>
            <p:cNvPr id="629" name="Google Shape;629;p58"/>
            <p:cNvSpPr txBox="1"/>
            <p:nvPr/>
          </p:nvSpPr>
          <p:spPr>
            <a:xfrm>
              <a:off x="4775" y="2504"/>
              <a:ext cx="755"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Jan. 29, 2004</a:t>
              </a:r>
              <a:endParaRPr/>
            </a:p>
          </p:txBody>
        </p:sp>
        <p:sp>
          <p:nvSpPr>
            <p:cNvPr id="630" name="Google Shape;630;p58"/>
            <p:cNvSpPr txBox="1"/>
            <p:nvPr/>
          </p:nvSpPr>
          <p:spPr>
            <a:xfrm>
              <a:off x="652" y="2679"/>
              <a:ext cx="2100"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Property, plant and equipment, at costs</a:t>
              </a:r>
              <a:endParaRPr/>
            </a:p>
          </p:txBody>
        </p:sp>
        <p:sp>
          <p:nvSpPr>
            <p:cNvPr id="631" name="Google Shape;631;p58"/>
            <p:cNvSpPr txBox="1"/>
            <p:nvPr/>
          </p:nvSpPr>
          <p:spPr>
            <a:xfrm>
              <a:off x="602" y="2854"/>
              <a:ext cx="1181"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Land and buildings</a:t>
              </a:r>
              <a:endParaRPr/>
            </a:p>
          </p:txBody>
        </p:sp>
        <p:sp>
          <p:nvSpPr>
            <p:cNvPr id="632" name="Google Shape;632;p58"/>
            <p:cNvSpPr txBox="1"/>
            <p:nvPr/>
          </p:nvSpPr>
          <p:spPr>
            <a:xfrm>
              <a:off x="4023" y="2854"/>
              <a:ext cx="437"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102,776</a:t>
              </a:r>
              <a:endParaRPr/>
            </a:p>
          </p:txBody>
        </p:sp>
        <p:sp>
          <p:nvSpPr>
            <p:cNvPr id="633" name="Google Shape;633;p58"/>
            <p:cNvSpPr txBox="1"/>
            <p:nvPr/>
          </p:nvSpPr>
          <p:spPr>
            <a:xfrm>
              <a:off x="5102" y="2854"/>
              <a:ext cx="406"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102,018</a:t>
              </a:r>
              <a:endParaRPr/>
            </a:p>
          </p:txBody>
        </p:sp>
        <p:sp>
          <p:nvSpPr>
            <p:cNvPr id="634" name="Google Shape;634;p58"/>
            <p:cNvSpPr txBox="1"/>
            <p:nvPr/>
          </p:nvSpPr>
          <p:spPr>
            <a:xfrm>
              <a:off x="622" y="3029"/>
              <a:ext cx="1417"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Fixtures and equipment</a:t>
              </a:r>
              <a:endParaRPr/>
            </a:p>
          </p:txBody>
        </p:sp>
        <p:sp>
          <p:nvSpPr>
            <p:cNvPr id="635" name="Google Shape;635;p58"/>
            <p:cNvSpPr txBox="1"/>
            <p:nvPr/>
          </p:nvSpPr>
          <p:spPr>
            <a:xfrm>
              <a:off x="4023" y="3029"/>
              <a:ext cx="437"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175,910</a:t>
              </a:r>
              <a:endParaRPr/>
            </a:p>
          </p:txBody>
        </p:sp>
        <p:sp>
          <p:nvSpPr>
            <p:cNvPr id="636" name="Google Shape;636;p58"/>
            <p:cNvSpPr txBox="1"/>
            <p:nvPr/>
          </p:nvSpPr>
          <p:spPr>
            <a:xfrm>
              <a:off x="5102" y="3029"/>
              <a:ext cx="406"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154,663</a:t>
              </a:r>
              <a:endParaRPr/>
            </a:p>
          </p:txBody>
        </p:sp>
        <p:sp>
          <p:nvSpPr>
            <p:cNvPr id="637" name="Google Shape;637;p58"/>
            <p:cNvSpPr txBox="1"/>
            <p:nvPr/>
          </p:nvSpPr>
          <p:spPr>
            <a:xfrm>
              <a:off x="629" y="3204"/>
              <a:ext cx="1506"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a:solidFill>
                    <a:srgbClr val="000000"/>
                  </a:solidFill>
                  <a:latin typeface="Arial"/>
                  <a:ea typeface="Arial"/>
                  <a:cs typeface="Arial"/>
                  <a:sym typeface="Arial"/>
                </a:rPr>
                <a:t>     </a:t>
              </a:r>
              <a:r>
                <a:rPr b="1" i="0" lang="en-US" sz="1700" u="none">
                  <a:solidFill>
                    <a:srgbClr val="000000"/>
                  </a:solidFill>
                  <a:latin typeface="Arial"/>
                  <a:ea typeface="Arial"/>
                  <a:cs typeface="Arial"/>
                  <a:sym typeface="Arial"/>
                </a:rPr>
                <a:t>Leasehold improvements</a:t>
              </a:r>
              <a:endParaRPr/>
            </a:p>
          </p:txBody>
        </p:sp>
        <p:sp>
          <p:nvSpPr>
            <p:cNvPr id="638" name="Google Shape;638;p58"/>
            <p:cNvSpPr txBox="1"/>
            <p:nvPr/>
          </p:nvSpPr>
          <p:spPr>
            <a:xfrm>
              <a:off x="4141" y="3204"/>
              <a:ext cx="312"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4,453</a:t>
              </a:r>
              <a:endParaRPr/>
            </a:p>
          </p:txBody>
        </p:sp>
        <p:sp>
          <p:nvSpPr>
            <p:cNvPr id="639" name="Google Shape;639;p58"/>
            <p:cNvSpPr txBox="1"/>
            <p:nvPr/>
          </p:nvSpPr>
          <p:spPr>
            <a:xfrm>
              <a:off x="5205" y="3204"/>
              <a:ext cx="312"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5,475</a:t>
              </a:r>
              <a:endParaRPr/>
            </a:p>
          </p:txBody>
        </p:sp>
        <p:sp>
          <p:nvSpPr>
            <p:cNvPr id="640" name="Google Shape;640;p58"/>
            <p:cNvSpPr txBox="1"/>
            <p:nvPr/>
          </p:nvSpPr>
          <p:spPr>
            <a:xfrm>
              <a:off x="645" y="3379"/>
              <a:ext cx="1907"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Total property, plant and equipment</a:t>
              </a:r>
              <a:endParaRPr/>
            </a:p>
          </p:txBody>
        </p:sp>
        <p:sp>
          <p:nvSpPr>
            <p:cNvPr id="641" name="Google Shape;641;p58"/>
            <p:cNvSpPr txBox="1"/>
            <p:nvPr/>
          </p:nvSpPr>
          <p:spPr>
            <a:xfrm>
              <a:off x="4023" y="3379"/>
              <a:ext cx="437"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283,139</a:t>
              </a:r>
              <a:endParaRPr/>
            </a:p>
          </p:txBody>
        </p:sp>
        <p:sp>
          <p:nvSpPr>
            <p:cNvPr id="642" name="Google Shape;642;p58"/>
            <p:cNvSpPr txBox="1"/>
            <p:nvPr/>
          </p:nvSpPr>
          <p:spPr>
            <a:xfrm>
              <a:off x="5129" y="3379"/>
              <a:ext cx="406"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262,156</a:t>
              </a:r>
              <a:endParaRPr/>
            </a:p>
          </p:txBody>
        </p:sp>
        <p:sp>
          <p:nvSpPr>
            <p:cNvPr id="643" name="Google Shape;643;p58"/>
            <p:cNvSpPr txBox="1"/>
            <p:nvPr/>
          </p:nvSpPr>
          <p:spPr>
            <a:xfrm>
              <a:off x="955" y="3555"/>
              <a:ext cx="2267"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Less: accumulated depr. and amort.</a:t>
              </a:r>
              <a:endParaRPr/>
            </a:p>
          </p:txBody>
        </p:sp>
        <p:sp>
          <p:nvSpPr>
            <p:cNvPr id="644" name="Google Shape;644;p58"/>
            <p:cNvSpPr txBox="1"/>
            <p:nvPr/>
          </p:nvSpPr>
          <p:spPr>
            <a:xfrm>
              <a:off x="4023" y="3555"/>
              <a:ext cx="437"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117,317</a:t>
              </a:r>
              <a:endParaRPr/>
            </a:p>
          </p:txBody>
        </p:sp>
        <p:sp>
          <p:nvSpPr>
            <p:cNvPr id="645" name="Google Shape;645;p58"/>
            <p:cNvSpPr txBox="1"/>
            <p:nvPr/>
          </p:nvSpPr>
          <p:spPr>
            <a:xfrm>
              <a:off x="5070" y="3555"/>
              <a:ext cx="468"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101,570</a:t>
              </a:r>
              <a:endParaRPr/>
            </a:p>
          </p:txBody>
        </p:sp>
        <p:sp>
          <p:nvSpPr>
            <p:cNvPr id="646" name="Google Shape;646;p58"/>
            <p:cNvSpPr txBox="1"/>
            <p:nvPr/>
          </p:nvSpPr>
          <p:spPr>
            <a:xfrm>
              <a:off x="644" y="3730"/>
              <a:ext cx="1845"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Property, plant and equipment,</a:t>
              </a:r>
              <a:r>
                <a:rPr b="0" i="0" lang="en-US" sz="1700" u="none">
                  <a:solidFill>
                    <a:srgbClr val="000000"/>
                  </a:solidFill>
                  <a:latin typeface="Arial"/>
                  <a:ea typeface="Arial"/>
                  <a:cs typeface="Arial"/>
                  <a:sym typeface="Arial"/>
                </a:rPr>
                <a:t> </a:t>
              </a:r>
              <a:r>
                <a:rPr b="1" i="0" lang="en-US" sz="1700" u="none">
                  <a:solidFill>
                    <a:srgbClr val="000000"/>
                  </a:solidFill>
                  <a:latin typeface="Arial"/>
                  <a:ea typeface="Arial"/>
                  <a:cs typeface="Arial"/>
                  <a:sym typeface="Arial"/>
                </a:rPr>
                <a:t>net</a:t>
              </a:r>
              <a:endParaRPr/>
            </a:p>
          </p:txBody>
        </p:sp>
        <p:sp>
          <p:nvSpPr>
            <p:cNvPr id="647" name="Google Shape;647;p58"/>
            <p:cNvSpPr txBox="1"/>
            <p:nvPr/>
          </p:nvSpPr>
          <p:spPr>
            <a:xfrm>
              <a:off x="4023" y="3730"/>
              <a:ext cx="437"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165,822</a:t>
              </a:r>
              <a:endParaRPr/>
            </a:p>
          </p:txBody>
        </p:sp>
        <p:sp>
          <p:nvSpPr>
            <p:cNvPr id="648" name="Google Shape;648;p58"/>
            <p:cNvSpPr txBox="1"/>
            <p:nvPr/>
          </p:nvSpPr>
          <p:spPr>
            <a:xfrm>
              <a:off x="5070" y="3730"/>
              <a:ext cx="468"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160,586</a:t>
              </a:r>
              <a:endParaRPr/>
            </a:p>
          </p:txBody>
        </p:sp>
        <p:sp>
          <p:nvSpPr>
            <p:cNvPr id="649" name="Google Shape;649;p58"/>
            <p:cNvSpPr txBox="1"/>
            <p:nvPr/>
          </p:nvSpPr>
          <p:spPr>
            <a:xfrm>
              <a:off x="583" y="3905"/>
              <a:ext cx="820"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Intangibles, net</a:t>
              </a:r>
              <a:endParaRPr/>
            </a:p>
          </p:txBody>
        </p:sp>
        <p:sp>
          <p:nvSpPr>
            <p:cNvPr id="650" name="Google Shape;650;p58"/>
            <p:cNvSpPr txBox="1"/>
            <p:nvPr/>
          </p:nvSpPr>
          <p:spPr>
            <a:xfrm>
              <a:off x="4221" y="3905"/>
              <a:ext cx="250"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966</a:t>
              </a:r>
              <a:endParaRPr/>
            </a:p>
          </p:txBody>
        </p:sp>
        <p:sp>
          <p:nvSpPr>
            <p:cNvPr id="651" name="Google Shape;651;p58"/>
            <p:cNvSpPr txBox="1"/>
            <p:nvPr/>
          </p:nvSpPr>
          <p:spPr>
            <a:xfrm>
              <a:off x="5173" y="3905"/>
              <a:ext cx="375"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1,030</a:t>
              </a:r>
              <a:endParaRPr/>
            </a:p>
          </p:txBody>
        </p:sp>
        <p:sp>
          <p:nvSpPr>
            <p:cNvPr id="652" name="Google Shape;652;p58"/>
            <p:cNvSpPr txBox="1"/>
            <p:nvPr/>
          </p:nvSpPr>
          <p:spPr>
            <a:xfrm>
              <a:off x="3103" y="1978"/>
              <a:ext cx="1" cy="15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3" name="Google Shape;653;p58"/>
            <p:cNvSpPr txBox="1"/>
            <p:nvPr/>
          </p:nvSpPr>
          <p:spPr>
            <a:xfrm>
              <a:off x="2493" y="2153"/>
              <a:ext cx="1207"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Balance Sheet - Partial</a:t>
              </a:r>
              <a:endParaRPr/>
            </a:p>
          </p:txBody>
        </p:sp>
        <p:sp>
          <p:nvSpPr>
            <p:cNvPr id="654" name="Google Shape;654;p58"/>
            <p:cNvSpPr txBox="1"/>
            <p:nvPr/>
          </p:nvSpPr>
          <p:spPr>
            <a:xfrm>
              <a:off x="2245" y="2329"/>
              <a:ext cx="1810" cy="16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December 31, 2005 (in thousands)</a:t>
              </a:r>
              <a:endParaRPr/>
            </a:p>
          </p:txBody>
        </p:sp>
        <p:cxnSp>
          <p:nvCxnSpPr>
            <p:cNvPr id="655" name="Google Shape;655;p58"/>
            <p:cNvCxnSpPr/>
            <p:nvPr/>
          </p:nvCxnSpPr>
          <p:spPr>
            <a:xfrm>
              <a:off x="3405" y="2669"/>
              <a:ext cx="2163" cy="1"/>
            </a:xfrm>
            <a:prstGeom prst="straightConnector1">
              <a:avLst/>
            </a:prstGeom>
            <a:solidFill>
              <a:srgbClr val="FFFFFF"/>
            </a:solidFill>
            <a:ln cap="flat" cmpd="sng" w="9525">
              <a:solidFill>
                <a:srgbClr val="000000"/>
              </a:solidFill>
              <a:prstDash val="solid"/>
              <a:miter lim="800000"/>
              <a:headEnd len="med" w="med" type="none"/>
              <a:tailEnd len="med" w="med" type="none"/>
            </a:ln>
          </p:spPr>
        </p:cxnSp>
        <p:sp>
          <p:nvSpPr>
            <p:cNvPr id="656" name="Google Shape;656;p58"/>
            <p:cNvSpPr/>
            <p:nvPr/>
          </p:nvSpPr>
          <p:spPr>
            <a:xfrm>
              <a:off x="3405" y="2669"/>
              <a:ext cx="2163" cy="1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57" name="Google Shape;657;p58"/>
            <p:cNvCxnSpPr/>
            <p:nvPr/>
          </p:nvCxnSpPr>
          <p:spPr>
            <a:xfrm>
              <a:off x="3405" y="3369"/>
              <a:ext cx="2163" cy="1"/>
            </a:xfrm>
            <a:prstGeom prst="straightConnector1">
              <a:avLst/>
            </a:prstGeom>
            <a:solidFill>
              <a:srgbClr val="FFFFFF"/>
            </a:solidFill>
            <a:ln cap="flat" cmpd="sng" w="9525">
              <a:solidFill>
                <a:srgbClr val="000000"/>
              </a:solidFill>
              <a:prstDash val="solid"/>
              <a:miter lim="800000"/>
              <a:headEnd len="med" w="med" type="none"/>
              <a:tailEnd len="med" w="med" type="none"/>
            </a:ln>
          </p:spPr>
        </p:cxnSp>
        <p:sp>
          <p:nvSpPr>
            <p:cNvPr id="658" name="Google Shape;658;p58"/>
            <p:cNvSpPr/>
            <p:nvPr/>
          </p:nvSpPr>
          <p:spPr>
            <a:xfrm>
              <a:off x="3405" y="3369"/>
              <a:ext cx="2163" cy="1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59" name="Google Shape;659;p58"/>
            <p:cNvCxnSpPr/>
            <p:nvPr/>
          </p:nvCxnSpPr>
          <p:spPr>
            <a:xfrm>
              <a:off x="3405" y="3719"/>
              <a:ext cx="2163" cy="1"/>
            </a:xfrm>
            <a:prstGeom prst="straightConnector1">
              <a:avLst/>
            </a:prstGeom>
            <a:solidFill>
              <a:srgbClr val="FFFFFF"/>
            </a:solidFill>
            <a:ln cap="flat" cmpd="sng" w="9525">
              <a:solidFill>
                <a:srgbClr val="000000"/>
              </a:solidFill>
              <a:prstDash val="solid"/>
              <a:miter lim="800000"/>
              <a:headEnd len="med" w="med" type="none"/>
              <a:tailEnd len="med" w="med" type="none"/>
            </a:ln>
          </p:spPr>
        </p:cxnSp>
        <p:sp>
          <p:nvSpPr>
            <p:cNvPr id="660" name="Google Shape;660;p58"/>
            <p:cNvSpPr/>
            <p:nvPr/>
          </p:nvSpPr>
          <p:spPr>
            <a:xfrm>
              <a:off x="3405" y="3719"/>
              <a:ext cx="2163" cy="11"/>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61" name="Google Shape;661;p58"/>
            <p:cNvCxnSpPr/>
            <p:nvPr/>
          </p:nvCxnSpPr>
          <p:spPr>
            <a:xfrm>
              <a:off x="480" y="4080"/>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cxnSp>
          <p:nvCxnSpPr>
            <p:cNvPr id="662" name="Google Shape;662;p58"/>
            <p:cNvCxnSpPr/>
            <p:nvPr/>
          </p:nvCxnSpPr>
          <p:spPr>
            <a:xfrm>
              <a:off x="3405" y="4080"/>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cxnSp>
          <p:nvCxnSpPr>
            <p:cNvPr id="663" name="Google Shape;663;p58"/>
            <p:cNvCxnSpPr/>
            <p:nvPr/>
          </p:nvCxnSpPr>
          <p:spPr>
            <a:xfrm>
              <a:off x="4496" y="4080"/>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cxnSp>
          <p:nvCxnSpPr>
            <p:cNvPr id="664" name="Google Shape;664;p58"/>
            <p:cNvCxnSpPr/>
            <p:nvPr/>
          </p:nvCxnSpPr>
          <p:spPr>
            <a:xfrm>
              <a:off x="5559" y="4080"/>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cxnSp>
          <p:nvCxnSpPr>
            <p:cNvPr id="665" name="Google Shape;665;p58"/>
            <p:cNvCxnSpPr/>
            <p:nvPr/>
          </p:nvCxnSpPr>
          <p:spPr>
            <a:xfrm>
              <a:off x="5568" y="1968"/>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66" name="Google Shape;666;p58"/>
            <p:cNvSpPr/>
            <p:nvPr/>
          </p:nvSpPr>
          <p:spPr>
            <a:xfrm>
              <a:off x="5568" y="1968"/>
              <a:ext cx="9" cy="10"/>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67" name="Google Shape;667;p58"/>
            <p:cNvCxnSpPr/>
            <p:nvPr/>
          </p:nvCxnSpPr>
          <p:spPr>
            <a:xfrm>
              <a:off x="5568" y="2143"/>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68" name="Google Shape;668;p58"/>
            <p:cNvSpPr/>
            <p:nvPr/>
          </p:nvSpPr>
          <p:spPr>
            <a:xfrm>
              <a:off x="5568" y="2143"/>
              <a:ext cx="9" cy="10"/>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69" name="Google Shape;669;p58"/>
            <p:cNvCxnSpPr/>
            <p:nvPr/>
          </p:nvCxnSpPr>
          <p:spPr>
            <a:xfrm>
              <a:off x="5568" y="2318"/>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cxnSp>
          <p:nvCxnSpPr>
            <p:cNvPr id="670" name="Google Shape;670;p58"/>
            <p:cNvCxnSpPr/>
            <p:nvPr/>
          </p:nvCxnSpPr>
          <p:spPr>
            <a:xfrm>
              <a:off x="5568" y="2493"/>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71" name="Google Shape;671;p58"/>
            <p:cNvSpPr/>
            <p:nvPr/>
          </p:nvSpPr>
          <p:spPr>
            <a:xfrm>
              <a:off x="5568" y="2493"/>
              <a:ext cx="9" cy="11"/>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72" name="Google Shape;672;p58"/>
            <p:cNvCxnSpPr/>
            <p:nvPr/>
          </p:nvCxnSpPr>
          <p:spPr>
            <a:xfrm>
              <a:off x="5568" y="2669"/>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73" name="Google Shape;673;p58"/>
            <p:cNvSpPr/>
            <p:nvPr/>
          </p:nvSpPr>
          <p:spPr>
            <a:xfrm>
              <a:off x="5568" y="2669"/>
              <a:ext cx="9" cy="10"/>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74" name="Google Shape;674;p58"/>
            <p:cNvCxnSpPr/>
            <p:nvPr/>
          </p:nvCxnSpPr>
          <p:spPr>
            <a:xfrm>
              <a:off x="5568" y="2844"/>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75" name="Google Shape;675;p58"/>
            <p:cNvSpPr/>
            <p:nvPr/>
          </p:nvSpPr>
          <p:spPr>
            <a:xfrm>
              <a:off x="5568" y="2844"/>
              <a:ext cx="9" cy="10"/>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76" name="Google Shape;676;p58"/>
            <p:cNvCxnSpPr/>
            <p:nvPr/>
          </p:nvCxnSpPr>
          <p:spPr>
            <a:xfrm>
              <a:off x="5568" y="3019"/>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cxnSp>
          <p:nvCxnSpPr>
            <p:cNvPr id="677" name="Google Shape;677;p58"/>
            <p:cNvCxnSpPr/>
            <p:nvPr/>
          </p:nvCxnSpPr>
          <p:spPr>
            <a:xfrm>
              <a:off x="5568" y="3194"/>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78" name="Google Shape;678;p58"/>
            <p:cNvSpPr/>
            <p:nvPr/>
          </p:nvSpPr>
          <p:spPr>
            <a:xfrm>
              <a:off x="5568" y="3194"/>
              <a:ext cx="9" cy="10"/>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79" name="Google Shape;679;p58"/>
            <p:cNvCxnSpPr/>
            <p:nvPr/>
          </p:nvCxnSpPr>
          <p:spPr>
            <a:xfrm>
              <a:off x="5568" y="3369"/>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80" name="Google Shape;680;p58"/>
            <p:cNvSpPr/>
            <p:nvPr/>
          </p:nvSpPr>
          <p:spPr>
            <a:xfrm>
              <a:off x="5568" y="3369"/>
              <a:ext cx="9" cy="10"/>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81" name="Google Shape;681;p58"/>
            <p:cNvCxnSpPr/>
            <p:nvPr/>
          </p:nvCxnSpPr>
          <p:spPr>
            <a:xfrm>
              <a:off x="5568" y="3544"/>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82" name="Google Shape;682;p58"/>
            <p:cNvSpPr/>
            <p:nvPr/>
          </p:nvSpPr>
          <p:spPr>
            <a:xfrm>
              <a:off x="5568" y="3544"/>
              <a:ext cx="9" cy="11"/>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83" name="Google Shape;683;p58"/>
            <p:cNvCxnSpPr/>
            <p:nvPr/>
          </p:nvCxnSpPr>
          <p:spPr>
            <a:xfrm>
              <a:off x="5568" y="3719"/>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84" name="Google Shape;684;p58"/>
            <p:cNvSpPr/>
            <p:nvPr/>
          </p:nvSpPr>
          <p:spPr>
            <a:xfrm>
              <a:off x="5568" y="3719"/>
              <a:ext cx="9" cy="11"/>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85" name="Google Shape;685;p58"/>
            <p:cNvCxnSpPr/>
            <p:nvPr/>
          </p:nvCxnSpPr>
          <p:spPr>
            <a:xfrm>
              <a:off x="5568" y="3895"/>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86" name="Google Shape;686;p58"/>
            <p:cNvSpPr/>
            <p:nvPr/>
          </p:nvSpPr>
          <p:spPr>
            <a:xfrm>
              <a:off x="5568" y="3895"/>
              <a:ext cx="9" cy="10"/>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87" name="Google Shape;687;p58"/>
            <p:cNvCxnSpPr/>
            <p:nvPr/>
          </p:nvCxnSpPr>
          <p:spPr>
            <a:xfrm>
              <a:off x="5568" y="4070"/>
              <a:ext cx="1" cy="1"/>
            </a:xfrm>
            <a:prstGeom prst="straightConnector1">
              <a:avLst/>
            </a:prstGeom>
            <a:solidFill>
              <a:srgbClr val="FFFFFF"/>
            </a:solidFill>
            <a:ln cap="flat" cmpd="sng" w="9525">
              <a:solidFill>
                <a:srgbClr val="C0C0C0"/>
              </a:solidFill>
              <a:prstDash val="solid"/>
              <a:miter lim="800000"/>
              <a:headEnd len="med" w="med" type="none"/>
              <a:tailEnd len="med" w="med" type="none"/>
            </a:ln>
          </p:spPr>
        </p:cxnSp>
        <p:sp>
          <p:nvSpPr>
            <p:cNvPr id="688" name="Google Shape;688;p58"/>
            <p:cNvSpPr/>
            <p:nvPr/>
          </p:nvSpPr>
          <p:spPr>
            <a:xfrm>
              <a:off x="5568" y="4070"/>
              <a:ext cx="9" cy="10"/>
            </a:xfrm>
            <a:prstGeom prst="rect">
              <a:avLst/>
            </a:pr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13">
                                            <p:txEl>
                                              <p:pRg end="0" st="0"/>
                                            </p:txEl>
                                          </p:spTgt>
                                        </p:tgtEl>
                                        <p:attrNameLst>
                                          <p:attrName>style.visibility</p:attrName>
                                        </p:attrNameLst>
                                      </p:cBhvr>
                                      <p:to>
                                        <p:strVal val="visible"/>
                                      </p:to>
                                    </p:set>
                                    <p:anim calcmode="lin" valueType="num">
                                      <p:cBhvr additive="base">
                                        <p:cTn dur="500"/>
                                        <p:tgtEl>
                                          <p:spTgt spid="61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2" name="Shape 692"/>
        <p:cNvGrpSpPr/>
        <p:nvPr/>
      </p:nvGrpSpPr>
      <p:grpSpPr>
        <a:xfrm>
          <a:off x="0" y="0"/>
          <a:ext cx="0" cy="0"/>
          <a:chOff x="0" y="0"/>
          <a:chExt cx="0" cy="0"/>
        </a:xfrm>
      </p:grpSpPr>
      <p:grpSp>
        <p:nvGrpSpPr>
          <p:cNvPr id="693" name="Google Shape;693;p59"/>
          <p:cNvGrpSpPr/>
          <p:nvPr/>
        </p:nvGrpSpPr>
        <p:grpSpPr>
          <a:xfrm>
            <a:off x="457200" y="2819400"/>
            <a:ext cx="8697912" cy="3124200"/>
            <a:chOff x="292" y="1752"/>
            <a:chExt cx="5479" cy="1968"/>
          </a:xfrm>
        </p:grpSpPr>
        <p:sp>
          <p:nvSpPr>
            <p:cNvPr id="694" name="Google Shape;694;p59"/>
            <p:cNvSpPr/>
            <p:nvPr/>
          </p:nvSpPr>
          <p:spPr>
            <a:xfrm>
              <a:off x="292" y="2292"/>
              <a:ext cx="5479" cy="1428"/>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5" name="Google Shape;695;p59"/>
            <p:cNvSpPr/>
            <p:nvPr/>
          </p:nvSpPr>
          <p:spPr>
            <a:xfrm>
              <a:off x="292" y="1752"/>
              <a:ext cx="5479" cy="528"/>
            </a:xfrm>
            <a:prstGeom prst="rect">
              <a:avLst/>
            </a:prstGeom>
            <a:solidFill>
              <a:srgbClr val="CCFFCC"/>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696" name="Google Shape;696;p59"/>
          <p:cNvSpPr txBox="1"/>
          <p:nvPr/>
        </p:nvSpPr>
        <p:spPr>
          <a:xfrm>
            <a:off x="0" y="217487"/>
            <a:ext cx="9601200" cy="1736725"/>
          </a:xfrm>
          <a:prstGeom prst="rect">
            <a:avLst/>
          </a:prstGeom>
          <a:noFill/>
          <a:ln>
            <a:noFill/>
          </a:ln>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3600"/>
              <a:buFont typeface="Arial Black"/>
              <a:buNone/>
            </a:pPr>
            <a:r>
              <a:rPr b="1" i="0" lang="en-US" sz="3600" u="none">
                <a:solidFill>
                  <a:srgbClr val="000099"/>
                </a:solidFill>
                <a:latin typeface="Arial Black"/>
                <a:ea typeface="Arial Black"/>
                <a:cs typeface="Arial Black"/>
                <a:sym typeface="Arial Black"/>
              </a:rPr>
              <a:t>PRESENTATION OF PROPERTY, PLANT, AND EQUIPMENT AND INTANGIBLE ASSETS</a:t>
            </a:r>
            <a:endParaRPr/>
          </a:p>
        </p:txBody>
      </p:sp>
      <p:sp>
        <p:nvSpPr>
          <p:cNvPr id="697" name="Google Shape;697;p59"/>
          <p:cNvSpPr/>
          <p:nvPr/>
        </p:nvSpPr>
        <p:spPr>
          <a:xfrm>
            <a:off x="461962" y="2790825"/>
            <a:ext cx="8702675"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8" name="Google Shape;698;p59"/>
          <p:cNvSpPr txBox="1"/>
          <p:nvPr/>
        </p:nvSpPr>
        <p:spPr>
          <a:xfrm>
            <a:off x="3346450" y="2771775"/>
            <a:ext cx="2957512" cy="406400"/>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OWENS-ILLINOIS, INC.</a:t>
            </a:r>
            <a:endParaRPr/>
          </a:p>
        </p:txBody>
      </p:sp>
      <p:sp>
        <p:nvSpPr>
          <p:cNvPr id="699" name="Google Shape;699;p59"/>
          <p:cNvSpPr txBox="1"/>
          <p:nvPr/>
        </p:nvSpPr>
        <p:spPr>
          <a:xfrm>
            <a:off x="3641725" y="3074987"/>
            <a:ext cx="2527300"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Balance Sheet - Partial</a:t>
            </a:r>
            <a:endParaRPr/>
          </a:p>
        </p:txBody>
      </p:sp>
      <p:sp>
        <p:nvSpPr>
          <p:cNvPr id="700" name="Google Shape;700;p59"/>
          <p:cNvSpPr txBox="1"/>
          <p:nvPr/>
        </p:nvSpPr>
        <p:spPr>
          <a:xfrm>
            <a:off x="3606800" y="3328987"/>
            <a:ext cx="2439987"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(In millions of dollars)</a:t>
            </a:r>
            <a:endParaRPr/>
          </a:p>
        </p:txBody>
      </p:sp>
      <p:sp>
        <p:nvSpPr>
          <p:cNvPr id="701" name="Google Shape;701;p59"/>
          <p:cNvSpPr/>
          <p:nvPr/>
        </p:nvSpPr>
        <p:spPr>
          <a:xfrm>
            <a:off x="461962" y="3624262"/>
            <a:ext cx="5534025"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2" name="Google Shape;702;p59"/>
          <p:cNvSpPr/>
          <p:nvPr/>
        </p:nvSpPr>
        <p:spPr>
          <a:xfrm>
            <a:off x="6005512" y="3624262"/>
            <a:ext cx="6350"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3" name="Google Shape;703;p59"/>
          <p:cNvSpPr/>
          <p:nvPr/>
        </p:nvSpPr>
        <p:spPr>
          <a:xfrm>
            <a:off x="6021387" y="3624262"/>
            <a:ext cx="1035050"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4" name="Google Shape;704;p59"/>
          <p:cNvSpPr/>
          <p:nvPr/>
        </p:nvSpPr>
        <p:spPr>
          <a:xfrm>
            <a:off x="7065962" y="3624262"/>
            <a:ext cx="6350"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5" name="Google Shape;705;p59"/>
          <p:cNvSpPr/>
          <p:nvPr/>
        </p:nvSpPr>
        <p:spPr>
          <a:xfrm>
            <a:off x="7080250" y="3624262"/>
            <a:ext cx="1030287"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6" name="Google Shape;706;p59"/>
          <p:cNvSpPr/>
          <p:nvPr/>
        </p:nvSpPr>
        <p:spPr>
          <a:xfrm>
            <a:off x="8120062" y="3624262"/>
            <a:ext cx="6350"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7" name="Google Shape;707;p59"/>
          <p:cNvSpPr/>
          <p:nvPr/>
        </p:nvSpPr>
        <p:spPr>
          <a:xfrm>
            <a:off x="8135937" y="3624262"/>
            <a:ext cx="1030287"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8" name="Google Shape;708;p59"/>
          <p:cNvSpPr txBox="1"/>
          <p:nvPr/>
        </p:nvSpPr>
        <p:spPr>
          <a:xfrm>
            <a:off x="436562" y="3598862"/>
            <a:ext cx="3376612"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Property, plant, and equipment</a:t>
            </a:r>
            <a:endParaRPr/>
          </a:p>
        </p:txBody>
      </p:sp>
      <p:sp>
        <p:nvSpPr>
          <p:cNvPr id="709" name="Google Shape;709;p59"/>
          <p:cNvSpPr txBox="1"/>
          <p:nvPr/>
        </p:nvSpPr>
        <p:spPr>
          <a:xfrm>
            <a:off x="457200" y="3886200"/>
            <a:ext cx="5532437" cy="3476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Timberlands, at cost, less accumulated depletion</a:t>
            </a:r>
            <a:endParaRPr/>
          </a:p>
        </p:txBody>
      </p:sp>
      <p:sp>
        <p:nvSpPr>
          <p:cNvPr id="710" name="Google Shape;710;p59"/>
          <p:cNvSpPr txBox="1"/>
          <p:nvPr/>
        </p:nvSpPr>
        <p:spPr>
          <a:xfrm>
            <a:off x="7061200" y="3852862"/>
            <a:ext cx="1098550"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95.4</a:t>
            </a:r>
            <a:endParaRPr/>
          </a:p>
        </p:txBody>
      </p:sp>
      <p:sp>
        <p:nvSpPr>
          <p:cNvPr id="711" name="Google Shape;711;p59"/>
          <p:cNvSpPr txBox="1"/>
          <p:nvPr/>
        </p:nvSpPr>
        <p:spPr>
          <a:xfrm>
            <a:off x="436562" y="4106862"/>
            <a:ext cx="3894137"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Buildings and equipment, at cost</a:t>
            </a:r>
            <a:endParaRPr/>
          </a:p>
        </p:txBody>
      </p:sp>
      <p:sp>
        <p:nvSpPr>
          <p:cNvPr id="712" name="Google Shape;712;p59"/>
          <p:cNvSpPr txBox="1"/>
          <p:nvPr/>
        </p:nvSpPr>
        <p:spPr>
          <a:xfrm>
            <a:off x="6016625" y="4106862"/>
            <a:ext cx="1098550"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$ 2,207.1</a:t>
            </a:r>
            <a:endParaRPr/>
          </a:p>
        </p:txBody>
      </p:sp>
      <p:sp>
        <p:nvSpPr>
          <p:cNvPr id="713" name="Google Shape;713;p59"/>
          <p:cNvSpPr txBox="1"/>
          <p:nvPr/>
        </p:nvSpPr>
        <p:spPr>
          <a:xfrm>
            <a:off x="436562" y="4360862"/>
            <a:ext cx="3884612"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Less:  Accumulated depreciation</a:t>
            </a:r>
            <a:endParaRPr/>
          </a:p>
        </p:txBody>
      </p:sp>
      <p:sp>
        <p:nvSpPr>
          <p:cNvPr id="714" name="Google Shape;714;p59"/>
          <p:cNvSpPr txBox="1"/>
          <p:nvPr/>
        </p:nvSpPr>
        <p:spPr>
          <a:xfrm>
            <a:off x="6194425" y="4360862"/>
            <a:ext cx="917575"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1,229.0</a:t>
            </a:r>
            <a:endParaRPr/>
          </a:p>
        </p:txBody>
      </p:sp>
      <p:sp>
        <p:nvSpPr>
          <p:cNvPr id="715" name="Google Shape;715;p59"/>
          <p:cNvSpPr/>
          <p:nvPr/>
        </p:nvSpPr>
        <p:spPr>
          <a:xfrm>
            <a:off x="6046787" y="4676775"/>
            <a:ext cx="973137"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6" name="Google Shape;716;p59"/>
          <p:cNvSpPr txBox="1"/>
          <p:nvPr/>
        </p:nvSpPr>
        <p:spPr>
          <a:xfrm>
            <a:off x="7427912" y="4360862"/>
            <a:ext cx="736600"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978.1</a:t>
            </a:r>
            <a:endParaRPr/>
          </a:p>
        </p:txBody>
      </p:sp>
      <p:sp>
        <p:nvSpPr>
          <p:cNvPr id="717" name="Google Shape;717;p59"/>
          <p:cNvSpPr/>
          <p:nvPr/>
        </p:nvSpPr>
        <p:spPr>
          <a:xfrm>
            <a:off x="7100887" y="4676775"/>
            <a:ext cx="973137"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8" name="Google Shape;718;p59"/>
          <p:cNvSpPr txBox="1"/>
          <p:nvPr/>
        </p:nvSpPr>
        <p:spPr>
          <a:xfrm>
            <a:off x="436562" y="4651375"/>
            <a:ext cx="4543425"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Total property, plant, and equipment</a:t>
            </a:r>
            <a:endParaRPr/>
          </a:p>
        </p:txBody>
      </p:sp>
      <p:sp>
        <p:nvSpPr>
          <p:cNvPr id="719" name="Google Shape;719;p59"/>
          <p:cNvSpPr txBox="1"/>
          <p:nvPr/>
        </p:nvSpPr>
        <p:spPr>
          <a:xfrm>
            <a:off x="8131175" y="4651375"/>
            <a:ext cx="1098550"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$ 1,073.5</a:t>
            </a:r>
            <a:endParaRPr/>
          </a:p>
        </p:txBody>
      </p:sp>
      <p:sp>
        <p:nvSpPr>
          <p:cNvPr id="720" name="Google Shape;720;p59"/>
          <p:cNvSpPr txBox="1"/>
          <p:nvPr/>
        </p:nvSpPr>
        <p:spPr>
          <a:xfrm>
            <a:off x="436562" y="4905375"/>
            <a:ext cx="1335087"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Intangibles</a:t>
            </a:r>
            <a:endParaRPr/>
          </a:p>
        </p:txBody>
      </p:sp>
      <p:sp>
        <p:nvSpPr>
          <p:cNvPr id="721" name="Google Shape;721;p59"/>
          <p:cNvSpPr txBox="1"/>
          <p:nvPr/>
        </p:nvSpPr>
        <p:spPr>
          <a:xfrm>
            <a:off x="436562" y="5159375"/>
            <a:ext cx="1276350"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Patents</a:t>
            </a:r>
            <a:endParaRPr/>
          </a:p>
        </p:txBody>
      </p:sp>
      <p:sp>
        <p:nvSpPr>
          <p:cNvPr id="722" name="Google Shape;722;p59"/>
          <p:cNvSpPr txBox="1"/>
          <p:nvPr/>
        </p:nvSpPr>
        <p:spPr>
          <a:xfrm>
            <a:off x="8486775" y="5159375"/>
            <a:ext cx="736600" cy="3603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410.0</a:t>
            </a:r>
            <a:endParaRPr/>
          </a:p>
        </p:txBody>
      </p:sp>
      <p:sp>
        <p:nvSpPr>
          <p:cNvPr id="723" name="Google Shape;723;p59"/>
          <p:cNvSpPr/>
          <p:nvPr/>
        </p:nvSpPr>
        <p:spPr>
          <a:xfrm>
            <a:off x="8161337" y="5475287"/>
            <a:ext cx="973137"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4" name="Google Shape;724;p59"/>
          <p:cNvSpPr txBox="1"/>
          <p:nvPr/>
        </p:nvSpPr>
        <p:spPr>
          <a:xfrm>
            <a:off x="436562" y="5449887"/>
            <a:ext cx="1314450" cy="358775"/>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Total</a:t>
            </a:r>
            <a:endParaRPr/>
          </a:p>
        </p:txBody>
      </p:sp>
      <p:sp>
        <p:nvSpPr>
          <p:cNvPr id="725" name="Google Shape;725;p59"/>
          <p:cNvSpPr txBox="1"/>
          <p:nvPr/>
        </p:nvSpPr>
        <p:spPr>
          <a:xfrm>
            <a:off x="8131175" y="5449887"/>
            <a:ext cx="1098550" cy="358775"/>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a:solidFill>
                  <a:srgbClr val="000000"/>
                </a:solidFill>
                <a:latin typeface="Arial"/>
                <a:ea typeface="Arial"/>
                <a:cs typeface="Arial"/>
                <a:sym typeface="Arial"/>
              </a:rPr>
              <a:t>$ 1,483.5</a:t>
            </a:r>
            <a:endParaRPr/>
          </a:p>
        </p:txBody>
      </p:sp>
      <p:sp>
        <p:nvSpPr>
          <p:cNvPr id="726" name="Google Shape;726;p59"/>
          <p:cNvSpPr/>
          <p:nvPr/>
        </p:nvSpPr>
        <p:spPr>
          <a:xfrm>
            <a:off x="8161337" y="5764212"/>
            <a:ext cx="973137"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7" name="Google Shape;727;p59"/>
          <p:cNvSpPr/>
          <p:nvPr/>
        </p:nvSpPr>
        <p:spPr>
          <a:xfrm>
            <a:off x="8161337" y="5794375"/>
            <a:ext cx="973137" cy="63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8" name="Google Shape;728;p59"/>
          <p:cNvSpPr txBox="1"/>
          <p:nvPr/>
        </p:nvSpPr>
        <p:spPr>
          <a:xfrm>
            <a:off x="131762" y="1843087"/>
            <a:ext cx="9377362" cy="728662"/>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2100"/>
              <a:buFont typeface="Arial"/>
              <a:buNone/>
            </a:pPr>
            <a:r>
              <a:rPr b="1" i="0" lang="en-US" sz="2100" u="none">
                <a:solidFill>
                  <a:schemeClr val="dk1"/>
                </a:solidFill>
                <a:latin typeface="Arial"/>
                <a:ea typeface="Arial"/>
                <a:cs typeface="Arial"/>
                <a:sym typeface="Arial"/>
              </a:rPr>
              <a:t>A more comprehensive presentation of property, plant, and equipment</a:t>
            </a:r>
            <a:endParaRPr/>
          </a:p>
          <a:p>
            <a:pPr indent="0" lvl="0" marL="0" marR="0" rtl="0" algn="l">
              <a:lnSpc>
                <a:spcPct val="100000"/>
              </a:lnSpc>
              <a:spcBef>
                <a:spcPts val="0"/>
              </a:spcBef>
              <a:spcAft>
                <a:spcPts val="0"/>
              </a:spcAft>
              <a:buClr>
                <a:schemeClr val="dk1"/>
              </a:buClr>
              <a:buSzPts val="2100"/>
              <a:buFont typeface="Arial"/>
              <a:buNone/>
            </a:pPr>
            <a:r>
              <a:rPr b="1" i="0" lang="en-US" sz="2100" u="none">
                <a:solidFill>
                  <a:schemeClr val="dk1"/>
                </a:solidFill>
                <a:latin typeface="Arial"/>
                <a:ea typeface="Arial"/>
                <a:cs typeface="Arial"/>
                <a:sym typeface="Arial"/>
              </a:rPr>
              <a:t> is excerpted from the balance sheet of Owens-Illinois and shown below.</a:t>
            </a:r>
            <a:endParaRPr/>
          </a:p>
        </p:txBody>
      </p:sp>
    </p:spTree>
  </p:cSld>
  <p:clrMapOvr>
    <a:masterClrMapping/>
  </p:clrMapOvr>
  <p:transition spd="slow">
    <p:fade thruBlk="1"/>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2" name="Shape 732"/>
        <p:cNvGrpSpPr/>
        <p:nvPr/>
      </p:nvGrpSpPr>
      <p:grpSpPr>
        <a:xfrm>
          <a:off x="0" y="0"/>
          <a:ext cx="0" cy="0"/>
          <a:chOff x="0" y="0"/>
          <a:chExt cx="0" cy="0"/>
        </a:xfrm>
      </p:grpSpPr>
      <p:sp>
        <p:nvSpPr>
          <p:cNvPr id="733" name="Google Shape;733;p60"/>
          <p:cNvSpPr txBox="1"/>
          <p:nvPr>
            <p:ph idx="1" type="body"/>
          </p:nvPr>
        </p:nvSpPr>
        <p:spPr>
          <a:xfrm>
            <a:off x="228600" y="1770062"/>
            <a:ext cx="9296400" cy="4992687"/>
          </a:xfrm>
          <a:prstGeom prst="rect">
            <a:avLst/>
          </a:prstGeom>
          <a:noFill/>
          <a:ln>
            <a:noFill/>
          </a:ln>
        </p:spPr>
        <p:txBody>
          <a:bodyPr anchorCtr="0" anchor="t" bIns="47600" lIns="96825" spcFirstLastPara="1" rIns="96825" wrap="square" tIns="47600">
            <a:noAutofit/>
          </a:bodyPr>
          <a:lstStyle/>
          <a:p>
            <a:pPr indent="-361950" lvl="0" marL="361950" marR="0" rtl="0" algn="l">
              <a:lnSpc>
                <a:spcPct val="100000"/>
              </a:lnSpc>
              <a:spcBef>
                <a:spcPts val="0"/>
              </a:spcBef>
              <a:spcAft>
                <a:spcPts val="0"/>
              </a:spcAft>
              <a:buClr>
                <a:srgbClr val="BC3700"/>
              </a:buClr>
              <a:buSzPts val="3200"/>
              <a:buFont typeface="Times New Roman"/>
              <a:buChar char="•"/>
            </a:pPr>
            <a:r>
              <a:rPr b="1" i="0" lang="en-US" sz="3200" u="none">
                <a:solidFill>
                  <a:schemeClr val="dk1"/>
                </a:solidFill>
                <a:latin typeface="Times New Roman"/>
                <a:ea typeface="Times New Roman"/>
                <a:cs typeface="Times New Roman"/>
                <a:sym typeface="Times New Roman"/>
              </a:rPr>
              <a:t>Exchanges </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can be for </a:t>
            </a:r>
            <a:r>
              <a:rPr b="1" i="0" lang="en-US" sz="2800" u="none" cap="none" strike="noStrike">
                <a:solidFill>
                  <a:srgbClr val="BC3700"/>
                </a:solidFill>
                <a:latin typeface="Times New Roman"/>
                <a:ea typeface="Times New Roman"/>
                <a:cs typeface="Times New Roman"/>
                <a:sym typeface="Times New Roman"/>
              </a:rPr>
              <a:t>similar</a:t>
            </a:r>
            <a:r>
              <a:rPr b="1" i="0" lang="en-US" sz="2800" u="none" cap="none" strike="noStrike">
                <a:solidFill>
                  <a:schemeClr val="dk1"/>
                </a:solidFill>
                <a:latin typeface="Times New Roman"/>
                <a:ea typeface="Times New Roman"/>
                <a:cs typeface="Times New Roman"/>
                <a:sym typeface="Times New Roman"/>
              </a:rPr>
              <a:t> or </a:t>
            </a:r>
            <a:r>
              <a:rPr b="1" i="0" lang="en-US" sz="2800" u="none" cap="none" strike="noStrike">
                <a:solidFill>
                  <a:srgbClr val="BC3700"/>
                </a:solidFill>
                <a:latin typeface="Times New Roman"/>
                <a:ea typeface="Times New Roman"/>
                <a:cs typeface="Times New Roman"/>
                <a:sym typeface="Times New Roman"/>
              </a:rPr>
              <a:t>dissimilar</a:t>
            </a:r>
            <a:r>
              <a:rPr b="1" i="0" lang="en-US" sz="2800" u="none" cap="none" strike="noStrike">
                <a:solidFill>
                  <a:schemeClr val="dk1"/>
                </a:solidFill>
                <a:latin typeface="Times New Roman"/>
                <a:ea typeface="Times New Roman"/>
                <a:cs typeface="Times New Roman"/>
                <a:sym typeface="Times New Roman"/>
              </a:rPr>
              <a:t> assets</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For similar assets, the new asset performs the </a:t>
            </a:r>
            <a:r>
              <a:rPr b="1" i="0" lang="en-US" sz="2800" u="none" cap="none" strike="noStrike">
                <a:solidFill>
                  <a:srgbClr val="BC3700"/>
                </a:solidFill>
                <a:latin typeface="Times New Roman"/>
                <a:ea typeface="Times New Roman"/>
                <a:cs typeface="Times New Roman"/>
                <a:sym typeface="Times New Roman"/>
              </a:rPr>
              <a:t>same function</a:t>
            </a:r>
            <a:r>
              <a:rPr b="1" i="0" lang="en-US" sz="2800" u="none" cap="none" strike="noStrike">
                <a:solidFill>
                  <a:schemeClr val="dk1"/>
                </a:solidFill>
                <a:latin typeface="Times New Roman"/>
                <a:ea typeface="Times New Roman"/>
                <a:cs typeface="Times New Roman"/>
                <a:sym typeface="Times New Roman"/>
              </a:rPr>
              <a:t> as the old asset</a:t>
            </a:r>
            <a:endParaRPr/>
          </a:p>
          <a:p>
            <a:pPr indent="-361950" lvl="0" marL="361950" marR="0" rtl="0" algn="l">
              <a:lnSpc>
                <a:spcPct val="100000"/>
              </a:lnSpc>
              <a:spcBef>
                <a:spcPts val="640"/>
              </a:spcBef>
              <a:spcAft>
                <a:spcPts val="0"/>
              </a:spcAft>
              <a:buClr>
                <a:srgbClr val="BC3700"/>
              </a:buClr>
              <a:buSzPts val="3200"/>
              <a:buFont typeface="Times New Roman"/>
              <a:buChar char="•"/>
            </a:pPr>
            <a:r>
              <a:rPr b="1" i="0" lang="en-US" sz="3200" u="none">
                <a:solidFill>
                  <a:schemeClr val="dk1"/>
                </a:solidFill>
                <a:latin typeface="Times New Roman"/>
                <a:ea typeface="Times New Roman"/>
                <a:cs typeface="Times New Roman"/>
                <a:sym typeface="Times New Roman"/>
              </a:rPr>
              <a:t>Necessary to determine two things:</a:t>
            </a:r>
            <a:endParaRPr/>
          </a:p>
          <a:p>
            <a:pPr indent="-361950" lvl="0" marL="361950" marR="0" rtl="0" algn="l">
              <a:lnSpc>
                <a:spcPct val="100000"/>
              </a:lnSpc>
              <a:spcBef>
                <a:spcPts val="640"/>
              </a:spcBef>
              <a:spcAft>
                <a:spcPts val="0"/>
              </a:spcAft>
              <a:buClr>
                <a:srgbClr val="BC3700"/>
              </a:buClr>
              <a:buSzPts val="3200"/>
              <a:buFont typeface="Arial"/>
              <a:buNone/>
            </a:pPr>
            <a:r>
              <a:rPr b="1" i="0" lang="en-US" sz="3200" u="none">
                <a:solidFill>
                  <a:srgbClr val="BC3700"/>
                </a:solidFill>
                <a:latin typeface="Arial"/>
                <a:ea typeface="Arial"/>
                <a:cs typeface="Arial"/>
                <a:sym typeface="Arial"/>
              </a:rPr>
              <a:t>	1)</a:t>
            </a:r>
            <a:r>
              <a:rPr b="1" i="0" lang="en-US" sz="3200" u="none">
                <a:solidFill>
                  <a:schemeClr val="dk1"/>
                </a:solidFill>
                <a:latin typeface="Times New Roman"/>
                <a:ea typeface="Times New Roman"/>
                <a:cs typeface="Times New Roman"/>
                <a:sym typeface="Times New Roman"/>
              </a:rPr>
              <a:t> the cost of the asset acquired</a:t>
            </a:r>
            <a:endParaRPr/>
          </a:p>
          <a:p>
            <a:pPr indent="-361950" lvl="0" marL="361950" marR="0" rtl="0" algn="l">
              <a:lnSpc>
                <a:spcPct val="100000"/>
              </a:lnSpc>
              <a:spcBef>
                <a:spcPts val="640"/>
              </a:spcBef>
              <a:spcAft>
                <a:spcPts val="0"/>
              </a:spcAft>
              <a:buClr>
                <a:srgbClr val="BC3700"/>
              </a:buClr>
              <a:buSzPts val="3200"/>
              <a:buFont typeface="Arial"/>
              <a:buNone/>
            </a:pPr>
            <a:r>
              <a:rPr b="1" i="0" lang="en-US" sz="3200" u="none">
                <a:solidFill>
                  <a:srgbClr val="BC3700"/>
                </a:solidFill>
                <a:latin typeface="Arial"/>
                <a:ea typeface="Arial"/>
                <a:cs typeface="Arial"/>
                <a:sym typeface="Arial"/>
              </a:rPr>
              <a:t>	2</a:t>
            </a:r>
            <a:r>
              <a:rPr b="1" i="0" lang="en-US" sz="3200" u="none">
                <a:solidFill>
                  <a:schemeClr val="dk1"/>
                </a:solidFill>
                <a:latin typeface="Times New Roman"/>
                <a:ea typeface="Times New Roman"/>
                <a:cs typeface="Times New Roman"/>
                <a:sym typeface="Times New Roman"/>
              </a:rPr>
              <a:t>) the gain or loss on the asset given up </a:t>
            </a:r>
            <a:endParaRPr/>
          </a:p>
        </p:txBody>
      </p:sp>
      <p:sp>
        <p:nvSpPr>
          <p:cNvPr id="734" name="Google Shape;734;p60"/>
          <p:cNvSpPr txBox="1"/>
          <p:nvPr/>
        </p:nvSpPr>
        <p:spPr>
          <a:xfrm>
            <a:off x="858837" y="381000"/>
            <a:ext cx="7883525" cy="1536700"/>
          </a:xfrm>
          <a:prstGeom prst="rect">
            <a:avLst/>
          </a:prstGeom>
          <a:noFill/>
          <a:ln>
            <a:noFill/>
          </a:ln>
        </p:spPr>
        <p:txBody>
          <a:bodyPr anchorCtr="0" anchor="t" bIns="44425" lIns="90475" spcFirstLastPara="1" rIns="90475"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EXCHANGES OF PLANT ASSETS</a:t>
            </a:r>
            <a:endParaRPr/>
          </a:p>
          <a:p>
            <a:pPr indent="0" lvl="0" marL="0" marR="0" rtl="0" algn="l">
              <a:lnSpc>
                <a:spcPct val="100000"/>
              </a:lnSpc>
              <a:spcBef>
                <a:spcPts val="0"/>
              </a:spcBef>
              <a:spcAft>
                <a:spcPts val="0"/>
              </a:spcAft>
              <a:buNone/>
            </a:pPr>
            <a:r>
              <a:t/>
            </a:r>
            <a:endParaRPr b="1" i="0" sz="4000" u="none">
              <a:solidFill>
                <a:srgbClr val="000099"/>
              </a:solidFill>
              <a:latin typeface="Arial Black"/>
              <a:ea typeface="Arial Black"/>
              <a:cs typeface="Arial Black"/>
              <a:sym typeface="Arial Black"/>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3">
                                            <p:txEl>
                                              <p:pRg end="0" st="0"/>
                                            </p:txEl>
                                          </p:spTgt>
                                        </p:tgtEl>
                                        <p:attrNameLst>
                                          <p:attrName>style.visibility</p:attrName>
                                        </p:attrNameLst>
                                      </p:cBhvr>
                                      <p:to>
                                        <p:strVal val="visible"/>
                                      </p:to>
                                    </p:set>
                                    <p:anim calcmode="lin" valueType="num">
                                      <p:cBhvr additive="base">
                                        <p:cTn dur="500"/>
                                        <p:tgtEl>
                                          <p:spTgt spid="73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3">
                                            <p:txEl>
                                              <p:pRg end="1" st="1"/>
                                            </p:txEl>
                                          </p:spTgt>
                                        </p:tgtEl>
                                        <p:attrNameLst>
                                          <p:attrName>style.visibility</p:attrName>
                                        </p:attrNameLst>
                                      </p:cBhvr>
                                      <p:to>
                                        <p:strVal val="visible"/>
                                      </p:to>
                                    </p:set>
                                    <p:anim calcmode="lin" valueType="num">
                                      <p:cBhvr additive="base">
                                        <p:cTn dur="500"/>
                                        <p:tgtEl>
                                          <p:spTgt spid="73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3">
                                            <p:txEl>
                                              <p:pRg end="2" st="2"/>
                                            </p:txEl>
                                          </p:spTgt>
                                        </p:tgtEl>
                                        <p:attrNameLst>
                                          <p:attrName>style.visibility</p:attrName>
                                        </p:attrNameLst>
                                      </p:cBhvr>
                                      <p:to>
                                        <p:strVal val="visible"/>
                                      </p:to>
                                    </p:set>
                                    <p:anim calcmode="lin" valueType="num">
                                      <p:cBhvr additive="base">
                                        <p:cTn dur="500"/>
                                        <p:tgtEl>
                                          <p:spTgt spid="73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3">
                                            <p:txEl>
                                              <p:pRg end="3" st="3"/>
                                            </p:txEl>
                                          </p:spTgt>
                                        </p:tgtEl>
                                        <p:attrNameLst>
                                          <p:attrName>style.visibility</p:attrName>
                                        </p:attrNameLst>
                                      </p:cBhvr>
                                      <p:to>
                                        <p:strVal val="visible"/>
                                      </p:to>
                                    </p:set>
                                    <p:anim calcmode="lin" valueType="num">
                                      <p:cBhvr additive="base">
                                        <p:cTn dur="500"/>
                                        <p:tgtEl>
                                          <p:spTgt spid="733">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3">
                                            <p:txEl>
                                              <p:pRg end="4" st="4"/>
                                            </p:txEl>
                                          </p:spTgt>
                                        </p:tgtEl>
                                        <p:attrNameLst>
                                          <p:attrName>style.visibility</p:attrName>
                                        </p:attrNameLst>
                                      </p:cBhvr>
                                      <p:to>
                                        <p:strVal val="visible"/>
                                      </p:to>
                                    </p:set>
                                    <p:anim calcmode="lin" valueType="num">
                                      <p:cBhvr additive="base">
                                        <p:cTn dur="500"/>
                                        <p:tgtEl>
                                          <p:spTgt spid="733">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3">
                                            <p:txEl>
                                              <p:pRg end="5" st="5"/>
                                            </p:txEl>
                                          </p:spTgt>
                                        </p:tgtEl>
                                        <p:attrNameLst>
                                          <p:attrName>style.visibility</p:attrName>
                                        </p:attrNameLst>
                                      </p:cBhvr>
                                      <p:to>
                                        <p:strVal val="visible"/>
                                      </p:to>
                                    </p:set>
                                    <p:anim calcmode="lin" valueType="num">
                                      <p:cBhvr additive="base">
                                        <p:cTn dur="500"/>
                                        <p:tgtEl>
                                          <p:spTgt spid="733">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8" name="Shape 738"/>
        <p:cNvGrpSpPr/>
        <p:nvPr/>
      </p:nvGrpSpPr>
      <p:grpSpPr>
        <a:xfrm>
          <a:off x="0" y="0"/>
          <a:ext cx="0" cy="0"/>
          <a:chOff x="0" y="0"/>
          <a:chExt cx="0" cy="0"/>
        </a:xfrm>
      </p:grpSpPr>
      <p:sp>
        <p:nvSpPr>
          <p:cNvPr id="739" name="Google Shape;739;p61"/>
          <p:cNvSpPr txBox="1"/>
          <p:nvPr>
            <p:ph idx="1" type="body"/>
          </p:nvPr>
        </p:nvSpPr>
        <p:spPr>
          <a:xfrm>
            <a:off x="835025" y="1827212"/>
            <a:ext cx="7985125" cy="5222875"/>
          </a:xfrm>
          <a:prstGeom prst="rect">
            <a:avLst/>
          </a:prstGeom>
          <a:noFill/>
          <a:ln>
            <a:noFill/>
          </a:ln>
        </p:spPr>
        <p:txBody>
          <a:bodyPr anchorCtr="0" anchor="t" bIns="47600" lIns="96825" spcFirstLastPara="1" rIns="96825" wrap="square" tIns="47600">
            <a:noAutofit/>
          </a:bodyPr>
          <a:lstStyle/>
          <a:p>
            <a:pPr indent="-361950" lvl="0" marL="361950" marR="0" rtl="0" algn="l">
              <a:lnSpc>
                <a:spcPct val="100000"/>
              </a:lnSpc>
              <a:spcBef>
                <a:spcPts val="0"/>
              </a:spcBef>
              <a:spcAft>
                <a:spcPts val="0"/>
              </a:spcAft>
              <a:buClr>
                <a:srgbClr val="BC3700"/>
              </a:buClr>
              <a:buSzPts val="3600"/>
              <a:buFont typeface="Times New Roman"/>
              <a:buChar char="•"/>
            </a:pPr>
            <a:r>
              <a:rPr b="1" i="0" lang="en-US" sz="3600" u="none">
                <a:solidFill>
                  <a:srgbClr val="BC3700"/>
                </a:solidFill>
                <a:latin typeface="Times New Roman"/>
                <a:ea typeface="Times New Roman"/>
                <a:cs typeface="Times New Roman"/>
                <a:sym typeface="Times New Roman"/>
              </a:rPr>
              <a:t>Losses</a:t>
            </a:r>
            <a:r>
              <a:rPr b="1" i="0" lang="en-US" sz="3600" u="none">
                <a:solidFill>
                  <a:schemeClr val="dk1"/>
                </a:solidFill>
                <a:latin typeface="Times New Roman"/>
                <a:ea typeface="Times New Roman"/>
                <a:cs typeface="Times New Roman"/>
                <a:sym typeface="Times New Roman"/>
              </a:rPr>
              <a:t> on exchange of </a:t>
            </a:r>
            <a:r>
              <a:rPr b="1" i="0" lang="en-US" sz="3600" u="none">
                <a:solidFill>
                  <a:srgbClr val="BC3700"/>
                </a:solidFill>
                <a:latin typeface="Times New Roman"/>
                <a:ea typeface="Times New Roman"/>
                <a:cs typeface="Times New Roman"/>
                <a:sym typeface="Times New Roman"/>
              </a:rPr>
              <a:t>similar assets</a:t>
            </a:r>
            <a:endParaRPr/>
          </a:p>
          <a:p>
            <a:pPr indent="-303212" lvl="1" marL="785812" marR="0" rtl="0" algn="l">
              <a:lnSpc>
                <a:spcPct val="10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recognized immediately</a:t>
            </a:r>
            <a:endParaRPr/>
          </a:p>
          <a:p>
            <a:pPr indent="-361950" lvl="0" marL="361950" marR="0" rtl="0" algn="l">
              <a:lnSpc>
                <a:spcPct val="100000"/>
              </a:lnSpc>
              <a:spcBef>
                <a:spcPts val="720"/>
              </a:spcBef>
              <a:spcAft>
                <a:spcPts val="0"/>
              </a:spcAft>
              <a:buClr>
                <a:srgbClr val="BC3700"/>
              </a:buClr>
              <a:buSzPts val="3600"/>
              <a:buFont typeface="Times New Roman"/>
              <a:buChar char="•"/>
            </a:pPr>
            <a:r>
              <a:rPr b="1" i="0" lang="en-US" sz="3600" u="none">
                <a:solidFill>
                  <a:schemeClr val="dk1"/>
                </a:solidFill>
                <a:latin typeface="Times New Roman"/>
                <a:ea typeface="Times New Roman"/>
                <a:cs typeface="Times New Roman"/>
                <a:sym typeface="Times New Roman"/>
              </a:rPr>
              <a:t>Cost of the new asset received </a:t>
            </a:r>
            <a:endParaRPr/>
          </a:p>
          <a:p>
            <a:pPr indent="-303212" lvl="1" marL="785812" marR="0" rtl="0" algn="l">
              <a:lnSpc>
                <a:spcPct val="100000"/>
              </a:lnSpc>
              <a:spcBef>
                <a:spcPts val="640"/>
              </a:spcBef>
              <a:spcAft>
                <a:spcPts val="0"/>
              </a:spcAft>
              <a:buClr>
                <a:srgbClr val="BC3700"/>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equal to the fair market value of the old asset exchanged plus any cash or other consideration given up</a:t>
            </a:r>
            <a:endParaRPr/>
          </a:p>
          <a:p>
            <a:pPr indent="-361950" lvl="0" marL="361950" marR="0" rtl="0" algn="l">
              <a:lnSpc>
                <a:spcPct val="100000"/>
              </a:lnSpc>
              <a:spcBef>
                <a:spcPts val="720"/>
              </a:spcBef>
              <a:spcAft>
                <a:spcPts val="0"/>
              </a:spcAft>
              <a:buClr>
                <a:srgbClr val="BC3700"/>
              </a:buClr>
              <a:buSzPts val="3600"/>
              <a:buFont typeface="Times New Roman"/>
              <a:buChar char="•"/>
            </a:pPr>
            <a:r>
              <a:rPr b="1" i="0" lang="en-US" sz="3600" u="none">
                <a:solidFill>
                  <a:schemeClr val="dk1"/>
                </a:solidFill>
                <a:latin typeface="Times New Roman"/>
                <a:ea typeface="Times New Roman"/>
                <a:cs typeface="Times New Roman"/>
                <a:sym typeface="Times New Roman"/>
              </a:rPr>
              <a:t>Losses result when the book value is greater than the fair market value of the asset given up.</a:t>
            </a:r>
            <a:endParaRPr/>
          </a:p>
        </p:txBody>
      </p:sp>
      <p:sp>
        <p:nvSpPr>
          <p:cNvPr id="740" name="Google Shape;740;p61"/>
          <p:cNvSpPr txBox="1"/>
          <p:nvPr/>
        </p:nvSpPr>
        <p:spPr>
          <a:xfrm>
            <a:off x="2039937" y="533400"/>
            <a:ext cx="5521325" cy="698500"/>
          </a:xfrm>
          <a:prstGeom prst="rect">
            <a:avLst/>
          </a:prstGeom>
          <a:noFill/>
          <a:ln>
            <a:noFill/>
          </a:ln>
        </p:spPr>
        <p:txBody>
          <a:bodyPr anchorCtr="0" anchor="t" bIns="44425" lIns="90475" spcFirstLastPara="1" rIns="90475"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LOSS TREATMENT</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9">
                                            <p:txEl>
                                              <p:pRg end="0" st="0"/>
                                            </p:txEl>
                                          </p:spTgt>
                                        </p:tgtEl>
                                        <p:attrNameLst>
                                          <p:attrName>style.visibility</p:attrName>
                                        </p:attrNameLst>
                                      </p:cBhvr>
                                      <p:to>
                                        <p:strVal val="visible"/>
                                      </p:to>
                                    </p:set>
                                    <p:anim calcmode="lin" valueType="num">
                                      <p:cBhvr additive="base">
                                        <p:cTn dur="500"/>
                                        <p:tgtEl>
                                          <p:spTgt spid="73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9">
                                            <p:txEl>
                                              <p:pRg end="1" st="1"/>
                                            </p:txEl>
                                          </p:spTgt>
                                        </p:tgtEl>
                                        <p:attrNameLst>
                                          <p:attrName>style.visibility</p:attrName>
                                        </p:attrNameLst>
                                      </p:cBhvr>
                                      <p:to>
                                        <p:strVal val="visible"/>
                                      </p:to>
                                    </p:set>
                                    <p:anim calcmode="lin" valueType="num">
                                      <p:cBhvr additive="base">
                                        <p:cTn dur="500"/>
                                        <p:tgtEl>
                                          <p:spTgt spid="73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9">
                                            <p:txEl>
                                              <p:pRg end="2" st="2"/>
                                            </p:txEl>
                                          </p:spTgt>
                                        </p:tgtEl>
                                        <p:attrNameLst>
                                          <p:attrName>style.visibility</p:attrName>
                                        </p:attrNameLst>
                                      </p:cBhvr>
                                      <p:to>
                                        <p:strVal val="visible"/>
                                      </p:to>
                                    </p:set>
                                    <p:anim calcmode="lin" valueType="num">
                                      <p:cBhvr additive="base">
                                        <p:cTn dur="500"/>
                                        <p:tgtEl>
                                          <p:spTgt spid="739">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9">
                                            <p:txEl>
                                              <p:pRg end="3" st="3"/>
                                            </p:txEl>
                                          </p:spTgt>
                                        </p:tgtEl>
                                        <p:attrNameLst>
                                          <p:attrName>style.visibility</p:attrName>
                                        </p:attrNameLst>
                                      </p:cBhvr>
                                      <p:to>
                                        <p:strVal val="visible"/>
                                      </p:to>
                                    </p:set>
                                    <p:anim calcmode="lin" valueType="num">
                                      <p:cBhvr additive="base">
                                        <p:cTn dur="500"/>
                                        <p:tgtEl>
                                          <p:spTgt spid="739">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9">
                                            <p:txEl>
                                              <p:pRg end="4" st="4"/>
                                            </p:txEl>
                                          </p:spTgt>
                                        </p:tgtEl>
                                        <p:attrNameLst>
                                          <p:attrName>style.visibility</p:attrName>
                                        </p:attrNameLst>
                                      </p:cBhvr>
                                      <p:to>
                                        <p:strVal val="visible"/>
                                      </p:to>
                                    </p:set>
                                    <p:anim calcmode="lin" valueType="num">
                                      <p:cBhvr additive="base">
                                        <p:cTn dur="500"/>
                                        <p:tgtEl>
                                          <p:spTgt spid="739">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4" name="Shape 744"/>
        <p:cNvGrpSpPr/>
        <p:nvPr/>
      </p:nvGrpSpPr>
      <p:grpSpPr>
        <a:xfrm>
          <a:off x="0" y="0"/>
          <a:ext cx="0" cy="0"/>
          <a:chOff x="0" y="0"/>
          <a:chExt cx="0" cy="0"/>
        </a:xfrm>
      </p:grpSpPr>
      <p:grpSp>
        <p:nvGrpSpPr>
          <p:cNvPr id="745" name="Google Shape;745;p62"/>
          <p:cNvGrpSpPr/>
          <p:nvPr/>
        </p:nvGrpSpPr>
        <p:grpSpPr>
          <a:xfrm>
            <a:off x="817562" y="5526087"/>
            <a:ext cx="8005762" cy="1244600"/>
            <a:chOff x="515" y="3480"/>
            <a:chExt cx="5043" cy="785"/>
          </a:xfrm>
        </p:grpSpPr>
        <p:sp>
          <p:nvSpPr>
            <p:cNvPr id="746" name="Google Shape;746;p62"/>
            <p:cNvSpPr/>
            <p:nvPr/>
          </p:nvSpPr>
          <p:spPr>
            <a:xfrm>
              <a:off x="540" y="3480"/>
              <a:ext cx="4968" cy="780"/>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47" name="Google Shape;747;p62"/>
            <p:cNvPicPr preferRelativeResize="0"/>
            <p:nvPr/>
          </p:nvPicPr>
          <p:blipFill rotWithShape="1">
            <a:blip r:embed="rId3">
              <a:alphaModFix/>
            </a:blip>
            <a:srcRect b="29029" l="0" r="27638" t="0"/>
            <a:stretch/>
          </p:blipFill>
          <p:spPr>
            <a:xfrm>
              <a:off x="515" y="3534"/>
              <a:ext cx="5043" cy="731"/>
            </a:xfrm>
            <a:prstGeom prst="rect">
              <a:avLst/>
            </a:prstGeom>
            <a:noFill/>
            <a:ln>
              <a:noFill/>
            </a:ln>
          </p:spPr>
        </p:pic>
      </p:grpSp>
      <p:sp>
        <p:nvSpPr>
          <p:cNvPr id="748" name="Google Shape;748;p62"/>
          <p:cNvSpPr txBox="1"/>
          <p:nvPr/>
        </p:nvSpPr>
        <p:spPr>
          <a:xfrm>
            <a:off x="0" y="425450"/>
            <a:ext cx="9601200" cy="1308100"/>
          </a:xfrm>
          <a:prstGeom prst="rect">
            <a:avLst/>
          </a:prstGeom>
          <a:noFill/>
          <a:ln>
            <a:noFill/>
          </a:ln>
        </p:spPr>
        <p:txBody>
          <a:bodyPr anchorCtr="0" anchor="t" bIns="44425" lIns="90475" spcFirstLastPara="1" rIns="90475"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COMPUTATION OF COST OF NEW OFFICE EQUIPMENT</a:t>
            </a:r>
            <a:endParaRPr/>
          </a:p>
        </p:txBody>
      </p:sp>
      <p:sp>
        <p:nvSpPr>
          <p:cNvPr id="749" name="Google Shape;749;p62"/>
          <p:cNvSpPr txBox="1"/>
          <p:nvPr>
            <p:ph idx="1" type="body"/>
          </p:nvPr>
        </p:nvSpPr>
        <p:spPr>
          <a:xfrm>
            <a:off x="623887" y="1944687"/>
            <a:ext cx="8332787" cy="2886075"/>
          </a:xfrm>
          <a:prstGeom prst="rect">
            <a:avLst/>
          </a:prstGeom>
          <a:solidFill>
            <a:srgbClr val="FCD1C1"/>
          </a:solidFill>
          <a:ln>
            <a:noFill/>
          </a:ln>
          <a:effectLst>
            <a:outerShdw blurRad="63500" dir="2700000" dist="35921">
              <a:srgbClr val="808080"/>
            </a:outerShdw>
          </a:effectLst>
        </p:spPr>
        <p:txBody>
          <a:bodyPr anchorCtr="0" anchor="t" bIns="47600" lIns="96825" spcFirstLastPara="1" rIns="96825" wrap="square" tIns="47600">
            <a:noAutofit/>
          </a:bodyPr>
          <a:lstStyle/>
          <a:p>
            <a:pPr indent="-361950" lvl="0" marL="36195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Roland Company exchanges old office equipment  for new similar office equipment.  The </a:t>
            </a:r>
            <a:r>
              <a:rPr b="1" i="0" lang="en-US" sz="2400" u="none">
                <a:solidFill>
                  <a:srgbClr val="BC3700"/>
                </a:solidFill>
                <a:latin typeface="Arial"/>
                <a:ea typeface="Arial"/>
                <a:cs typeface="Arial"/>
                <a:sym typeface="Arial"/>
              </a:rPr>
              <a:t>book value </a:t>
            </a:r>
            <a:r>
              <a:rPr b="1" i="0" lang="en-US" sz="2400" u="none">
                <a:solidFill>
                  <a:schemeClr val="dk1"/>
                </a:solidFill>
                <a:latin typeface="Arial"/>
                <a:ea typeface="Arial"/>
                <a:cs typeface="Arial"/>
                <a:sym typeface="Arial"/>
              </a:rPr>
              <a:t>of the old office equipment is $26,000 ($70,000 cost less $44,000 accumulated depreciation), AND its </a:t>
            </a:r>
            <a:r>
              <a:rPr b="1" i="0" lang="en-US" sz="2400" u="none">
                <a:solidFill>
                  <a:srgbClr val="BC3700"/>
                </a:solidFill>
                <a:latin typeface="Arial"/>
                <a:ea typeface="Arial"/>
                <a:cs typeface="Arial"/>
                <a:sym typeface="Arial"/>
              </a:rPr>
              <a:t>fair market value </a:t>
            </a:r>
            <a:r>
              <a:rPr b="1" i="0" lang="en-US" sz="2400" u="none">
                <a:solidFill>
                  <a:schemeClr val="dk1"/>
                </a:solidFill>
                <a:latin typeface="Arial"/>
                <a:ea typeface="Arial"/>
                <a:cs typeface="Arial"/>
                <a:sym typeface="Arial"/>
              </a:rPr>
              <a:t>is $10,000, and $81,000 of cash is paid.  The cost of the new office equipment, $91,000, is calculated as follows:</a:t>
            </a:r>
            <a:endParaRPr/>
          </a:p>
          <a:p>
            <a:pPr indent="-209550" lvl="0" marL="361950" marR="0" rtl="0" algn="l">
              <a:lnSpc>
                <a:spcPct val="100000"/>
              </a:lnSpc>
              <a:spcBef>
                <a:spcPts val="480"/>
              </a:spcBef>
              <a:spcAft>
                <a:spcPts val="0"/>
              </a:spcAft>
              <a:buClr>
                <a:schemeClr val="dk1"/>
              </a:buClr>
              <a:buSzPts val="2400"/>
              <a:buFont typeface="Arial"/>
              <a:buNone/>
            </a:pPr>
            <a:r>
              <a:t/>
            </a:r>
            <a:endParaRPr b="1" i="0" sz="2400" u="none">
              <a:solidFill>
                <a:schemeClr val="dk1"/>
              </a:solidFill>
              <a:latin typeface="Arial"/>
              <a:ea typeface="Arial"/>
              <a:cs typeface="Arial"/>
              <a:sym typeface="Arial"/>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49">
                                            <p:txEl>
                                              <p:pRg end="0" st="0"/>
                                            </p:txEl>
                                          </p:spTgt>
                                        </p:tgtEl>
                                        <p:attrNameLst>
                                          <p:attrName>style.visibility</p:attrName>
                                        </p:attrNameLst>
                                      </p:cBhvr>
                                      <p:to>
                                        <p:strVal val="visible"/>
                                      </p:to>
                                    </p:set>
                                    <p:anim calcmode="lin" valueType="num">
                                      <p:cBhvr additive="base">
                                        <p:cTn dur="500"/>
                                        <p:tgtEl>
                                          <p:spTgt spid="74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49">
                                            <p:txEl>
                                              <p:pRg end="1" st="1"/>
                                            </p:txEl>
                                          </p:spTgt>
                                        </p:tgtEl>
                                        <p:attrNameLst>
                                          <p:attrName>style.visibility</p:attrName>
                                        </p:attrNameLst>
                                      </p:cBhvr>
                                      <p:to>
                                        <p:strVal val="visible"/>
                                      </p:to>
                                    </p:set>
                                    <p:anim calcmode="lin" valueType="num">
                                      <p:cBhvr additive="base">
                                        <p:cTn dur="500"/>
                                        <p:tgtEl>
                                          <p:spTgt spid="74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3" name="Shape 753"/>
        <p:cNvGrpSpPr/>
        <p:nvPr/>
      </p:nvGrpSpPr>
      <p:grpSpPr>
        <a:xfrm>
          <a:off x="0" y="0"/>
          <a:ext cx="0" cy="0"/>
          <a:chOff x="0" y="0"/>
          <a:chExt cx="0" cy="0"/>
        </a:xfrm>
      </p:grpSpPr>
      <p:sp>
        <p:nvSpPr>
          <p:cNvPr id="754" name="Google Shape;754;p63"/>
          <p:cNvSpPr/>
          <p:nvPr/>
        </p:nvSpPr>
        <p:spPr>
          <a:xfrm>
            <a:off x="304800" y="1733550"/>
            <a:ext cx="9067800" cy="1162050"/>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5" name="Google Shape;755;p63"/>
          <p:cNvSpPr txBox="1"/>
          <p:nvPr/>
        </p:nvSpPr>
        <p:spPr>
          <a:xfrm>
            <a:off x="147637" y="1766887"/>
            <a:ext cx="9382125" cy="1050925"/>
          </a:xfrm>
          <a:prstGeom prst="rect">
            <a:avLst/>
          </a:prstGeom>
          <a:noFill/>
          <a:ln>
            <a:noFill/>
          </a:ln>
        </p:spPr>
        <p:txBody>
          <a:bodyPr anchorCtr="0" anchor="t" bIns="44425" lIns="90475" spcFirstLastPara="1" rIns="90475" wrap="square" tIns="44425">
            <a:spAutoFit/>
          </a:bodyPr>
          <a:lstStyle/>
          <a:p>
            <a:pPr indent="0" lvl="0" marL="0" marR="0" rtl="0" algn="l">
              <a:lnSpc>
                <a:spcPct val="100000"/>
              </a:lnSpc>
              <a:spcBef>
                <a:spcPts val="0"/>
              </a:spcBef>
              <a:spcAft>
                <a:spcPts val="0"/>
              </a:spcAft>
              <a:buClr>
                <a:schemeClr val="dk1"/>
              </a:buClr>
              <a:buSzPts val="2100"/>
              <a:buFont typeface="Arial"/>
              <a:buNone/>
            </a:pPr>
            <a:r>
              <a:rPr b="1" i="0" lang="en-US" sz="2100" u="none">
                <a:solidFill>
                  <a:schemeClr val="dk1"/>
                </a:solidFill>
                <a:latin typeface="Arial"/>
                <a:ea typeface="Arial"/>
                <a:cs typeface="Arial"/>
                <a:sym typeface="Arial"/>
              </a:rPr>
              <a:t>Through this exchange, a loss on disposal of $16,000 is incurred.  A loss results when the book value is greater than the fair market value of the asset given up.  The calculation is as follows:</a:t>
            </a:r>
            <a:endParaRPr/>
          </a:p>
        </p:txBody>
      </p:sp>
      <p:sp>
        <p:nvSpPr>
          <p:cNvPr id="756" name="Google Shape;756;p63"/>
          <p:cNvSpPr/>
          <p:nvPr/>
        </p:nvSpPr>
        <p:spPr>
          <a:xfrm>
            <a:off x="304800" y="5334000"/>
            <a:ext cx="8991600" cy="1981200"/>
          </a:xfrm>
          <a:prstGeom prst="rect">
            <a:avLst/>
          </a:prstGeom>
          <a:solidFill>
            <a:srgbClr val="F6BF6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7" name="Google Shape;757;p63"/>
          <p:cNvSpPr txBox="1"/>
          <p:nvPr/>
        </p:nvSpPr>
        <p:spPr>
          <a:xfrm>
            <a:off x="858837" y="228600"/>
            <a:ext cx="7883525" cy="1308100"/>
          </a:xfrm>
          <a:prstGeom prst="rect">
            <a:avLst/>
          </a:prstGeom>
          <a:noFill/>
          <a:ln>
            <a:noFill/>
          </a:ln>
        </p:spPr>
        <p:txBody>
          <a:bodyPr anchorCtr="0" anchor="t" bIns="44425" lIns="90475" spcFirstLastPara="1" rIns="90475"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COMPUTATION OF LOSS ON DISPOSAL</a:t>
            </a:r>
            <a:endParaRPr/>
          </a:p>
        </p:txBody>
      </p:sp>
      <p:grpSp>
        <p:nvGrpSpPr>
          <p:cNvPr id="758" name="Google Shape;758;p63"/>
          <p:cNvGrpSpPr/>
          <p:nvPr/>
        </p:nvGrpSpPr>
        <p:grpSpPr>
          <a:xfrm>
            <a:off x="838200" y="2895600"/>
            <a:ext cx="7886700" cy="1160462"/>
            <a:chOff x="540" y="1800"/>
            <a:chExt cx="4968" cy="732"/>
          </a:xfrm>
        </p:grpSpPr>
        <p:sp>
          <p:nvSpPr>
            <p:cNvPr id="759" name="Google Shape;759;p63"/>
            <p:cNvSpPr/>
            <p:nvPr/>
          </p:nvSpPr>
          <p:spPr>
            <a:xfrm>
              <a:off x="540" y="1800"/>
              <a:ext cx="4968" cy="732"/>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60" name="Google Shape;760;p63"/>
            <p:cNvPicPr preferRelativeResize="0"/>
            <p:nvPr/>
          </p:nvPicPr>
          <p:blipFill rotWithShape="1">
            <a:blip r:embed="rId3">
              <a:alphaModFix/>
            </a:blip>
            <a:srcRect b="82981" l="689" r="64323" t="0"/>
            <a:stretch/>
          </p:blipFill>
          <p:spPr>
            <a:xfrm>
              <a:off x="576" y="1854"/>
              <a:ext cx="4860" cy="661"/>
            </a:xfrm>
            <a:prstGeom prst="rect">
              <a:avLst/>
            </a:prstGeom>
            <a:noFill/>
            <a:ln>
              <a:noFill/>
            </a:ln>
          </p:spPr>
        </p:pic>
      </p:grpSp>
      <p:sp>
        <p:nvSpPr>
          <p:cNvPr id="761" name="Google Shape;761;p63"/>
          <p:cNvSpPr/>
          <p:nvPr/>
        </p:nvSpPr>
        <p:spPr>
          <a:xfrm>
            <a:off x="0" y="3905250"/>
            <a:ext cx="9525000" cy="952500"/>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2" name="Google Shape;762;p63"/>
          <p:cNvSpPr txBox="1"/>
          <p:nvPr/>
        </p:nvSpPr>
        <p:spPr>
          <a:xfrm>
            <a:off x="-4762" y="3937000"/>
            <a:ext cx="9534525" cy="1004887"/>
          </a:xfrm>
          <a:prstGeom prst="rect">
            <a:avLst/>
          </a:prstGeom>
          <a:noFill/>
          <a:ln>
            <a:noFill/>
          </a:ln>
        </p:spPr>
        <p:txBody>
          <a:bodyPr anchorCtr="0" anchor="t" bIns="44425" lIns="90475" spcFirstLastPara="1" rIns="90475" wrap="square" tIns="44425">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In recording the exchange at a loss three steps are required: </a:t>
            </a:r>
            <a:r>
              <a:rPr b="1" i="0" lang="en-US" sz="2000" u="none">
                <a:solidFill>
                  <a:srgbClr val="BC3700"/>
                </a:solidFill>
                <a:latin typeface="Times New Roman"/>
                <a:ea typeface="Times New Roman"/>
                <a:cs typeface="Times New Roman"/>
                <a:sym typeface="Times New Roman"/>
              </a:rPr>
              <a:t>1)</a:t>
            </a:r>
            <a:r>
              <a:rPr b="1" i="0" lang="en-US" sz="2000" u="none">
                <a:solidFill>
                  <a:schemeClr val="dk1"/>
                </a:solidFill>
                <a:latin typeface="Arial"/>
                <a:ea typeface="Arial"/>
                <a:cs typeface="Arial"/>
                <a:sym typeface="Arial"/>
              </a:rPr>
              <a:t> eliminate the book value of the asset given up, </a:t>
            </a:r>
            <a:r>
              <a:rPr b="1" i="0" lang="en-US" sz="2000" u="none">
                <a:solidFill>
                  <a:srgbClr val="BC3700"/>
                </a:solidFill>
                <a:latin typeface="Times New Roman"/>
                <a:ea typeface="Times New Roman"/>
                <a:cs typeface="Times New Roman"/>
                <a:sym typeface="Times New Roman"/>
              </a:rPr>
              <a:t>2)</a:t>
            </a:r>
            <a:r>
              <a:rPr b="1" i="0" lang="en-US" sz="2000" u="none">
                <a:solidFill>
                  <a:schemeClr val="dk1"/>
                </a:solidFill>
                <a:latin typeface="Arial"/>
                <a:ea typeface="Arial"/>
                <a:cs typeface="Arial"/>
                <a:sym typeface="Arial"/>
              </a:rPr>
              <a:t> record the cost of the asset acquired, and </a:t>
            </a:r>
            <a:r>
              <a:rPr b="1" i="0" lang="en-US" sz="2000" u="none">
                <a:solidFill>
                  <a:srgbClr val="BC3700"/>
                </a:solidFill>
                <a:latin typeface="Times New Roman"/>
                <a:ea typeface="Times New Roman"/>
                <a:cs typeface="Times New Roman"/>
                <a:sym typeface="Times New Roman"/>
              </a:rPr>
              <a:t>3)</a:t>
            </a:r>
            <a:r>
              <a:rPr b="1" i="0" lang="en-US" sz="2000" u="none">
                <a:solidFill>
                  <a:schemeClr val="dk1"/>
                </a:solidFill>
                <a:latin typeface="Arial"/>
                <a:ea typeface="Arial"/>
                <a:cs typeface="Arial"/>
                <a:sym typeface="Arial"/>
              </a:rPr>
              <a:t> recognize the loss on disposal.</a:t>
            </a:r>
            <a:endParaRPr/>
          </a:p>
        </p:txBody>
      </p:sp>
      <p:pic>
        <p:nvPicPr>
          <p:cNvPr id="763" name="Google Shape;763;p63"/>
          <p:cNvPicPr preferRelativeResize="0"/>
          <p:nvPr/>
        </p:nvPicPr>
        <p:blipFill rotWithShape="1">
          <a:blip r:embed="rId4">
            <a:alphaModFix/>
          </a:blip>
          <a:srcRect b="0" l="0" r="0" t="0"/>
          <a:stretch/>
        </p:blipFill>
        <p:spPr>
          <a:xfrm>
            <a:off x="306387" y="5348287"/>
            <a:ext cx="8988425" cy="1966912"/>
          </a:xfrm>
          <a:prstGeom prst="rect">
            <a:avLst/>
          </a:prstGeom>
          <a:noFill/>
          <a:ln>
            <a:noFill/>
          </a:ln>
        </p:spPr>
      </p:pic>
    </p:spTree>
  </p:cSld>
  <p:clrMapOvr>
    <a:masterClrMapping/>
  </p:clrMapOvr>
  <p:transition spd="slow">
    <p:fade thruBlk="1"/>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7" name="Shape 767"/>
        <p:cNvGrpSpPr/>
        <p:nvPr/>
      </p:nvGrpSpPr>
      <p:grpSpPr>
        <a:xfrm>
          <a:off x="0" y="0"/>
          <a:ext cx="0" cy="0"/>
          <a:chOff x="0" y="0"/>
          <a:chExt cx="0" cy="0"/>
        </a:xfrm>
      </p:grpSpPr>
      <p:sp>
        <p:nvSpPr>
          <p:cNvPr id="768" name="Google Shape;768;p64"/>
          <p:cNvSpPr txBox="1"/>
          <p:nvPr>
            <p:ph idx="1" type="body"/>
          </p:nvPr>
        </p:nvSpPr>
        <p:spPr>
          <a:xfrm>
            <a:off x="625475" y="1751012"/>
            <a:ext cx="8251825" cy="5259387"/>
          </a:xfrm>
          <a:prstGeom prst="rect">
            <a:avLst/>
          </a:prstGeom>
          <a:noFill/>
          <a:ln>
            <a:noFill/>
          </a:ln>
        </p:spPr>
        <p:txBody>
          <a:bodyPr anchorCtr="0" anchor="t" bIns="47600" lIns="96825" spcFirstLastPara="1" rIns="96825" wrap="square" tIns="47600">
            <a:noAutofit/>
          </a:bodyPr>
          <a:lstStyle/>
          <a:p>
            <a:pPr indent="-361950" lvl="0" marL="361950" marR="0" rtl="0" algn="l">
              <a:lnSpc>
                <a:spcPct val="100000"/>
              </a:lnSpc>
              <a:spcBef>
                <a:spcPts val="0"/>
              </a:spcBef>
              <a:spcAft>
                <a:spcPts val="0"/>
              </a:spcAft>
              <a:buClr>
                <a:srgbClr val="BC3700"/>
              </a:buClr>
              <a:buSzPts val="4000"/>
              <a:buFont typeface="Times New Roman"/>
              <a:buChar char="•"/>
            </a:pPr>
            <a:r>
              <a:rPr b="1" i="0" lang="en-US" sz="4000" u="none">
                <a:solidFill>
                  <a:srgbClr val="BC3700"/>
                </a:solidFill>
                <a:latin typeface="Times New Roman"/>
                <a:ea typeface="Times New Roman"/>
                <a:cs typeface="Times New Roman"/>
                <a:sym typeface="Times New Roman"/>
              </a:rPr>
              <a:t>Gains of similar assets</a:t>
            </a:r>
            <a:r>
              <a:rPr b="1" i="0" lang="en-US" sz="4000" u="none">
                <a:solidFill>
                  <a:schemeClr val="dk1"/>
                </a:solidFill>
                <a:latin typeface="Times New Roman"/>
                <a:ea typeface="Times New Roman"/>
                <a:cs typeface="Times New Roman"/>
                <a:sym typeface="Times New Roman"/>
              </a:rPr>
              <a:t> </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not recognized immediately, but, are deferred </a:t>
            </a:r>
            <a:endParaRPr/>
          </a:p>
          <a:p>
            <a:pPr indent="-303212" lvl="1" marL="785812" marR="0" rtl="0" algn="l">
              <a:lnSpc>
                <a:spcPct val="100000"/>
              </a:lnSpc>
              <a:spcBef>
                <a:spcPts val="56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by reducing the cost basis of the new asset</a:t>
            </a:r>
            <a:endParaRPr/>
          </a:p>
          <a:p>
            <a:pPr indent="-361950" lvl="0" marL="361950" marR="0" rtl="0" algn="l">
              <a:lnSpc>
                <a:spcPct val="100000"/>
              </a:lnSpc>
              <a:spcBef>
                <a:spcPts val="640"/>
              </a:spcBef>
              <a:spcAft>
                <a:spcPts val="0"/>
              </a:spcAft>
              <a:buClr>
                <a:srgbClr val="BC3700"/>
              </a:buClr>
              <a:buSzPts val="3200"/>
              <a:buFont typeface="Times New Roman"/>
              <a:buChar char="•"/>
            </a:pPr>
            <a:r>
              <a:rPr b="1" i="0" lang="en-US" sz="3200" u="none">
                <a:solidFill>
                  <a:schemeClr val="dk1"/>
                </a:solidFill>
                <a:latin typeface="Times New Roman"/>
                <a:ea typeface="Times New Roman"/>
                <a:cs typeface="Times New Roman"/>
                <a:sym typeface="Times New Roman"/>
              </a:rPr>
              <a:t>Cost of the new asset  </a:t>
            </a:r>
            <a:endParaRPr/>
          </a:p>
          <a:p>
            <a:pPr indent="-303212" lvl="1" marL="785812" marR="0" rtl="0" algn="l">
              <a:lnSpc>
                <a:spcPct val="100000"/>
              </a:lnSpc>
              <a:spcBef>
                <a:spcPts val="560"/>
              </a:spcBef>
              <a:spcAft>
                <a:spcPts val="0"/>
              </a:spcAft>
              <a:buClr>
                <a:srgbClr val="BC3700"/>
              </a:buClr>
              <a:buSzPts val="2800"/>
              <a:buFont typeface="Times New Roman"/>
              <a:buChar char="–"/>
            </a:pP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BC3700"/>
                </a:solidFill>
                <a:latin typeface="Times New Roman"/>
                <a:ea typeface="Times New Roman"/>
                <a:cs typeface="Times New Roman"/>
                <a:sym typeface="Times New Roman"/>
              </a:rPr>
              <a:t>fair market value of the old asset exchanged </a:t>
            </a:r>
            <a:endParaRPr/>
          </a:p>
          <a:p>
            <a:pPr indent="-303212" lvl="1" marL="785812" marR="0" rtl="0" algn="l">
              <a:lnSpc>
                <a:spcPct val="100000"/>
              </a:lnSpc>
              <a:spcBef>
                <a:spcPts val="560"/>
              </a:spcBef>
              <a:spcAft>
                <a:spcPts val="0"/>
              </a:spcAft>
              <a:buClr>
                <a:srgbClr val="BC3700"/>
              </a:buClr>
              <a:buSzPts val="2800"/>
              <a:buFont typeface="Times New Roman"/>
              <a:buNone/>
            </a:pPr>
            <a:r>
              <a:rPr b="1" i="0" lang="en-US" sz="2800" u="none" cap="none" strike="noStrike">
                <a:solidFill>
                  <a:srgbClr val="BC3700"/>
                </a:solidFill>
                <a:latin typeface="Times New Roman"/>
                <a:ea typeface="Times New Roman"/>
                <a:cs typeface="Times New Roman"/>
                <a:sym typeface="Times New Roman"/>
              </a:rPr>
              <a:t>     plus any cash or other consideration given up</a:t>
            </a:r>
            <a:endParaRPr b="1" i="0" sz="2800" u="none" cap="none" strike="noStrike">
              <a:solidFill>
                <a:schemeClr val="dk1"/>
              </a:solidFill>
              <a:latin typeface="Times New Roman"/>
              <a:ea typeface="Times New Roman"/>
              <a:cs typeface="Times New Roman"/>
              <a:sym typeface="Times New Roman"/>
            </a:endParaRPr>
          </a:p>
          <a:p>
            <a:pPr indent="-361950" lvl="0" marL="361950" marR="0" rtl="0" algn="l">
              <a:lnSpc>
                <a:spcPct val="100000"/>
              </a:lnSpc>
              <a:spcBef>
                <a:spcPts val="640"/>
              </a:spcBef>
              <a:spcAft>
                <a:spcPts val="0"/>
              </a:spcAft>
              <a:buClr>
                <a:srgbClr val="BC3700"/>
              </a:buClr>
              <a:buSzPts val="3200"/>
              <a:buFont typeface="Times New Roman"/>
              <a:buChar char="•"/>
            </a:pPr>
            <a:r>
              <a:rPr b="1" i="0" lang="en-US" sz="3200" u="none">
                <a:solidFill>
                  <a:schemeClr val="dk1"/>
                </a:solidFill>
                <a:latin typeface="Times New Roman"/>
                <a:ea typeface="Times New Roman"/>
                <a:cs typeface="Times New Roman"/>
                <a:sym typeface="Times New Roman"/>
              </a:rPr>
              <a:t>Gains result when the fair market value is greater than the book value of the asset given up</a:t>
            </a:r>
            <a:endParaRPr/>
          </a:p>
        </p:txBody>
      </p:sp>
      <p:sp>
        <p:nvSpPr>
          <p:cNvPr id="769" name="Google Shape;769;p64"/>
          <p:cNvSpPr txBox="1"/>
          <p:nvPr/>
        </p:nvSpPr>
        <p:spPr>
          <a:xfrm>
            <a:off x="2078037" y="533400"/>
            <a:ext cx="5445125" cy="698500"/>
          </a:xfrm>
          <a:prstGeom prst="rect">
            <a:avLst/>
          </a:prstGeom>
          <a:noFill/>
          <a:ln>
            <a:noFill/>
          </a:ln>
        </p:spPr>
        <p:txBody>
          <a:bodyPr anchorCtr="0" anchor="t" bIns="44425" lIns="90475" spcFirstLastPara="1" rIns="90475"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GAIN TREATMENT</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68">
                                            <p:txEl>
                                              <p:pRg end="0" st="0"/>
                                            </p:txEl>
                                          </p:spTgt>
                                        </p:tgtEl>
                                        <p:attrNameLst>
                                          <p:attrName>style.visibility</p:attrName>
                                        </p:attrNameLst>
                                      </p:cBhvr>
                                      <p:to>
                                        <p:strVal val="visible"/>
                                      </p:to>
                                    </p:set>
                                    <p:anim calcmode="lin" valueType="num">
                                      <p:cBhvr additive="base">
                                        <p:cTn dur="500"/>
                                        <p:tgtEl>
                                          <p:spTgt spid="76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68">
                                            <p:txEl>
                                              <p:pRg end="1" st="1"/>
                                            </p:txEl>
                                          </p:spTgt>
                                        </p:tgtEl>
                                        <p:attrNameLst>
                                          <p:attrName>style.visibility</p:attrName>
                                        </p:attrNameLst>
                                      </p:cBhvr>
                                      <p:to>
                                        <p:strVal val="visible"/>
                                      </p:to>
                                    </p:set>
                                    <p:anim calcmode="lin" valueType="num">
                                      <p:cBhvr additive="base">
                                        <p:cTn dur="500"/>
                                        <p:tgtEl>
                                          <p:spTgt spid="76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68">
                                            <p:txEl>
                                              <p:pRg end="2" st="2"/>
                                            </p:txEl>
                                          </p:spTgt>
                                        </p:tgtEl>
                                        <p:attrNameLst>
                                          <p:attrName>style.visibility</p:attrName>
                                        </p:attrNameLst>
                                      </p:cBhvr>
                                      <p:to>
                                        <p:strVal val="visible"/>
                                      </p:to>
                                    </p:set>
                                    <p:anim calcmode="lin" valueType="num">
                                      <p:cBhvr additive="base">
                                        <p:cTn dur="500"/>
                                        <p:tgtEl>
                                          <p:spTgt spid="76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68">
                                            <p:txEl>
                                              <p:pRg end="3" st="3"/>
                                            </p:txEl>
                                          </p:spTgt>
                                        </p:tgtEl>
                                        <p:attrNameLst>
                                          <p:attrName>style.visibility</p:attrName>
                                        </p:attrNameLst>
                                      </p:cBhvr>
                                      <p:to>
                                        <p:strVal val="visible"/>
                                      </p:to>
                                    </p:set>
                                    <p:anim calcmode="lin" valueType="num">
                                      <p:cBhvr additive="base">
                                        <p:cTn dur="500"/>
                                        <p:tgtEl>
                                          <p:spTgt spid="76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68">
                                            <p:txEl>
                                              <p:pRg end="4" st="4"/>
                                            </p:txEl>
                                          </p:spTgt>
                                        </p:tgtEl>
                                        <p:attrNameLst>
                                          <p:attrName>style.visibility</p:attrName>
                                        </p:attrNameLst>
                                      </p:cBhvr>
                                      <p:to>
                                        <p:strVal val="visible"/>
                                      </p:to>
                                    </p:set>
                                    <p:anim calcmode="lin" valueType="num">
                                      <p:cBhvr additive="base">
                                        <p:cTn dur="500"/>
                                        <p:tgtEl>
                                          <p:spTgt spid="768">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68">
                                            <p:txEl>
                                              <p:pRg end="5" st="5"/>
                                            </p:txEl>
                                          </p:spTgt>
                                        </p:tgtEl>
                                        <p:attrNameLst>
                                          <p:attrName>style.visibility</p:attrName>
                                        </p:attrNameLst>
                                      </p:cBhvr>
                                      <p:to>
                                        <p:strVal val="visible"/>
                                      </p:to>
                                    </p:set>
                                    <p:anim calcmode="lin" valueType="num">
                                      <p:cBhvr additive="base">
                                        <p:cTn dur="500"/>
                                        <p:tgtEl>
                                          <p:spTgt spid="768">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68">
                                            <p:txEl>
                                              <p:pRg end="6" st="6"/>
                                            </p:txEl>
                                          </p:spTgt>
                                        </p:tgtEl>
                                        <p:attrNameLst>
                                          <p:attrName>style.visibility</p:attrName>
                                        </p:attrNameLst>
                                      </p:cBhvr>
                                      <p:to>
                                        <p:strVal val="visible"/>
                                      </p:to>
                                    </p:set>
                                    <p:anim calcmode="lin" valueType="num">
                                      <p:cBhvr additive="base">
                                        <p:cTn dur="500"/>
                                        <p:tgtEl>
                                          <p:spTgt spid="768">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3" name="Shape 773"/>
        <p:cNvGrpSpPr/>
        <p:nvPr/>
      </p:nvGrpSpPr>
      <p:grpSpPr>
        <a:xfrm>
          <a:off x="0" y="0"/>
          <a:ext cx="0" cy="0"/>
          <a:chOff x="0" y="0"/>
          <a:chExt cx="0" cy="0"/>
        </a:xfrm>
      </p:grpSpPr>
      <p:sp>
        <p:nvSpPr>
          <p:cNvPr id="774" name="Google Shape;774;p65"/>
          <p:cNvSpPr txBox="1"/>
          <p:nvPr/>
        </p:nvSpPr>
        <p:spPr>
          <a:xfrm>
            <a:off x="0" y="120650"/>
            <a:ext cx="9982200" cy="1308100"/>
          </a:xfrm>
          <a:prstGeom prst="rect">
            <a:avLst/>
          </a:prstGeom>
          <a:noFill/>
          <a:ln>
            <a:noFill/>
          </a:ln>
        </p:spPr>
        <p:txBody>
          <a:bodyPr anchorCtr="0" anchor="t" bIns="44425" lIns="90475" spcFirstLastPara="1" rIns="90475"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COST OF NEW EQUIPMENT (BEFORE DEFERRAL OF GAIN)</a:t>
            </a:r>
            <a:endParaRPr/>
          </a:p>
        </p:txBody>
      </p:sp>
      <p:sp>
        <p:nvSpPr>
          <p:cNvPr id="775" name="Google Shape;775;p65"/>
          <p:cNvSpPr/>
          <p:nvPr/>
        </p:nvSpPr>
        <p:spPr>
          <a:xfrm>
            <a:off x="838200" y="5181600"/>
            <a:ext cx="8134350" cy="1600200"/>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76" name="Google Shape;776;p65"/>
          <p:cNvPicPr preferRelativeResize="0"/>
          <p:nvPr/>
        </p:nvPicPr>
        <p:blipFill rotWithShape="1">
          <a:blip r:embed="rId3">
            <a:alphaModFix/>
          </a:blip>
          <a:srcRect b="28450" l="1005" r="64308" t="0"/>
          <a:stretch/>
        </p:blipFill>
        <p:spPr>
          <a:xfrm>
            <a:off x="876300" y="5299075"/>
            <a:ext cx="8094662" cy="1482725"/>
          </a:xfrm>
          <a:prstGeom prst="rect">
            <a:avLst/>
          </a:prstGeom>
          <a:noFill/>
          <a:ln>
            <a:noFill/>
          </a:ln>
        </p:spPr>
      </p:pic>
      <p:sp>
        <p:nvSpPr>
          <p:cNvPr id="777" name="Google Shape;777;p65"/>
          <p:cNvSpPr txBox="1"/>
          <p:nvPr>
            <p:ph idx="1" type="body"/>
          </p:nvPr>
        </p:nvSpPr>
        <p:spPr>
          <a:xfrm>
            <a:off x="866775" y="1944687"/>
            <a:ext cx="7867650" cy="2886075"/>
          </a:xfrm>
          <a:prstGeom prst="rect">
            <a:avLst/>
          </a:prstGeom>
          <a:solidFill>
            <a:srgbClr val="FCD1C1"/>
          </a:solidFill>
          <a:ln>
            <a:noFill/>
          </a:ln>
          <a:effectLst>
            <a:outerShdw blurRad="63500" dir="2700000" dist="35921">
              <a:srgbClr val="808080"/>
            </a:outerShdw>
          </a:effectLst>
        </p:spPr>
        <p:txBody>
          <a:bodyPr anchorCtr="0" anchor="t" bIns="47600" lIns="96825" spcFirstLastPara="1" rIns="96825" wrap="square" tIns="47600">
            <a:noAutofit/>
          </a:bodyPr>
          <a:lstStyle/>
          <a:p>
            <a:pPr indent="-361950" lvl="0" marL="361950" marR="0" rtl="0" algn="l">
              <a:lnSpc>
                <a:spcPct val="9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Mark’s Express Delivery exchanges </a:t>
            </a:r>
            <a:r>
              <a:rPr b="1" i="0" lang="en-US" sz="2400" u="none">
                <a:solidFill>
                  <a:srgbClr val="971008"/>
                </a:solidFill>
                <a:latin typeface="Arial"/>
                <a:ea typeface="Arial"/>
                <a:cs typeface="Arial"/>
                <a:sym typeface="Arial"/>
              </a:rPr>
              <a:t>old delivery </a:t>
            </a:r>
            <a:r>
              <a:rPr b="1" i="0" lang="en-US" sz="2400" u="none">
                <a:solidFill>
                  <a:schemeClr val="dk1"/>
                </a:solidFill>
                <a:latin typeface="Arial"/>
                <a:ea typeface="Arial"/>
                <a:cs typeface="Arial"/>
                <a:sym typeface="Arial"/>
              </a:rPr>
              <a:t>equipment plus $3,000 cash for </a:t>
            </a:r>
            <a:r>
              <a:rPr b="1" i="0" lang="en-US" sz="2400" u="none">
                <a:solidFill>
                  <a:srgbClr val="971008"/>
                </a:solidFill>
                <a:latin typeface="Arial"/>
                <a:ea typeface="Arial"/>
                <a:cs typeface="Arial"/>
                <a:sym typeface="Arial"/>
              </a:rPr>
              <a:t>new delivery </a:t>
            </a:r>
            <a:r>
              <a:rPr b="1" i="0" lang="en-US" sz="2400" u="none">
                <a:solidFill>
                  <a:schemeClr val="dk1"/>
                </a:solidFill>
                <a:latin typeface="Arial"/>
                <a:ea typeface="Arial"/>
                <a:cs typeface="Arial"/>
                <a:sym typeface="Arial"/>
              </a:rPr>
              <a:t>equipment.  The book value of the old delivery equipment is $12,000 </a:t>
            </a:r>
            <a:r>
              <a:rPr b="1" i="0" lang="en-US" sz="2400" u="none">
                <a:solidFill>
                  <a:srgbClr val="971008"/>
                </a:solidFill>
                <a:latin typeface="Arial"/>
                <a:ea typeface="Arial"/>
                <a:cs typeface="Arial"/>
                <a:sym typeface="Arial"/>
              </a:rPr>
              <a:t>($40,000 cost less $28,000 accumulated depreciation),</a:t>
            </a:r>
            <a:r>
              <a:rPr b="1" i="0" lang="en-US" sz="2400" u="none">
                <a:solidFill>
                  <a:schemeClr val="dk1"/>
                </a:solidFill>
                <a:latin typeface="Arial"/>
                <a:ea typeface="Arial"/>
                <a:cs typeface="Arial"/>
                <a:sym typeface="Arial"/>
              </a:rPr>
              <a:t> its fair market value is $19,000.  The cost of the new delivery equipment, $22,000, is calculated as follows: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77">
                                            <p:txEl>
                                              <p:pRg end="0" st="0"/>
                                            </p:txEl>
                                          </p:spTgt>
                                        </p:tgtEl>
                                        <p:attrNameLst>
                                          <p:attrName>style.visibility</p:attrName>
                                        </p:attrNameLst>
                                      </p:cBhvr>
                                      <p:to>
                                        <p:strVal val="visible"/>
                                      </p:to>
                                    </p:set>
                                    <p:anim calcmode="lin" valueType="num">
                                      <p:cBhvr additive="base">
                                        <p:cTn dur="500"/>
                                        <p:tgtEl>
                                          <p:spTgt spid="77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1" name="Shape 781"/>
        <p:cNvGrpSpPr/>
        <p:nvPr/>
      </p:nvGrpSpPr>
      <p:grpSpPr>
        <a:xfrm>
          <a:off x="0" y="0"/>
          <a:ext cx="0" cy="0"/>
          <a:chOff x="0" y="0"/>
          <a:chExt cx="0" cy="0"/>
        </a:xfrm>
      </p:grpSpPr>
      <p:sp>
        <p:nvSpPr>
          <p:cNvPr id="782" name="Google Shape;782;p66"/>
          <p:cNvSpPr/>
          <p:nvPr/>
        </p:nvSpPr>
        <p:spPr>
          <a:xfrm>
            <a:off x="552450" y="4764087"/>
            <a:ext cx="8515350" cy="1865312"/>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83" name="Google Shape;783;p66"/>
          <p:cNvPicPr preferRelativeResize="0"/>
          <p:nvPr/>
        </p:nvPicPr>
        <p:blipFill rotWithShape="1">
          <a:blip r:embed="rId3">
            <a:alphaModFix/>
          </a:blip>
          <a:srcRect b="90478" l="1006" r="59739" t="0"/>
          <a:stretch/>
        </p:blipFill>
        <p:spPr>
          <a:xfrm>
            <a:off x="647700" y="4848225"/>
            <a:ext cx="8712200" cy="1922462"/>
          </a:xfrm>
          <a:prstGeom prst="rect">
            <a:avLst/>
          </a:prstGeom>
          <a:noFill/>
          <a:ln>
            <a:noFill/>
          </a:ln>
        </p:spPr>
      </p:pic>
      <p:sp>
        <p:nvSpPr>
          <p:cNvPr id="784" name="Google Shape;784;p66"/>
          <p:cNvSpPr txBox="1"/>
          <p:nvPr>
            <p:ph idx="1" type="body"/>
          </p:nvPr>
        </p:nvSpPr>
        <p:spPr>
          <a:xfrm>
            <a:off x="644525" y="2259012"/>
            <a:ext cx="8312150" cy="1733550"/>
          </a:xfrm>
          <a:prstGeom prst="rect">
            <a:avLst/>
          </a:prstGeom>
          <a:solidFill>
            <a:srgbClr val="FCD1C1"/>
          </a:solidFill>
          <a:ln>
            <a:noFill/>
          </a:ln>
          <a:effectLst>
            <a:outerShdw blurRad="63500" dir="2700000" dist="35921">
              <a:srgbClr val="808080"/>
            </a:outerShdw>
          </a:effectLst>
        </p:spPr>
        <p:txBody>
          <a:bodyPr anchorCtr="0" anchor="t" bIns="47600" lIns="96825" spcFirstLastPara="1" rIns="96825" wrap="square" tIns="47600">
            <a:noAutofit/>
          </a:bodyPr>
          <a:lstStyle/>
          <a:p>
            <a:pPr indent="-361950" lvl="0" marL="361950" marR="0" rtl="0" algn="l">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For Mark’s Express Delivery, there is a gain of $7,000, calculated as follows, on the disposal:</a:t>
            </a:r>
            <a:endParaRPr/>
          </a:p>
        </p:txBody>
      </p:sp>
      <p:sp>
        <p:nvSpPr>
          <p:cNvPr id="785" name="Google Shape;785;p66"/>
          <p:cNvSpPr txBox="1"/>
          <p:nvPr/>
        </p:nvSpPr>
        <p:spPr>
          <a:xfrm>
            <a:off x="858837" y="425450"/>
            <a:ext cx="7883525" cy="1308100"/>
          </a:xfrm>
          <a:prstGeom prst="rect">
            <a:avLst/>
          </a:prstGeom>
          <a:noFill/>
          <a:ln>
            <a:noFill/>
          </a:ln>
        </p:spPr>
        <p:txBody>
          <a:bodyPr anchorCtr="0" anchor="t" bIns="44425" lIns="90475" spcFirstLastPara="1" rIns="90475" wrap="square" tIns="44425">
            <a:spAutoFit/>
          </a:bodyPr>
          <a:lstStyle/>
          <a:p>
            <a:pPr indent="0" lvl="0" marL="0" marR="0" rtl="0" algn="ctr">
              <a:lnSpc>
                <a:spcPct val="100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COMPUTATION OF GAIN ON DISPOSAL</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84">
                                            <p:txEl>
                                              <p:pRg end="0" st="0"/>
                                            </p:txEl>
                                          </p:spTgt>
                                        </p:tgtEl>
                                        <p:attrNameLst>
                                          <p:attrName>style.visibility</p:attrName>
                                        </p:attrNameLst>
                                      </p:cBhvr>
                                      <p:to>
                                        <p:strVal val="visible"/>
                                      </p:to>
                                    </p:set>
                                    <p:anim calcmode="lin" valueType="num">
                                      <p:cBhvr additive="base">
                                        <p:cTn dur="500"/>
                                        <p:tgtEl>
                                          <p:spTgt spid="78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9" name="Shape 789"/>
        <p:cNvGrpSpPr/>
        <p:nvPr/>
      </p:nvGrpSpPr>
      <p:grpSpPr>
        <a:xfrm>
          <a:off x="0" y="0"/>
          <a:ext cx="0" cy="0"/>
          <a:chOff x="0" y="0"/>
          <a:chExt cx="0" cy="0"/>
        </a:xfrm>
      </p:grpSpPr>
      <p:sp>
        <p:nvSpPr>
          <p:cNvPr id="790" name="Google Shape;790;p67"/>
          <p:cNvSpPr/>
          <p:nvPr/>
        </p:nvSpPr>
        <p:spPr>
          <a:xfrm>
            <a:off x="533400" y="5410200"/>
            <a:ext cx="8686800" cy="1447800"/>
          </a:xfrm>
          <a:prstGeom prst="rect">
            <a:avLst/>
          </a:prstGeom>
          <a:solidFill>
            <a:srgbClr val="F6BF6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1" name="Google Shape;791;p67"/>
          <p:cNvSpPr txBox="1"/>
          <p:nvPr/>
        </p:nvSpPr>
        <p:spPr>
          <a:xfrm>
            <a:off x="1144587" y="120650"/>
            <a:ext cx="7312025" cy="1460500"/>
          </a:xfrm>
          <a:prstGeom prst="rect">
            <a:avLst/>
          </a:prstGeom>
          <a:noFill/>
          <a:ln>
            <a:noFill/>
          </a:ln>
        </p:spPr>
        <p:txBody>
          <a:bodyPr anchorCtr="0" anchor="t" bIns="44425" lIns="90475" spcFirstLastPara="1" rIns="90475" wrap="square" tIns="44425">
            <a:spAutoFit/>
          </a:bodyPr>
          <a:lstStyle/>
          <a:p>
            <a:pPr indent="0" lvl="0" marL="0" marR="0" rtl="0" algn="ctr">
              <a:lnSpc>
                <a:spcPct val="100000"/>
              </a:lnSpc>
              <a:spcBef>
                <a:spcPts val="0"/>
              </a:spcBef>
              <a:spcAft>
                <a:spcPts val="0"/>
              </a:spcAft>
              <a:buClr>
                <a:srgbClr val="000099"/>
              </a:buClr>
              <a:buSzPts val="3000"/>
              <a:buFont typeface="Arial Black"/>
              <a:buNone/>
            </a:pPr>
            <a:r>
              <a:rPr b="1" i="0" lang="en-US" sz="3000" u="none">
                <a:solidFill>
                  <a:srgbClr val="000099"/>
                </a:solidFill>
                <a:latin typeface="Arial Black"/>
                <a:ea typeface="Arial Black"/>
                <a:cs typeface="Arial Black"/>
                <a:sym typeface="Arial Black"/>
              </a:rPr>
              <a:t>COST OF NEW DELIVERY EQUIPMENT (AFTER DEFERRAL OF GAIN)</a:t>
            </a:r>
            <a:endParaRPr/>
          </a:p>
        </p:txBody>
      </p:sp>
      <p:sp>
        <p:nvSpPr>
          <p:cNvPr id="792" name="Google Shape;792;p67"/>
          <p:cNvSpPr/>
          <p:nvPr/>
        </p:nvSpPr>
        <p:spPr>
          <a:xfrm>
            <a:off x="76200" y="1676400"/>
            <a:ext cx="9448800" cy="1027112"/>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3" name="Google Shape;793;p67"/>
          <p:cNvSpPr txBox="1"/>
          <p:nvPr/>
        </p:nvSpPr>
        <p:spPr>
          <a:xfrm>
            <a:off x="204787" y="1716087"/>
            <a:ext cx="9324975" cy="1093787"/>
          </a:xfrm>
          <a:prstGeom prst="rect">
            <a:avLst/>
          </a:prstGeom>
          <a:noFill/>
          <a:ln>
            <a:noFill/>
          </a:ln>
        </p:spPr>
        <p:txBody>
          <a:bodyPr anchorCtr="0" anchor="t" bIns="44425" lIns="90475" spcFirstLastPara="1" rIns="90475" wrap="square" tIns="44425">
            <a:sp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a:solidFill>
                  <a:schemeClr val="dk1"/>
                </a:solidFill>
                <a:latin typeface="Arial"/>
                <a:ea typeface="Arial"/>
                <a:cs typeface="Arial"/>
                <a:sym typeface="Arial"/>
              </a:rPr>
              <a:t>The $7,000 gain on disposal is then offset against the $22,000 cost of the new delivery equipment.  The result is a $15,000 cost of the new delivery equipment, after deferral of the gain.</a:t>
            </a:r>
            <a:endParaRPr/>
          </a:p>
        </p:txBody>
      </p:sp>
      <p:grpSp>
        <p:nvGrpSpPr>
          <p:cNvPr id="794" name="Google Shape;794;p67"/>
          <p:cNvGrpSpPr/>
          <p:nvPr/>
        </p:nvGrpSpPr>
        <p:grpSpPr>
          <a:xfrm>
            <a:off x="838200" y="3048000"/>
            <a:ext cx="7886700" cy="1160462"/>
            <a:chOff x="540" y="1896"/>
            <a:chExt cx="4968" cy="732"/>
          </a:xfrm>
        </p:grpSpPr>
        <p:sp>
          <p:nvSpPr>
            <p:cNvPr id="795" name="Google Shape;795;p67"/>
            <p:cNvSpPr/>
            <p:nvPr/>
          </p:nvSpPr>
          <p:spPr>
            <a:xfrm>
              <a:off x="540" y="1896"/>
              <a:ext cx="4968" cy="732"/>
            </a:xfrm>
            <a:prstGeom prst="rect">
              <a:avLst/>
            </a:prstGeom>
            <a:solidFill>
              <a:srgbClr val="FFFF99"/>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96" name="Google Shape;796;p67"/>
            <p:cNvPicPr preferRelativeResize="0"/>
            <p:nvPr/>
          </p:nvPicPr>
          <p:blipFill rotWithShape="1">
            <a:blip r:embed="rId3">
              <a:alphaModFix/>
            </a:blip>
            <a:srcRect b="32703" l="689" r="64323" t="0"/>
            <a:stretch/>
          </p:blipFill>
          <p:spPr>
            <a:xfrm>
              <a:off x="576" y="1950"/>
              <a:ext cx="4860" cy="642"/>
            </a:xfrm>
            <a:prstGeom prst="rect">
              <a:avLst/>
            </a:prstGeom>
            <a:noFill/>
            <a:ln>
              <a:noFill/>
            </a:ln>
          </p:spPr>
        </p:pic>
      </p:grpSp>
      <p:sp>
        <p:nvSpPr>
          <p:cNvPr id="797" name="Google Shape;797;p67"/>
          <p:cNvSpPr/>
          <p:nvPr/>
        </p:nvSpPr>
        <p:spPr>
          <a:xfrm>
            <a:off x="76200" y="4400550"/>
            <a:ext cx="9448800" cy="457200"/>
          </a:xfrm>
          <a:prstGeom prst="rect">
            <a:avLst/>
          </a:prstGeom>
          <a:solidFill>
            <a:srgbClr val="FCD1C1"/>
          </a:solidFill>
          <a:ln>
            <a:noFill/>
          </a:ln>
          <a:effectLst>
            <a:outerShdw blurRad="63500" dir="2700000" dist="17960">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8" name="Google Shape;798;p67"/>
          <p:cNvSpPr txBox="1"/>
          <p:nvPr/>
        </p:nvSpPr>
        <p:spPr>
          <a:xfrm>
            <a:off x="147637" y="4451350"/>
            <a:ext cx="9229725" cy="454025"/>
          </a:xfrm>
          <a:prstGeom prst="rect">
            <a:avLst/>
          </a:prstGeom>
          <a:noFill/>
          <a:ln>
            <a:noFill/>
          </a:ln>
        </p:spPr>
        <p:txBody>
          <a:bodyPr anchorCtr="0" anchor="t" bIns="44425" lIns="90475" spcFirstLastPara="1" rIns="90475" wrap="square" tIns="44425">
            <a:sp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The entry to record the exchange is as follows:</a:t>
            </a:r>
            <a:endParaRPr/>
          </a:p>
        </p:txBody>
      </p:sp>
      <p:cxnSp>
        <p:nvCxnSpPr>
          <p:cNvPr id="799" name="Google Shape;799;p67"/>
          <p:cNvCxnSpPr/>
          <p:nvPr/>
        </p:nvCxnSpPr>
        <p:spPr>
          <a:xfrm>
            <a:off x="7626350" y="3657600"/>
            <a:ext cx="977900" cy="0"/>
          </a:xfrm>
          <a:prstGeom prst="straightConnector1">
            <a:avLst/>
          </a:prstGeom>
          <a:noFill/>
          <a:ln cap="flat" cmpd="sng" w="12700">
            <a:solidFill>
              <a:schemeClr val="dk1"/>
            </a:solidFill>
            <a:prstDash val="solid"/>
            <a:miter lim="800000"/>
            <a:headEnd len="med" w="med" type="none"/>
            <a:tailEnd len="med" w="med" type="none"/>
          </a:ln>
        </p:spPr>
      </p:cxnSp>
      <p:pic>
        <p:nvPicPr>
          <p:cNvPr id="800" name="Google Shape;800;p67"/>
          <p:cNvPicPr preferRelativeResize="0"/>
          <p:nvPr/>
        </p:nvPicPr>
        <p:blipFill rotWithShape="1">
          <a:blip r:embed="rId4">
            <a:alphaModFix/>
          </a:blip>
          <a:srcRect b="0" l="0" r="0" t="0"/>
          <a:stretch/>
        </p:blipFill>
        <p:spPr>
          <a:xfrm>
            <a:off x="534987" y="5410200"/>
            <a:ext cx="8626475" cy="1423987"/>
          </a:xfrm>
          <a:prstGeom prst="rect">
            <a:avLst/>
          </a:prstGeom>
          <a:noFill/>
          <a:ln>
            <a:noFill/>
          </a:ln>
        </p:spPr>
      </p:pic>
    </p:spTree>
  </p:cSld>
  <p:clrMapOvr>
    <a:masterClrMapping/>
  </p:clrMapOvr>
  <p:transition spd="slow">
    <p:fade thruBlk="1"/>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4" name="Shape 804"/>
        <p:cNvGrpSpPr/>
        <p:nvPr/>
      </p:nvGrpSpPr>
      <p:grpSpPr>
        <a:xfrm>
          <a:off x="0" y="0"/>
          <a:ext cx="0" cy="0"/>
          <a:chOff x="0" y="0"/>
          <a:chExt cx="0" cy="0"/>
        </a:xfrm>
      </p:grpSpPr>
      <p:sp>
        <p:nvSpPr>
          <p:cNvPr id="805" name="Google Shape;805;p68"/>
          <p:cNvSpPr txBox="1"/>
          <p:nvPr>
            <p:ph type="title"/>
          </p:nvPr>
        </p:nvSpPr>
        <p:spPr>
          <a:xfrm>
            <a:off x="720725" y="85725"/>
            <a:ext cx="8159750" cy="1708150"/>
          </a:xfrm>
          <a:prstGeom prst="rect">
            <a:avLst/>
          </a:prstGeom>
          <a:noFill/>
          <a:ln>
            <a:noFill/>
          </a:ln>
        </p:spPr>
        <p:txBody>
          <a:bodyPr anchorCtr="0" anchor="ctr" bIns="47600" lIns="96825" spcFirstLastPara="1" rIns="96825" wrap="square" tIns="47600">
            <a:noAutofit/>
          </a:bodyPr>
          <a:lstStyle/>
          <a:p>
            <a:pPr indent="0" lvl="0" marL="0" rtl="0" algn="ctr">
              <a:lnSpc>
                <a:spcPct val="85000"/>
              </a:lnSpc>
              <a:spcBef>
                <a:spcPts val="0"/>
              </a:spcBef>
              <a:spcAft>
                <a:spcPts val="0"/>
              </a:spcAft>
              <a:buClr>
                <a:srgbClr val="000099"/>
              </a:buClr>
              <a:buSzPts val="4000"/>
              <a:buFont typeface="Arial Black"/>
              <a:buNone/>
            </a:pPr>
            <a:r>
              <a:rPr b="1" i="0" lang="en-US" sz="4000" u="none">
                <a:solidFill>
                  <a:srgbClr val="000099"/>
                </a:solidFill>
                <a:latin typeface="Arial Black"/>
                <a:ea typeface="Arial Black"/>
                <a:cs typeface="Arial Black"/>
                <a:sym typeface="Arial Black"/>
              </a:rPr>
              <a:t>ACCOUNTING RULES FOR PLANT EXCHANGES</a:t>
            </a:r>
            <a:endParaRPr/>
          </a:p>
        </p:txBody>
      </p:sp>
      <p:sp>
        <p:nvSpPr>
          <p:cNvPr id="806" name="Google Shape;806;p68"/>
          <p:cNvSpPr/>
          <p:nvPr/>
        </p:nvSpPr>
        <p:spPr>
          <a:xfrm>
            <a:off x="387350" y="2139950"/>
            <a:ext cx="8826500" cy="3187700"/>
          </a:xfrm>
          <a:prstGeom prst="rect">
            <a:avLst/>
          </a:prstGeom>
          <a:solidFill>
            <a:srgbClr val="8CF4EA"/>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7" name="Google Shape;807;p68"/>
          <p:cNvSpPr txBox="1"/>
          <p:nvPr>
            <p:ph idx="1" type="body"/>
          </p:nvPr>
        </p:nvSpPr>
        <p:spPr>
          <a:xfrm>
            <a:off x="533400" y="2925762"/>
            <a:ext cx="8159750" cy="4389437"/>
          </a:xfrm>
          <a:prstGeom prst="rect">
            <a:avLst/>
          </a:prstGeom>
          <a:noFill/>
          <a:ln>
            <a:noFill/>
          </a:ln>
        </p:spPr>
        <p:txBody>
          <a:bodyPr anchorCtr="0" anchor="t" bIns="47600" lIns="96825" spcFirstLastPara="1" rIns="96825" wrap="square" tIns="47600">
            <a:noAutofit/>
          </a:bodyPr>
          <a:lstStyle/>
          <a:p>
            <a:pPr indent="-361950" lvl="0" marL="36195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Loss			Recognize immediately by 			debiting Loss on Disposal</a:t>
            </a:r>
            <a:endParaRPr/>
          </a:p>
          <a:p>
            <a:pPr indent="-361950" lvl="0" marL="36195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Gain			Defer and reduce cost of 				new	asset</a:t>
            </a:r>
            <a:endParaRPr/>
          </a:p>
        </p:txBody>
      </p:sp>
      <p:sp>
        <p:nvSpPr>
          <p:cNvPr id="808" name="Google Shape;808;p68"/>
          <p:cNvSpPr/>
          <p:nvPr/>
        </p:nvSpPr>
        <p:spPr>
          <a:xfrm>
            <a:off x="387350" y="2139950"/>
            <a:ext cx="8826500" cy="673100"/>
          </a:xfrm>
          <a:prstGeom prst="rect">
            <a:avLst/>
          </a:prstGeom>
          <a:solidFill>
            <a:srgbClr val="FFCC9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9" name="Google Shape;809;p68"/>
          <p:cNvSpPr txBox="1"/>
          <p:nvPr/>
        </p:nvSpPr>
        <p:spPr>
          <a:xfrm>
            <a:off x="604837" y="2295525"/>
            <a:ext cx="7531100" cy="500062"/>
          </a:xfrm>
          <a:prstGeom prst="rect">
            <a:avLst/>
          </a:prstGeom>
          <a:noFill/>
          <a:ln>
            <a:noFill/>
          </a:ln>
        </p:spPr>
        <p:txBody>
          <a:bodyPr anchorCtr="0" anchor="t" bIns="44425" lIns="90475" spcFirstLastPara="1" rIns="90475" wrap="square" tIns="44425">
            <a:spAutoFit/>
          </a:bodyPr>
          <a:lstStyle/>
          <a:p>
            <a:pPr indent="0" lvl="0" marL="0" marR="0" rtl="0" algn="l">
              <a:lnSpc>
                <a:spcPct val="100000"/>
              </a:lnSpc>
              <a:spcBef>
                <a:spcPts val="0"/>
              </a:spcBef>
              <a:spcAft>
                <a:spcPts val="0"/>
              </a:spcAft>
              <a:buClr>
                <a:schemeClr val="dk1"/>
              </a:buClr>
              <a:buSzPts val="2700"/>
              <a:buFont typeface="Arial"/>
              <a:buNone/>
            </a:pPr>
            <a:r>
              <a:rPr b="1" i="0" lang="en-US" sz="2700" u="none">
                <a:solidFill>
                  <a:schemeClr val="dk1"/>
                </a:solidFill>
                <a:latin typeface="Arial"/>
                <a:ea typeface="Arial"/>
                <a:cs typeface="Arial"/>
                <a:sym typeface="Arial"/>
              </a:rPr>
              <a:t>Type of Event		Recognition</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07">
                                            <p:txEl>
                                              <p:pRg end="0" st="0"/>
                                            </p:txEl>
                                          </p:spTgt>
                                        </p:tgtEl>
                                        <p:attrNameLst>
                                          <p:attrName>style.visibility</p:attrName>
                                        </p:attrNameLst>
                                      </p:cBhvr>
                                      <p:to>
                                        <p:strVal val="visible"/>
                                      </p:to>
                                    </p:set>
                                    <p:anim calcmode="lin" valueType="num">
                                      <p:cBhvr additive="base">
                                        <p:cTn dur="500"/>
                                        <p:tgtEl>
                                          <p:spTgt spid="80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07">
                                            <p:txEl>
                                              <p:pRg end="1" st="1"/>
                                            </p:txEl>
                                          </p:spTgt>
                                        </p:tgtEl>
                                        <p:attrNameLst>
                                          <p:attrName>style.visibility</p:attrName>
                                        </p:attrNameLst>
                                      </p:cBhvr>
                                      <p:to>
                                        <p:strVal val="visible"/>
                                      </p:to>
                                    </p:set>
                                    <p:anim calcmode="lin" valueType="num">
                                      <p:cBhvr additive="base">
                                        <p:cTn dur="500"/>
                                        <p:tgtEl>
                                          <p:spTgt spid="80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3" name="Shape 813"/>
        <p:cNvGrpSpPr/>
        <p:nvPr/>
      </p:nvGrpSpPr>
      <p:grpSpPr>
        <a:xfrm>
          <a:off x="0" y="0"/>
          <a:ext cx="0" cy="0"/>
          <a:chOff x="0" y="0"/>
          <a:chExt cx="0" cy="0"/>
        </a:xfrm>
      </p:grpSpPr>
      <p:grpSp>
        <p:nvGrpSpPr>
          <p:cNvPr id="814" name="Google Shape;814;p69"/>
          <p:cNvGrpSpPr/>
          <p:nvPr/>
        </p:nvGrpSpPr>
        <p:grpSpPr>
          <a:xfrm>
            <a:off x="457200" y="304800"/>
            <a:ext cx="8382000" cy="838200"/>
            <a:chOff x="288" y="192"/>
            <a:chExt cx="5280" cy="528"/>
          </a:xfrm>
        </p:grpSpPr>
        <p:sp>
          <p:nvSpPr>
            <p:cNvPr id="815" name="Google Shape;815;p69"/>
            <p:cNvSpPr/>
            <p:nvPr/>
          </p:nvSpPr>
          <p:spPr>
            <a:xfrm>
              <a:off x="288" y="192"/>
              <a:ext cx="2208" cy="466"/>
            </a:xfrm>
            <a:prstGeom prst="rect">
              <a:avLst/>
            </a:prstGeom>
          </p:spPr>
          <p:txBody>
            <a:bodyPr>
              <a:prstTxWarp prst="textPlain"/>
            </a:bodyPr>
            <a:lstStyle/>
            <a:p>
              <a:pPr lvl="0" algn="l"/>
              <a:r>
                <a:rPr b="0" i="0">
                  <a:ln>
                    <a:noFill/>
                  </a:ln>
                  <a:solidFill>
                    <a:schemeClr val="accent2"/>
                  </a:solidFill>
                  <a:latin typeface="Impact"/>
                </a:rPr>
                <a:t>Review</a:t>
              </a:r>
            </a:p>
          </p:txBody>
        </p:sp>
        <p:cxnSp>
          <p:nvCxnSpPr>
            <p:cNvPr id="816" name="Google Shape;816;p69"/>
            <p:cNvCxnSpPr/>
            <p:nvPr/>
          </p:nvCxnSpPr>
          <p:spPr>
            <a:xfrm>
              <a:off x="288" y="720"/>
              <a:ext cx="5280" cy="0"/>
            </a:xfrm>
            <a:prstGeom prst="straightConnector1">
              <a:avLst/>
            </a:prstGeom>
            <a:noFill/>
            <a:ln cap="flat" cmpd="sng" w="38100">
              <a:solidFill>
                <a:schemeClr val="dk1"/>
              </a:solidFill>
              <a:prstDash val="solid"/>
              <a:miter lim="800000"/>
              <a:headEnd len="med" w="med" type="none"/>
              <a:tailEnd len="med" w="med" type="none"/>
            </a:ln>
          </p:spPr>
        </p:cxnSp>
      </p:grpSp>
      <p:sp>
        <p:nvSpPr>
          <p:cNvPr id="817" name="Google Shape;817;p69"/>
          <p:cNvSpPr txBox="1"/>
          <p:nvPr>
            <p:ph type="title"/>
          </p:nvPr>
        </p:nvSpPr>
        <p:spPr>
          <a:xfrm>
            <a:off x="381000" y="1828800"/>
            <a:ext cx="8839200" cy="685800"/>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In exchanges of similar assets:</a:t>
            </a:r>
            <a:endParaRPr/>
          </a:p>
        </p:txBody>
      </p:sp>
      <p:sp>
        <p:nvSpPr>
          <p:cNvPr id="818" name="Google Shape;818;p69"/>
          <p:cNvSpPr txBox="1"/>
          <p:nvPr>
            <p:ph idx="1" type="body"/>
          </p:nvPr>
        </p:nvSpPr>
        <p:spPr>
          <a:xfrm>
            <a:off x="457200" y="2819400"/>
            <a:ext cx="8229600" cy="3352800"/>
          </a:xfrm>
          <a:prstGeom prst="rect">
            <a:avLst/>
          </a:prstGeom>
          <a:noFill/>
          <a:ln>
            <a:noFill/>
          </a:ln>
        </p:spPr>
        <p:txBody>
          <a:bodyPr anchorCtr="0" anchor="t" bIns="45700" lIns="91425" spcFirstLastPara="1" rIns="91425" wrap="square" tIns="45700">
            <a:noAutofit/>
          </a:bodyPr>
          <a:lstStyle/>
          <a:p>
            <a:pPr indent="-361950" lvl="0" marL="361950" marR="0" rtl="0" algn="l">
              <a:lnSpc>
                <a:spcPct val="90000"/>
              </a:lnSpc>
              <a:spcBef>
                <a:spcPts val="0"/>
              </a:spcBef>
              <a:spcAft>
                <a:spcPts val="0"/>
              </a:spcAft>
              <a:buClr>
                <a:schemeClr val="dk1"/>
              </a:buClr>
              <a:buSzPts val="3200"/>
              <a:buFont typeface="Arial"/>
              <a:buAutoNum type="alphaLcPeriod"/>
            </a:pPr>
            <a:r>
              <a:rPr b="0" i="0" lang="en-US" sz="3200" u="none">
                <a:solidFill>
                  <a:schemeClr val="dk1"/>
                </a:solidFill>
                <a:latin typeface="Arial"/>
                <a:ea typeface="Arial"/>
                <a:cs typeface="Arial"/>
                <a:sym typeface="Arial"/>
              </a:rPr>
              <a:t>neither gains nor losses are recognized immediately.</a:t>
            </a:r>
            <a:endParaRPr/>
          </a:p>
          <a:p>
            <a:pPr indent="-361950" lvl="0" marL="361950" marR="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b.	gains, but not losses, are recognized immediately.</a:t>
            </a:r>
            <a:endParaRPr/>
          </a:p>
          <a:p>
            <a:pPr indent="-361950" lvl="0" marL="361950" marR="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c.	losses, but not gains, are recognized immediately.</a:t>
            </a:r>
            <a:endParaRPr/>
          </a:p>
          <a:p>
            <a:pPr indent="-361950" lvl="0" marL="361950" marR="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d.	both gains and losses are recognized immediately.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8">
                                            <p:txEl>
                                              <p:pRg end="0" st="0"/>
                                            </p:txEl>
                                          </p:spTgt>
                                        </p:tgtEl>
                                        <p:attrNameLst>
                                          <p:attrName>style.visibility</p:attrName>
                                        </p:attrNameLst>
                                      </p:cBhvr>
                                      <p:to>
                                        <p:strVal val="visible"/>
                                      </p:to>
                                    </p:set>
                                    <p:animEffect filter="fade" transition="in">
                                      <p:cBhvr>
                                        <p:cTn dur="500"/>
                                        <p:tgtEl>
                                          <p:spTgt spid="8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8">
                                            <p:txEl>
                                              <p:pRg end="1" st="1"/>
                                            </p:txEl>
                                          </p:spTgt>
                                        </p:tgtEl>
                                        <p:attrNameLst>
                                          <p:attrName>style.visibility</p:attrName>
                                        </p:attrNameLst>
                                      </p:cBhvr>
                                      <p:to>
                                        <p:strVal val="visible"/>
                                      </p:to>
                                    </p:set>
                                    <p:animEffect filter="fade" transition="in">
                                      <p:cBhvr>
                                        <p:cTn dur="500"/>
                                        <p:tgtEl>
                                          <p:spTgt spid="8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8">
                                            <p:txEl>
                                              <p:pRg end="2" st="2"/>
                                            </p:txEl>
                                          </p:spTgt>
                                        </p:tgtEl>
                                        <p:attrNameLst>
                                          <p:attrName>style.visibility</p:attrName>
                                        </p:attrNameLst>
                                      </p:cBhvr>
                                      <p:to>
                                        <p:strVal val="visible"/>
                                      </p:to>
                                    </p:set>
                                    <p:animEffect filter="fade" transition="in">
                                      <p:cBhvr>
                                        <p:cTn dur="500"/>
                                        <p:tgtEl>
                                          <p:spTgt spid="8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8">
                                            <p:txEl>
                                              <p:pRg end="3" st="3"/>
                                            </p:txEl>
                                          </p:spTgt>
                                        </p:tgtEl>
                                        <p:attrNameLst>
                                          <p:attrName>style.visibility</p:attrName>
                                        </p:attrNameLst>
                                      </p:cBhvr>
                                      <p:to>
                                        <p:strVal val="visible"/>
                                      </p:to>
                                    </p:set>
                                    <p:animEffect filter="fade" transition="in">
                                      <p:cBhvr>
                                        <p:cTn dur="500"/>
                                        <p:tgtEl>
                                          <p:spTgt spid="81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2" name="Shape 822"/>
        <p:cNvGrpSpPr/>
        <p:nvPr/>
      </p:nvGrpSpPr>
      <p:grpSpPr>
        <a:xfrm>
          <a:off x="0" y="0"/>
          <a:ext cx="0" cy="0"/>
          <a:chOff x="0" y="0"/>
          <a:chExt cx="0" cy="0"/>
        </a:xfrm>
      </p:grpSpPr>
      <p:grpSp>
        <p:nvGrpSpPr>
          <p:cNvPr id="823" name="Google Shape;823;p70"/>
          <p:cNvGrpSpPr/>
          <p:nvPr/>
        </p:nvGrpSpPr>
        <p:grpSpPr>
          <a:xfrm>
            <a:off x="457200" y="304800"/>
            <a:ext cx="8382000" cy="838200"/>
            <a:chOff x="288" y="192"/>
            <a:chExt cx="5280" cy="528"/>
          </a:xfrm>
        </p:grpSpPr>
        <p:sp>
          <p:nvSpPr>
            <p:cNvPr id="824" name="Google Shape;824;p70"/>
            <p:cNvSpPr/>
            <p:nvPr/>
          </p:nvSpPr>
          <p:spPr>
            <a:xfrm>
              <a:off x="288" y="192"/>
              <a:ext cx="2208" cy="466"/>
            </a:xfrm>
            <a:prstGeom prst="rect">
              <a:avLst/>
            </a:prstGeom>
          </p:spPr>
          <p:txBody>
            <a:bodyPr>
              <a:prstTxWarp prst="textPlain"/>
            </a:bodyPr>
            <a:lstStyle/>
            <a:p>
              <a:pPr lvl="0" algn="l"/>
              <a:r>
                <a:rPr b="0" i="0">
                  <a:ln>
                    <a:noFill/>
                  </a:ln>
                  <a:solidFill>
                    <a:schemeClr val="accent2"/>
                  </a:solidFill>
                  <a:latin typeface="Impact"/>
                </a:rPr>
                <a:t>Review</a:t>
              </a:r>
            </a:p>
          </p:txBody>
        </p:sp>
        <p:cxnSp>
          <p:nvCxnSpPr>
            <p:cNvPr id="825" name="Google Shape;825;p70"/>
            <p:cNvCxnSpPr/>
            <p:nvPr/>
          </p:nvCxnSpPr>
          <p:spPr>
            <a:xfrm>
              <a:off x="288" y="720"/>
              <a:ext cx="5280" cy="0"/>
            </a:xfrm>
            <a:prstGeom prst="straightConnector1">
              <a:avLst/>
            </a:prstGeom>
            <a:noFill/>
            <a:ln cap="flat" cmpd="sng" w="38100">
              <a:solidFill>
                <a:schemeClr val="dk1"/>
              </a:solidFill>
              <a:prstDash val="solid"/>
              <a:miter lim="800000"/>
              <a:headEnd len="med" w="med" type="none"/>
              <a:tailEnd len="med" w="med" type="none"/>
            </a:ln>
          </p:spPr>
        </p:cxnSp>
      </p:grpSp>
      <p:sp>
        <p:nvSpPr>
          <p:cNvPr id="826" name="Google Shape;826;p70"/>
          <p:cNvSpPr txBox="1"/>
          <p:nvPr>
            <p:ph type="title"/>
          </p:nvPr>
        </p:nvSpPr>
        <p:spPr>
          <a:xfrm>
            <a:off x="381000" y="1828800"/>
            <a:ext cx="8839200" cy="685800"/>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In exchanges of similar assets:</a:t>
            </a:r>
            <a:endParaRPr/>
          </a:p>
        </p:txBody>
      </p:sp>
      <p:sp>
        <p:nvSpPr>
          <p:cNvPr id="827" name="Google Shape;827;p70"/>
          <p:cNvSpPr txBox="1"/>
          <p:nvPr>
            <p:ph idx="1" type="body"/>
          </p:nvPr>
        </p:nvSpPr>
        <p:spPr>
          <a:xfrm>
            <a:off x="457200" y="2819400"/>
            <a:ext cx="8229600" cy="3352800"/>
          </a:xfrm>
          <a:prstGeom prst="rect">
            <a:avLst/>
          </a:prstGeom>
          <a:noFill/>
          <a:ln>
            <a:noFill/>
          </a:ln>
        </p:spPr>
        <p:txBody>
          <a:bodyPr anchorCtr="0" anchor="t" bIns="45700" lIns="91425" spcFirstLastPara="1" rIns="91425" wrap="square" tIns="45700">
            <a:noAutofit/>
          </a:bodyPr>
          <a:lstStyle/>
          <a:p>
            <a:pPr indent="-361950" lvl="0" marL="361950" marR="0" rtl="0" algn="l">
              <a:lnSpc>
                <a:spcPct val="90000"/>
              </a:lnSpc>
              <a:spcBef>
                <a:spcPts val="0"/>
              </a:spcBef>
              <a:spcAft>
                <a:spcPts val="0"/>
              </a:spcAft>
              <a:buClr>
                <a:schemeClr val="dk1"/>
              </a:buClr>
              <a:buSzPts val="3200"/>
              <a:buFont typeface="Arial"/>
              <a:buAutoNum type="alphaLcPeriod"/>
            </a:pPr>
            <a:r>
              <a:rPr b="0" i="0" lang="en-US" sz="3200" u="none">
                <a:solidFill>
                  <a:schemeClr val="dk1"/>
                </a:solidFill>
                <a:latin typeface="Arial"/>
                <a:ea typeface="Arial"/>
                <a:cs typeface="Arial"/>
                <a:sym typeface="Arial"/>
              </a:rPr>
              <a:t> neither gains nor losses are recognized immediately.</a:t>
            </a:r>
            <a:endParaRPr/>
          </a:p>
          <a:p>
            <a:pPr indent="-361950" lvl="0" marL="361950" marR="0" rtl="0" algn="l">
              <a:lnSpc>
                <a:spcPct val="90000"/>
              </a:lnSpc>
              <a:spcBef>
                <a:spcPts val="640"/>
              </a:spcBef>
              <a:spcAft>
                <a:spcPts val="0"/>
              </a:spcAft>
              <a:buClr>
                <a:schemeClr val="dk1"/>
              </a:buClr>
              <a:buSzPts val="3200"/>
              <a:buFont typeface="Arial"/>
              <a:buAutoNum type="alphaLcPeriod"/>
            </a:pPr>
            <a:r>
              <a:rPr b="0" i="0" lang="en-US" sz="3200" u="none">
                <a:solidFill>
                  <a:schemeClr val="dk1"/>
                </a:solidFill>
                <a:latin typeface="Arial"/>
                <a:ea typeface="Arial"/>
                <a:cs typeface="Arial"/>
                <a:sym typeface="Arial"/>
              </a:rPr>
              <a:t> gains, but not losses, are recognized immediately.</a:t>
            </a:r>
            <a:endParaRPr/>
          </a:p>
          <a:p>
            <a:pPr indent="-361950" lvl="0" marL="361950" marR="0" rtl="0" algn="l">
              <a:lnSpc>
                <a:spcPct val="90000"/>
              </a:lnSpc>
              <a:spcBef>
                <a:spcPts val="640"/>
              </a:spcBef>
              <a:spcAft>
                <a:spcPts val="0"/>
              </a:spcAft>
              <a:buClr>
                <a:srgbClr val="FC0128"/>
              </a:buClr>
              <a:buSzPts val="3200"/>
              <a:buFont typeface="Arial"/>
              <a:buAutoNum type="alphaLcPeriod"/>
            </a:pPr>
            <a:r>
              <a:rPr b="0" i="0" lang="en-US" sz="3200" u="none">
                <a:solidFill>
                  <a:srgbClr val="FC0128"/>
                </a:solidFill>
                <a:latin typeface="Arial"/>
                <a:ea typeface="Arial"/>
                <a:cs typeface="Arial"/>
                <a:sym typeface="Arial"/>
              </a:rPr>
              <a:t> losses, but not gains, are recognized immediately.</a:t>
            </a:r>
            <a:endParaRPr/>
          </a:p>
          <a:p>
            <a:pPr indent="-361950" lvl="0" marL="361950" marR="0" rtl="0" algn="l">
              <a:lnSpc>
                <a:spcPct val="90000"/>
              </a:lnSpc>
              <a:spcBef>
                <a:spcPts val="640"/>
              </a:spcBef>
              <a:spcAft>
                <a:spcPts val="0"/>
              </a:spcAft>
              <a:buClr>
                <a:schemeClr val="dk1"/>
              </a:buClr>
              <a:buSzPts val="3200"/>
              <a:buFont typeface="Arial"/>
              <a:buAutoNum type="alphaLcPeriod"/>
            </a:pPr>
            <a:r>
              <a:rPr b="0" i="0" lang="en-US" sz="3200" u="none">
                <a:solidFill>
                  <a:schemeClr val="dk1"/>
                </a:solidFill>
                <a:latin typeface="Arial"/>
                <a:ea typeface="Arial"/>
                <a:cs typeface="Arial"/>
                <a:sym typeface="Arial"/>
              </a:rPr>
              <a:t> both gains and losses are recognized immediately.</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1" name="Shape 831"/>
        <p:cNvGrpSpPr/>
        <p:nvPr/>
      </p:nvGrpSpPr>
      <p:grpSpPr>
        <a:xfrm>
          <a:off x="0" y="0"/>
          <a:ext cx="0" cy="0"/>
          <a:chOff x="0" y="0"/>
          <a:chExt cx="0" cy="0"/>
        </a:xfrm>
      </p:grpSpPr>
      <p:sp>
        <p:nvSpPr>
          <p:cNvPr id="832" name="Google Shape;832;p71"/>
          <p:cNvSpPr/>
          <p:nvPr/>
        </p:nvSpPr>
        <p:spPr>
          <a:xfrm>
            <a:off x="544512" y="4306887"/>
            <a:ext cx="8702675" cy="2620962"/>
          </a:xfrm>
          <a:prstGeom prst="rect">
            <a:avLst/>
          </a:prstGeom>
          <a:solidFill>
            <a:schemeClr val="lt1"/>
          </a:solidFill>
          <a:ln cap="flat" cmpd="sng" w="12700">
            <a:solidFill>
              <a:schemeClr val="lt1"/>
            </a:solidFill>
            <a:prstDash val="solid"/>
            <a:miter lim="800000"/>
            <a:headEnd len="sm" w="sm" type="none"/>
            <a:tailEnd len="sm" w="sm" type="none"/>
          </a:ln>
          <a:effectLst>
            <a:outerShdw blurRad="63500" dir="2700000" dist="17960">
              <a:srgbClr val="CACACA"/>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3" name="Google Shape;833;p71"/>
          <p:cNvSpPr txBox="1"/>
          <p:nvPr/>
        </p:nvSpPr>
        <p:spPr>
          <a:xfrm>
            <a:off x="2559050" y="509587"/>
            <a:ext cx="4264025" cy="850900"/>
          </a:xfrm>
          <a:prstGeom prst="rect">
            <a:avLst/>
          </a:prstGeom>
          <a:noFill/>
          <a:ln>
            <a:noFill/>
          </a:ln>
          <a:effectLst>
            <a:outerShdw blurRad="63500" dir="2700000" dist="53881">
              <a:srgbClr val="D98F1F"/>
            </a:outerShdw>
          </a:effectLst>
        </p:spPr>
        <p:txBody>
          <a:bodyPr anchorCtr="0" anchor="t" bIns="44425" lIns="90450" spcFirstLastPara="1" rIns="90450" wrap="square" tIns="44425">
            <a:spAutoFit/>
          </a:bodyPr>
          <a:lstStyle/>
          <a:p>
            <a:pPr indent="0" lvl="0" marL="0" marR="0" rtl="0" algn="ctr">
              <a:lnSpc>
                <a:spcPct val="100000"/>
              </a:lnSpc>
              <a:spcBef>
                <a:spcPts val="0"/>
              </a:spcBef>
              <a:spcAft>
                <a:spcPts val="0"/>
              </a:spcAft>
              <a:buClr>
                <a:srgbClr val="000099"/>
              </a:buClr>
              <a:buSzPts val="5000"/>
              <a:buFont typeface="Arial"/>
              <a:buNone/>
            </a:pPr>
            <a:r>
              <a:rPr b="1" i="0" lang="en-US" sz="5000" u="none">
                <a:solidFill>
                  <a:srgbClr val="000099"/>
                </a:solidFill>
                <a:latin typeface="Arial"/>
                <a:ea typeface="Arial"/>
                <a:cs typeface="Arial"/>
                <a:sym typeface="Arial"/>
              </a:rPr>
              <a:t>COPYRIGHT</a:t>
            </a:r>
            <a:endParaRPr/>
          </a:p>
        </p:txBody>
      </p:sp>
      <p:sp>
        <p:nvSpPr>
          <p:cNvPr id="834" name="Google Shape;834;p71"/>
          <p:cNvSpPr txBox="1"/>
          <p:nvPr/>
        </p:nvSpPr>
        <p:spPr>
          <a:xfrm>
            <a:off x="609600" y="3962400"/>
            <a:ext cx="8467725" cy="2689225"/>
          </a:xfrm>
          <a:prstGeom prst="rect">
            <a:avLst/>
          </a:prstGeom>
          <a:noFill/>
          <a:ln>
            <a:noFill/>
          </a:ln>
        </p:spPr>
        <p:txBody>
          <a:bodyPr anchorCtr="0" anchor="t" bIns="44425" lIns="90450" spcFirstLastPara="1" rIns="90450" wrap="square" tIns="44425">
            <a:spAutoFit/>
          </a:bodyPr>
          <a:lstStyle/>
          <a:p>
            <a:pPr indent="0" lvl="0" marL="0" marR="0" rtl="0" algn="l">
              <a:lnSpc>
                <a:spcPct val="100000"/>
              </a:lnSpc>
              <a:spcBef>
                <a:spcPts val="0"/>
              </a:spcBef>
              <a:spcAft>
                <a:spcPts val="0"/>
              </a:spcAft>
              <a:buClr>
                <a:schemeClr val="dk1"/>
              </a:buClr>
              <a:buSzPts val="1900"/>
              <a:buFont typeface="Arial"/>
              <a:buNone/>
            </a:pPr>
            <a:r>
              <a:rPr b="0" i="0" lang="en-US" sz="1900" u="none">
                <a:solidFill>
                  <a:schemeClr val="dk1"/>
                </a:solidFill>
                <a:latin typeface="Arial"/>
                <a:ea typeface="Arial"/>
                <a:cs typeface="Arial"/>
                <a:sym typeface="Arial"/>
              </a:rPr>
              <a:t>Copyright © 2005 John Wiley &amp; Sons, Inc.  All rights reserved.  Reproduction or translation of this work beyond that permitted in Section 117 of the 1976 United States Copyright Act without the express written consent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endParaRPr/>
          </a:p>
        </p:txBody>
      </p:sp>
      <p:grpSp>
        <p:nvGrpSpPr>
          <p:cNvPr id="835" name="Google Shape;835;p71"/>
          <p:cNvGrpSpPr/>
          <p:nvPr/>
        </p:nvGrpSpPr>
        <p:grpSpPr>
          <a:xfrm>
            <a:off x="3048000" y="1905000"/>
            <a:ext cx="3505200" cy="1752600"/>
            <a:chOff x="691" y="1490"/>
            <a:chExt cx="4671" cy="2352"/>
          </a:xfrm>
        </p:grpSpPr>
        <p:sp>
          <p:nvSpPr>
            <p:cNvPr id="836" name="Google Shape;836;p71"/>
            <p:cNvSpPr/>
            <p:nvPr/>
          </p:nvSpPr>
          <p:spPr>
            <a:xfrm>
              <a:off x="691" y="1490"/>
              <a:ext cx="4671" cy="2352"/>
            </a:xfrm>
            <a:prstGeom prst="rect">
              <a:avLst/>
            </a:prstGeom>
            <a:solidFill>
              <a:srgbClr val="F6BF69"/>
            </a:solidFill>
            <a:ln cap="flat" cmpd="tri"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37" name="Google Shape;837;p71"/>
            <p:cNvPicPr preferRelativeResize="0"/>
            <p:nvPr/>
          </p:nvPicPr>
          <p:blipFill rotWithShape="1">
            <a:blip r:embed="rId3">
              <a:alphaModFix/>
            </a:blip>
            <a:srcRect b="0" l="0" r="0" t="0"/>
            <a:stretch/>
          </p:blipFill>
          <p:spPr>
            <a:xfrm>
              <a:off x="984" y="1837"/>
              <a:ext cx="4114" cy="1663"/>
            </a:xfrm>
            <a:prstGeom prst="rect">
              <a:avLst/>
            </a:prstGeom>
            <a:noFill/>
            <a:ln cap="flat" cmpd="sng" w="12700">
              <a:solidFill>
                <a:schemeClr val="dk2"/>
              </a:solidFill>
              <a:prstDash val="solid"/>
              <a:miter lim="800000"/>
              <a:headEnd len="sm" w="sm" type="none"/>
              <a:tailEnd len="sm" w="sm" type="none"/>
            </a:ln>
          </p:spPr>
        </p:pic>
      </p:grpSp>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name="Default Design">
  <a:themeElements>
    <a:clrScheme name="Default Design">
      <a:dk1>
        <a:srgbClr val="000000"/>
      </a:dk1>
      <a:lt1>
        <a:srgbClr val="FFFFFF"/>
      </a:lt1>
      <a:dk2>
        <a:srgbClr val="000000"/>
      </a:dk2>
      <a:lt2>
        <a:srgbClr val="808080"/>
      </a:lt2>
      <a:accent1>
        <a:srgbClr val="BBE0E3"/>
      </a:accent1>
      <a:accent2>
        <a:srgbClr val="333399"/>
      </a:accent2>
      <a:accent3>
        <a:srgbClr val="FFFFFF"/>
      </a:accent3>
      <a:accent4>
        <a:srgbClr val="BBE0E3"/>
      </a:accent4>
      <a:accent5>
        <a:srgbClr val="333399"/>
      </a:accent5>
      <a:accent6>
        <a:srgbClr val="FFFFFF"/>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